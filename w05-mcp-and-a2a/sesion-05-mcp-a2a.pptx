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158121d42451d" /><Relationship Type="http://schemas.openxmlformats.org/officeDocument/2006/relationships/extended-properties" Target="/docProps/app.xml" Id="Rf08dc56aa4f84e1f" /><Relationship Type="http://schemas.openxmlformats.org/officeDocument/2006/relationships/officeDocument" Target="/ppt/presentation.xml" Id="Re01ab491581341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577cf7a4c64e09"/>
  </p:sldMasterIdLst>
  <p:notesMasterIdLst>
    <p:notesMasterId xmlns:r="http://schemas.openxmlformats.org/officeDocument/2006/relationships" r:id="R9730c3d312ff4d9c"/>
  </p:notesMasterIdLst>
  <p:sldIdLst>
    <p:sldId xmlns:r="http://schemas.openxmlformats.org/officeDocument/2006/relationships" id="256" r:id="Rfbf2e21931a14c51"/>
    <p:sldId xmlns:r="http://schemas.openxmlformats.org/officeDocument/2006/relationships" id="257" r:id="Rbcfeb8870dff41bc"/>
    <p:sldId xmlns:r="http://schemas.openxmlformats.org/officeDocument/2006/relationships" id="258" r:id="R203641959ab943b9"/>
    <p:sldId xmlns:r="http://schemas.openxmlformats.org/officeDocument/2006/relationships" id="259" r:id="R8fab5dfe48a445ac"/>
    <p:sldId xmlns:r="http://schemas.openxmlformats.org/officeDocument/2006/relationships" id="260" r:id="Rb19f6af6e74d4608"/>
    <p:sldId xmlns:r="http://schemas.openxmlformats.org/officeDocument/2006/relationships" id="261" r:id="R4c2c94d0b9d341a5"/>
    <p:sldId xmlns:r="http://schemas.openxmlformats.org/officeDocument/2006/relationships" id="262" r:id="R5a996ccdd5544b6d"/>
    <p:sldId xmlns:r="http://schemas.openxmlformats.org/officeDocument/2006/relationships" id="263" r:id="Rf2a7c2a5018640dd"/>
    <p:sldId xmlns:r="http://schemas.openxmlformats.org/officeDocument/2006/relationships" id="264" r:id="R0f6cf37d923e48f6"/>
    <p:sldId xmlns:r="http://schemas.openxmlformats.org/officeDocument/2006/relationships" id="265" r:id="R03db62eb28d14347"/>
    <p:sldId xmlns:r="http://schemas.openxmlformats.org/officeDocument/2006/relationships" id="266" r:id="R1fd74bf5e4884e60"/>
    <p:sldId xmlns:r="http://schemas.openxmlformats.org/officeDocument/2006/relationships" id="267" r:id="Rb79b539ebd1b45a2"/>
    <p:sldId xmlns:r="http://schemas.openxmlformats.org/officeDocument/2006/relationships" id="268" r:id="R85ac6a40da9840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dca23150b4911" /><Relationship Type="http://schemas.openxmlformats.org/officeDocument/2006/relationships/slideMaster" Target="/ppt/slideMasters/slideMaster1.xml" Id="R10577cf7a4c64e09" /><Relationship Type="http://schemas.openxmlformats.org/officeDocument/2006/relationships/notesMaster" Target="/ppt/notesMasters/notesMaster1.xml" Id="R9730c3d312ff4d9c" /><Relationship Type="http://schemas.openxmlformats.org/officeDocument/2006/relationships/presProps" Target="/ppt/presProps.xml" Id="R88bd24fd2b594125" /><Relationship Type="http://schemas.openxmlformats.org/officeDocument/2006/relationships/viewProps" Target="/ppt/viewProps.xml" Id="R213c63673a0948c5" /><Relationship Type="http://schemas.openxmlformats.org/officeDocument/2006/relationships/tableStyles" Target="/ppt/tableStyles.xml" Id="R684971d462044f76" /><Relationship Type="http://schemas.openxmlformats.org/officeDocument/2006/relationships/slide" Target="/ppt/slides/slide1.xml" Id="Rfbf2e21931a14c51" /><Relationship Type="http://schemas.openxmlformats.org/officeDocument/2006/relationships/slide" Target="/ppt/slides/slide2.xml" Id="Rbcfeb8870dff41bc" /><Relationship Type="http://schemas.openxmlformats.org/officeDocument/2006/relationships/slide" Target="/ppt/slides/slide3.xml" Id="R203641959ab943b9" /><Relationship Type="http://schemas.openxmlformats.org/officeDocument/2006/relationships/slide" Target="/ppt/slides/slide4.xml" Id="R8fab5dfe48a445ac" /><Relationship Type="http://schemas.openxmlformats.org/officeDocument/2006/relationships/slide" Target="/ppt/slides/slide5.xml" Id="Rb19f6af6e74d4608" /><Relationship Type="http://schemas.openxmlformats.org/officeDocument/2006/relationships/slide" Target="/ppt/slides/slide6.xml" Id="R4c2c94d0b9d341a5" /><Relationship Type="http://schemas.openxmlformats.org/officeDocument/2006/relationships/slide" Target="/ppt/slides/slide7.xml" Id="R5a996ccdd5544b6d" /><Relationship Type="http://schemas.openxmlformats.org/officeDocument/2006/relationships/slide" Target="/ppt/slides/slide8.xml" Id="Rf2a7c2a5018640dd" /><Relationship Type="http://schemas.openxmlformats.org/officeDocument/2006/relationships/slide" Target="/ppt/slides/slide9.xml" Id="R0f6cf37d923e48f6" /><Relationship Type="http://schemas.openxmlformats.org/officeDocument/2006/relationships/slide" Target="/ppt/slides/slide10.xml" Id="R03db62eb28d14347" /><Relationship Type="http://schemas.openxmlformats.org/officeDocument/2006/relationships/slide" Target="/ppt/slides/slide11.xml" Id="R1fd74bf5e4884e60" /><Relationship Type="http://schemas.openxmlformats.org/officeDocument/2006/relationships/slide" Target="/ppt/slides/slide12.xml" Id="Rb79b539ebd1b45a2" /><Relationship Type="http://schemas.openxmlformats.org/officeDocument/2006/relationships/slide" Target="/ppt/slides/slide13.xml" Id="R85ac6a40da98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f3d3f1f4f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2dc86064774562" /><Relationship Type="http://schemas.openxmlformats.org/officeDocument/2006/relationships/notesMaster" Target="/ppt/notesMasters/notesMaster1.xml" Id="R4c72d5241dae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f6a0009854e21" /><Relationship Type="http://schemas.openxmlformats.org/officeDocument/2006/relationships/notesMaster" Target="/ppt/notesMasters/notesMaster1.xml" Id="R48c1d2622625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af07b583b54556" /><Relationship Type="http://schemas.openxmlformats.org/officeDocument/2006/relationships/notesMaster" Target="/ppt/notesMasters/notesMaster1.xml" Id="R0cba98ea9ba6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4deb5846434a42" /><Relationship Type="http://schemas.openxmlformats.org/officeDocument/2006/relationships/notesMaster" Target="/ppt/notesMasters/notesMaster1.xml" Id="R9eeff40016e8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33f2985fbb4ed5" /><Relationship Type="http://schemas.openxmlformats.org/officeDocument/2006/relationships/notesMaster" Target="/ppt/notesMasters/notesMaster1.xml" Id="R9a80b4d995794f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bc8cdc96b4653" /><Relationship Type="http://schemas.openxmlformats.org/officeDocument/2006/relationships/notesMaster" Target="/ppt/notesMasters/notesMaster1.xml" Id="Rdb9a23288a0947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1933a61454e86" /><Relationship Type="http://schemas.openxmlformats.org/officeDocument/2006/relationships/notesMaster" Target="/ppt/notesMasters/notesMaster1.xml" Id="R955574b72d40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9eeee601e34326" /><Relationship Type="http://schemas.openxmlformats.org/officeDocument/2006/relationships/notesMaster" Target="/ppt/notesMasters/notesMaster1.xml" Id="R64c7aa822745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459e85fae947a0" /><Relationship Type="http://schemas.openxmlformats.org/officeDocument/2006/relationships/notesMaster" Target="/ppt/notesMasters/notesMaster1.xml" Id="R505acce652094c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6b753699fc4e67" /><Relationship Type="http://schemas.openxmlformats.org/officeDocument/2006/relationships/notesMaster" Target="/ppt/notesMasters/notesMaster1.xml" Id="R1765c7599d8949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ac8f5e0a348a3" /><Relationship Type="http://schemas.openxmlformats.org/officeDocument/2006/relationships/notesMaster" Target="/ppt/notesMasters/notesMaster1.xml" Id="Rb63eee6bfdf648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b70a7ee6144d81" /><Relationship Type="http://schemas.openxmlformats.org/officeDocument/2006/relationships/notesMaster" Target="/ppt/notesMasters/notesMaster1.xml" Id="R9f5b6c1bef894e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1ef3a4bbf04c1f" /><Relationship Type="http://schemas.openxmlformats.org/officeDocument/2006/relationships/notesMaster" Target="/ppt/notesMasters/notesMaster1.xml" Id="R4424096644b448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creada para la sesión 05 del repositorio ai-engineering-workshop.</a:t>
            </a:r>
          </a:p>
          <a:p xmlns:a="http://schemas.openxmlformats.org/drawingml/2006/main">
            <a:r>
              <a:t>Imagen de portada generada con OpenAI ImageGen. No representa un sistema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https://a2a-protocol.org/latest/topics/a2a-and-mcp/</a:t>
            </a:r>
          </a:p>
          <a:p xmlns:a="http://schemas.openxmlformats.org/drawingml/2006/main">
            <a:r>
              <a:t>Imagen: https://a2a-protocol.org/latest/assets/a2a-mcp.png</a:t>
            </a:r>
          </a:p>
          <a:p xmlns:a="http://schemas.openxmlformats.org/drawingml/2006/main">
            <a:r>
              <a:t>La documentación oficial presenta MCP como una capa vertical y A2A como una capa horizontal.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https://modelcontextprotocol.io/specification/2025-06-18/architecture</a:t>
            </a:r>
          </a:p>
          <a:p xmlns:a="http://schemas.openxmlformats.org/drawingml/2006/main">
            <a:r>
              <a:t>Fuentes: https://modelcontextprotocol.io/specification/2025-11-25/server/tools</a:t>
            </a:r>
          </a:p>
          <a:p xmlns:a="http://schemas.openxmlformats.org/drawingml/2006/main">
            <a:r>
              <a:t>Repositorio: w05-mcp-and-a2a/mcp-minimo/agent.py y 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w05-mcp-and-a2a/mcp-minimo/README.md, agent.py y server.py</a:t>
            </a:r>
          </a:p>
          <a:p xmlns:a="http://schemas.openxmlformats.org/drawingml/2006/main">
            <a:r>
              <a:t>Cambio de versión: https://blog.modelcontextprotocol.io/posts/2026-07-28/</a:t>
            </a:r>
          </a:p>
          <a:p xmlns:a="http://schemas.openxmlformats.org/drawingml/2006/main">
            <a:r>
              <a:t>La secuencia visual describe el código del workshop. La especificación MCP 2026-07-28 retiró initialize/initialized y Mcp-Session-Id.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https://a2a-protocol.org/latest/topics/key-concepts/</a:t>
            </a:r>
          </a:p>
          <a:p xmlns:a="http://schemas.openxmlformats.org/drawingml/2006/main">
            <a:r>
              <a:t>Fuente: https://a2a-protocol.org/latest/topics/a2a-and-mcp/</a:t>
            </a:r>
          </a:p>
          <a:p xmlns:a="http://schemas.openxmlformats.org/drawingml/2006/main">
            <a:r>
              <a:t>A2A define al agente remoto como un sistema opaco desde la perspectiva del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https://a2a-protocol.org/latest/topics/agent-discovery/</a:t>
            </a:r>
          </a:p>
          <a:p xmlns:a="http://schemas.openxmlformats.org/drawingml/2006/main">
            <a:r>
              <a:t>Fuente: https://a2a-protocol.org/latest/topics/key-concepts/</a:t>
            </a:r>
          </a:p>
          <a:p xmlns:a="http://schemas.openxmlformats.org/drawingml/2006/main">
            <a:r>
              <a:t>Repositorio: w05-mcp-and-a2a/a2a/__main__.py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https://a2a-protocol.org/latest/topics/life-of-a-task/</a:t>
            </a:r>
          </a:p>
          <a:p xmlns:a="http://schemas.openxmlformats.org/drawingml/2006/main">
            <a:r>
              <a:t>Fuentes: https://a2a-protocol.org/dev/specification/ (TaskState y TaskStatus)</a:t>
            </a:r>
          </a:p>
          <a:p xmlns:a="http://schemas.openxmlformats.org/drawingml/2006/main">
            <a:r>
              <a:t>Estados A2A v1.0: UNSPECIFIED, SUBMITTED, WORKING, COMPLETED, FAILED, CANCELED, INPUT_REQUIRED, REJECTED y AUTH_REQUIRED.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https://a2a-protocol.org/latest/topics/streaming-and-async/</a:t>
            </a:r>
          </a:p>
          <a:p xmlns:a="http://schemas.openxmlformats.org/drawingml/2006/main">
            <a:r>
              <a:t>Fuente del executor: https://github.com/a2aproject/A2A/blob/main/docs/tutorials/python/4-agent-executor.md</a:t>
            </a:r>
          </a:p>
          <a:p xmlns:a="http://schemas.openxmlformats.org/drawingml/2006/main">
            <a:r>
              <a:t>En A2A Python 1.0 un stream de task debe emitir primero la Task y luego updates. No se mezcla con respuestas Message-only.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w05-mcp-and-a2a/a2a/__main__.py, agent_executor.py y test_client.py</a:t>
            </a:r>
          </a:p>
          <a:p xmlns:a="http://schemas.openxmlformats.org/drawingml/2006/main">
            <a:r>
              <a:t>Base oficial: https://github.com/a2aproject/A2A/blob/main/docs/tutorials/python/1-introduction.md</a:t>
            </a:r>
          </a:p>
          <a:p xmlns:a="http://schemas.openxmlformats.org/drawingml/2006/main">
            <a:r>
              <a:t>El ejemplo implementa card pública y extendida, rutas JSON-RPC, task store y un AgentExecutor.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w05-mcp-and-a2a/a2a-langgraph/__main__.py y app/</a:t>
            </a:r>
          </a:p>
          <a:p xmlns:a="http://schemas.openxmlformats.org/drawingml/2006/main">
            <a:r>
              <a:t>El CurrencyAgent usa LangGraph, una tool HTTP y MemorySaver. El executor mantiene el contrato A2A.</a:t>
            </a:r>
          </a:p>
          <a:p xmlns:a="http://schemas.openxmlformats.org/drawingml/2006/main">
            <a:r>
              <a:t>El test_client.py muestra single turn, multi-turn con INPUT_REQUIRED y streaming.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w05-mcp-and-a2a/adk-a2a-mcp/README.md y carpetas consuming_agent / outlook_agent</a:t>
            </a:r>
          </a:p>
          <a:p xmlns:a="http://schemas.openxmlformats.org/drawingml/2006/main">
            <a:r>
              <a:t>ADK expone Agent B en /a2a/outlook_agent y Agent A descubre su Agent Card.</a:t>
            </a:r>
          </a:p>
          <a:p xmlns:a="http://schemas.openxmlformats.org/drawingml/2006/main">
            <a:r>
              <a:t>Documentación ADK: https://google.github.io/adk-docs/a2a/quickstart-exposing/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https://a2a-protocol.org/latest/topics/agent-discovery/</a:t>
            </a:r>
          </a:p>
          <a:p xmlns:a="http://schemas.openxmlformats.org/drawingml/2006/main">
            <a:r>
              <a:t>Fuente MCP tools: https://modelcontextprotocol.io/specification/2025-11-25/server/tools</a:t>
            </a:r>
          </a:p>
          <a:p xmlns:a="http://schemas.openxmlformats.org/drawingml/2006/main">
            <a:r>
              <a:t>Repositorio: w05-mcp-and-a2a/adk-a2a-mcp/outlook_agent/agent.py y agent.json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práctico: carpeta w05-mcp-and-a2a/ del repositorio ai-engineering-workshop.</a:t>
            </a:r>
          </a:p>
          <a:p xmlns:a="http://schemas.openxmlformats.org/drawingml/2006/main">
            <a:r>
              <a:t>El README de la sesión contiene la explicación extendida, comandos de ejecución y fuentes.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6c2ba21e64e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6459ff5df44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63295a95046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90a9b009547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062b9c6994e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a9335360b48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2394cf3c246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0f6f0c64a416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1c9b9fa6ca41a7" /><Relationship Type="http://schemas.openxmlformats.org/officeDocument/2006/relationships/slideLayout" Target="/ppt/slideLayouts/slideLayout1.xml" Id="R59b103edde374425" /><Relationship Type="http://schemas.openxmlformats.org/officeDocument/2006/relationships/slideLayout" Target="/ppt/slideLayouts/slideLayout2.xml" Id="R46531232c4924ae9" /><Relationship Type="http://schemas.openxmlformats.org/officeDocument/2006/relationships/slideLayout" Target="/ppt/slideLayouts/slideLayout3.xml" Id="Rccedcaa8359f4ce4" /><Relationship Type="http://schemas.openxmlformats.org/officeDocument/2006/relationships/slideLayout" Target="/ppt/slideLayouts/slideLayout4.xml" Id="R3dab5b08af38415e" /><Relationship Type="http://schemas.openxmlformats.org/officeDocument/2006/relationships/slideLayout" Target="/ppt/slideLayouts/slideLayout5.xml" Id="R117bc44c21184755" /><Relationship Type="http://schemas.openxmlformats.org/officeDocument/2006/relationships/slideLayout" Target="/ppt/slideLayouts/slideLayout6.xml" Id="Rbe5f5acf5a784f95" /><Relationship Type="http://schemas.openxmlformats.org/officeDocument/2006/relationships/slideLayout" Target="/ppt/slideLayouts/slideLayout7.xml" Id="Rf5df597dc1724de7" /><Relationship Type="http://schemas.openxmlformats.org/officeDocument/2006/relationships/slideLayout" Target="/ppt/slideLayouts/slideLayout8.xml" Id="R2ecf4ca8364d4d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103edde374425"/>
    <p:sldLayoutId xmlns:r="http://schemas.openxmlformats.org/officeDocument/2006/relationships" id="2147483650" r:id="R46531232c4924ae9"/>
    <p:sldLayoutId xmlns:r="http://schemas.openxmlformats.org/officeDocument/2006/relationships" id="2147483651" r:id="Rccedcaa8359f4ce4"/>
    <p:sldLayoutId xmlns:r="http://schemas.openxmlformats.org/officeDocument/2006/relationships" id="2147483652" r:id="R3dab5b08af38415e"/>
    <p:sldLayoutId xmlns:r="http://schemas.openxmlformats.org/officeDocument/2006/relationships" id="2147483653" r:id="R117bc44c21184755"/>
    <p:sldLayoutId xmlns:r="http://schemas.openxmlformats.org/officeDocument/2006/relationships" id="2147483654" r:id="Rbe5f5acf5a784f95"/>
    <p:sldLayoutId xmlns:r="http://schemas.openxmlformats.org/officeDocument/2006/relationships" id="2147483655" r:id="Rf5df597dc1724de7"/>
    <p:sldLayoutId xmlns:r="http://schemas.openxmlformats.org/officeDocument/2006/relationships" id="2147483656" r:id="R2ecf4ca8364d4d9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b9f587abc4c4979" /><Relationship Type="http://schemas.openxmlformats.org/officeDocument/2006/relationships/image" Target="/ppt/media/image.png" Id="R50bb080486df44bc" /><Relationship Type="http://schemas.openxmlformats.org/officeDocument/2006/relationships/notesSlide" Target="/ppt/notesSlides/notesSlide1.xml" Id="R86475ca1c990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07e89950f894ced" /><Relationship Type="http://schemas.openxmlformats.org/officeDocument/2006/relationships/image" Target="/ppt/media/image2.png" Id="R218fe47bbf094056" /><Relationship Type="http://schemas.openxmlformats.org/officeDocument/2006/relationships/notesSlide" Target="/ppt/notesSlides/notesSlide2.xml" Id="R98041d3ebf21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2cad68905d644fd" /><Relationship Type="http://schemas.openxmlformats.org/officeDocument/2006/relationships/notesSlide" Target="/ppt/notesSlides/notesSlide3.xml" Id="R04d29d26d6bb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770cd3b2be54fd4" /><Relationship Type="http://schemas.openxmlformats.org/officeDocument/2006/relationships/notesSlide" Target="/ppt/notesSlides/notesSlide4.xml" Id="R2a33506b864d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10bccdb035e42d3" /><Relationship Type="http://schemas.openxmlformats.org/officeDocument/2006/relationships/notesSlide" Target="/ppt/notesSlides/notesSlide5.xml" Id="R56316afb6f5d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397c6ad71c34bd3" /><Relationship Type="http://schemas.openxmlformats.org/officeDocument/2006/relationships/notesSlide" Target="/ppt/notesSlides/notesSlide6.xml" Id="R86fb4386053947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4a7ed723ca14512" /><Relationship Type="http://schemas.openxmlformats.org/officeDocument/2006/relationships/notesSlide" Target="/ppt/notesSlides/notesSlide7.xml" Id="R0aaf57176ef84c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a2ca68167074780" /><Relationship Type="http://schemas.openxmlformats.org/officeDocument/2006/relationships/notesSlide" Target="/ppt/notesSlides/notesSlide8.xml" Id="R2d32fc601199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5220efef98447fd" /><Relationship Type="http://schemas.openxmlformats.org/officeDocument/2006/relationships/notesSlide" Target="/ppt/notesSlides/notesSlide9.xml" Id="R742100fd209f4b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96c93da3d8e4aee" /><Relationship Type="http://schemas.openxmlformats.org/officeDocument/2006/relationships/notesSlide" Target="/ppt/notesSlides/notesSlide10.xml" Id="R327e239f8bc74b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a44f6dab1514d48" /><Relationship Type="http://schemas.openxmlformats.org/officeDocument/2006/relationships/notesSlide" Target="/ppt/notesSlides/notesSlide11.xml" Id="R21ac65195d2149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45b491c50874e22" /><Relationship Type="http://schemas.openxmlformats.org/officeDocument/2006/relationships/notesSlide" Target="/ppt/notesSlides/notesSlide12.xml" Id="R3fe173e686f649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574980b0abd4d9a" /><Relationship Type="http://schemas.openxmlformats.org/officeDocument/2006/relationships/notesSlide" Target="/ppt/notesSlides/notesSlide13.xml" Id="R19fc7d45aa28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b080486df44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FD897-1F61-4DB6-A32C-9701FF21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ED5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ED5DB"/>
                </a:solidFill>
                <a:latin typeface="Arial"/>
                <a:ea typeface="Arial"/>
                <a:cs typeface="Arial"/>
              </a:rPr>
              <a:t>AI ENGINEERING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B6EC9-1D5C-4147-B726-D0809D1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Sesión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AC543-2F14-4A0E-A001-107B571E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 y A2A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BFD1C-FE8F-4B80-AD4B-DC4D935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4E8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8EB"/>
                </a:solidFill>
                <a:latin typeface="Arial"/>
                <a:ea typeface="Arial"/>
                <a:cs typeface="Arial"/>
              </a:rPr>
              <a:t>Protocolos para conectar agentes con capacidades y con otros agentes</a:t>
            </a:r>
          </a:p>
        </p:txBody>
      </p:sp>
    </p:spTree>
    <p:extLst>
      <p:ext uri="{BB962C8B-B14F-4D97-AF65-F5344CB8AC3E}">
        <p14:creationId xmlns:p14="http://schemas.microsoft.com/office/powerpoint/2010/main" val="1546141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E55DF-4080-481F-830F-B2E713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 y A2A resuelven límites distintos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4BE8F-677C-4E2B-BE56-CA4838EE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5E222-3451-4E8A-BEA6-4E52E658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E2BE-101D-4B0F-AE2D-C6B840A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E67C8-437B-4B66-B8AB-1E8DE092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Profundidad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76BE-66D2-429E-8311-EECC3F3F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Conecta una aplicación agente con tools, recursos y prompts que amplían lo que puede hacer.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9A343-2A65-45A3-8EED-C0730B78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49DC5-72DC-43AD-8DCF-B300646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B962E-17CE-4326-8761-9F57C84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Alcance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E1DB2-9BE2-4EBC-BA0A-613B2FC4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Conecta agentes independientes que colaboran mediante mensajes y trabajo rastreable.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1AF1E-D9D6-4785-8D74-8CF528B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581025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fe47bbf094056"/>
          <a:stretch xmlns:a="http://schemas.openxmlformats.org/drawingml/2006/main"/>
        </p:blipFill>
        <p:spPr>
          <a:xfrm xmlns:a="http://schemas.openxmlformats.org/drawingml/2006/main">
            <a:off x="6000750" y="1890000"/>
            <a:ext cx="5429250" cy="307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7D6CC-A971-4ECC-A32B-94C3FDC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7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C8791"/>
                </a:solidFill>
                <a:latin typeface="Arial"/>
                <a:ea typeface="Arial"/>
                <a:cs typeface="Arial"/>
              </a:rPr>
              <a:t>Diagrama oficial del proyecto A2A</a:t>
            </a:r>
          </a:p>
        </p:txBody>
      </p:sp>
    </p:spTree>
    <p:extLst>
      <p:ext uri="{BB962C8B-B14F-4D97-AF65-F5344CB8AC3E}">
        <p14:creationId xmlns:p14="http://schemas.microsoft.com/office/powerpoint/2010/main" val="219029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33B0-D918-4CC9-8CC0-43C31F1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MODEL CONTEXT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B04A5-65AD-4384-8D06-8F1948AD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MCP: arquitectura cliente-servidor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A80E4-AC28-4781-8021-FC6F103F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26EF6-0AED-4877-B242-BED3F75E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571750" cy="2667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B20"/>
          </a:solidFill>
          <a:ln xmlns:a="http://schemas.openxmlformats.org/drawingml/2006/main" w="20955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HOST</a:t>
            </a:r>
          </a:p>
          <a:p xmlns:a="http://schemas.openxmlformats.org/drawingml/2006/main">
            <a:pPr algn="ctr">
              <a:defRPr sz="19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Aplicación agente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F8D16-3339-463F-8CDC-160679E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857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3942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86F3A-5BD5-4C36-899C-5E49188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86125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3942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55A85-BCD0-4DF1-AEA9-623560B0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2000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11430">
            <a:solidFill>
              <a:srgbClr val="5A666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1B9CE-9741-4020-9800-2E1BBD85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3942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TOOLS</a:t>
            </a:r>
          </a:p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7397A-6B6C-43D2-BC94-40A21C5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6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RESOURCES</a:t>
            </a:r>
          </a:p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C9627-5DD8-4538-ABD7-ED8A40F1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6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PROMPTS</a:t>
            </a:r>
          </a:p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Plantillas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95625" y="2967038"/>
            <a:ext cx="1190625" cy="333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C7D9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286500" y="1914525"/>
            <a:ext cx="1238250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C7D9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86500" y="2967038"/>
            <a:ext cx="1238250" cy="328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86500" y="2967038"/>
            <a:ext cx="1238250" cy="17097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8074-F6F7-4B7A-978A-84A0C67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C7D9"/>
                </a:solidFill>
                <a:latin typeface="Arial"/>
                <a:ea typeface="Arial"/>
                <a:cs typeface="Arial"/>
              </a:rPr>
              <a:t>JSON-RPC sobre stdio o HTTP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571B2-CB99-4D7F-A82F-B983509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El modelo no habla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670A0-A028-40BA-BD25-3957A32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2143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El client traduce el catálogo MCP al formato de tools que entiende el LLM y despacha la llamada elegida.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9A279-763F-4C21-B387-16E6132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29125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Foco del workshop: tools</a:t>
            </a:r>
          </a:p>
        </p:txBody>
      </p:sp>
    </p:spTree>
    <p:extLst>
      <p:ext uri="{BB962C8B-B14F-4D97-AF65-F5344CB8AC3E}">
        <p14:creationId xmlns:p14="http://schemas.microsoft.com/office/powerpoint/2010/main" val="1898539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13BB2-B2E0-44A3-9DDD-007964E4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DEMO 1 /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4D2B6-059E-4FE9-9E51-7058683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mcp-minimo: del descubrimiento a la suma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4F221-D8E9-435C-996D-C0AD106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2841-A2A3-4DD4-A333-4747979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5EC84-8225-4761-A724-8D0EF7C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Conexión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B4532-DE95-4053-9320-56CFC6F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agent.py abre HTTP y ejecuta initialize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8596-6586-4DDB-93C4-01A41AF1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C9B42-417F-4DEC-8364-BEBE6BDC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Descubrimiento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77E03-9A87-4D52-8499-35F1763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tools/list devuelve add y su JSON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26053-74D2-4287-B664-F4C2188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7BCA6-7447-4010-B853-A42B22E4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1A67B-3C53-4AE5-8938-628EF42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DeepSeek elige add(12, 30)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BC652-CFA5-443E-B640-8A2188A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F124C-8910-489F-A67A-CAAEB16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D1AA3-8026-4606-A93B-79D5D15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tools/call llega a server.py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D90EA-E531-4C1A-8104-62F050C0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5DCE3-53CA-47CA-A2BC-2C36BF0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28C48-FB36-4B0E-AAED-CF95030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FastMCP devuelve 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73A50-63EE-4512-AA06-BBEC15CE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47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8AEEF-63C5-4FF6-9EFA-1CD557EF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0220D-4C13-424F-ACDB-212EBDE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33375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El LLM redacta la salida final</a:t>
            </a:r>
          </a:p>
        </p:txBody>
      </p:sp>
      <p:cxnSp>
        <p:nvCxnSpPr>
          <p:cNvPr id="52" name=""/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200150" y="24003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A72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105150" y="24003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A72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0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5010150" y="24003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A72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6915150" y="24003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A72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6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8820150" y="24003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A72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E93CB-F54C-4244-A280-F24849D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095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1012"/>
          </a:solidFill>
          <a:ln xmlns:a="http://schemas.openxmlformats.org/drawingml/2006/main" w="9525">
            <a:solidFill>
              <a:srgbClr val="343B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C7D9"/>
                </a:solidFill>
                <a:latin typeface="Arial"/>
                <a:ea typeface="Arial"/>
                <a:cs typeface="Arial"/>
              </a:rPr>
              <a:t>@mcp.tool()</a:t>
            </a:r>
          </a:p>
          <a:p xmlns:a="http://schemas.openxmlformats.org/drawingml/2006/main">
            <a:pPr algn="l">
              <a:defRPr sz="1350" b="0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C7D9"/>
                </a:solidFill>
                <a:latin typeface="Arial"/>
                <a:ea typeface="Arial"/>
                <a:cs typeface="Arial"/>
              </a:rPr>
              <a:t>def add(a: int, b: int) -&gt; 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E7BC1-BAEE-461C-BA06-4F125CA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La firma Python produce el contrato. El cliente no importa add ni conoce su implementación.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4D993-B115-422F-868F-2A8663A5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29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Nota de versión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A7D97-7B17-4085-8EB3-978568A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91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Esta demo usa initialize. MCP 2026-07-28 introdujo un core sin sesión de protocolo.</a:t>
            </a:r>
          </a:p>
        </p:txBody>
      </p:sp>
    </p:spTree>
    <p:extLst>
      <p:ext uri="{BB962C8B-B14F-4D97-AF65-F5344CB8AC3E}">
        <p14:creationId xmlns:p14="http://schemas.microsoft.com/office/powerpoint/2010/main" val="1411082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BAF2C-C146-4689-974C-BA71A95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AGENT2AGENT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0FE8F-BA52-4D93-B764-69F0A25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A2A: un agente remoto como caja negra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DFDCF-A135-40B3-93DF-13ABB29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FF600-9A57-412A-A3F1-8267F24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66975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B1D69-5463-41B1-9216-B8528FFA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2333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8242A"/>
          </a:solidFill>
          <a:ln xmlns:a="http://schemas.openxmlformats.org/drawingml/2006/main" w="1905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 client</a:t>
            </a:r>
          </a:p>
          <a:p xmlns:a="http://schemas.openxmlformats.org/drawingml/2006/main">
            <a:pPr algn="ctr">
              <a:defRPr sz="18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Agente coordinador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12F61-56EC-4420-8E6E-F492A9A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857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2A2117"/>
          </a:solidFill>
          <a:ln xmlns:a="http://schemas.openxmlformats.org/drawingml/2006/main" w="2286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 server</a:t>
            </a:r>
          </a:p>
          <a:p xmlns:a="http://schemas.openxmlformats.org/drawingml/2006/main">
            <a:pPr algn="ctr">
              <a:defRPr sz="21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Agente remoto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70775-EFB7-444A-A023-DD7C03B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429000" cy="3571875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6D573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" name=""/>
          <p:cNvCxnSpPr>
            <a:stCxn xmlns:a="http://schemas.openxmlformats.org/drawingml/2006/main" id="4" idx="6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638300" y="3143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24375" y="3143250"/>
            <a:ext cx="30003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A641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B9957-AD22-4786-97E2-7FAFD25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1638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Mensajes</a:t>
            </a:r>
          </a:p>
          <a:p xmlns:a="http://schemas.openxmlformats.org/drawingml/2006/main">
            <a:pPr algn="ctr">
              <a:defRPr sz="18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Tasks</a:t>
            </a:r>
          </a:p>
          <a:p xmlns:a="http://schemas.openxmlformats.org/drawingml/2006/main">
            <a:pPr algn="ctr">
              <a:defRPr sz="18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2C147-7C85-49FD-BC99-C93D052F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HTTP(S) con un binding declarado en la Agent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74174-062E-44E9-A8F1-716C74BD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48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Visible desde afuera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857DF-41C0-4082-89E1-937C989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4292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identidad, endpoint, capacidades, skills y requisitos de seguridad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33F76-62BE-4FC7-BE7E-88CC461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90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Oculto por 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F65E-2837-411D-A80D-031016AD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104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modelo</a:t>
            </a:r>
          </a:p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memoria</a:t>
            </a:r>
          </a:p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tools</a:t>
            </a:r>
          </a:p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988469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C3619-668F-47FA-84C8-4DCB016B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DESCUBRIMIENTO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8B38E-DD77-418C-84CF-298ACB40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Agent Card y Agent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771DA-2EBE-4530-953B-526F8153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13D08-41C9-486B-B945-72EFF70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619625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11417"/>
          </a:solidFill>
          <a:ln xmlns:a="http://schemas.openxmlformats.org/drawingml/2006/main" w="11430">
            <a:solidFill>
              <a:srgbClr val="5661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2EBB-8705-427E-8901-6F6B18A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.well-known/agent-card.json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5533C-3CE0-4847-BBCA-F7F4915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64AF5-8DA8-47BC-970C-D342A47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860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name, description,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F60B7-CDA0-4098-B0F8-5DF11DBC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432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CDC1B-C77B-4D47-9AC3-22FF906F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URL, binding y versión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1EB7B-3B6E-456C-8CA9-EF23FD26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8140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Capacidades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37698-863E-4663-ADD1-3AF2228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streaming, push notifications, card extendida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08C7B-06F7-4805-AE68-7E465D81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95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Formatos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EE594-1C0C-4965-9D7A-0B7E13B1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005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input modes y output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2F700-60D8-4E08-877D-0BBAAE9F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577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7B31F-CA8F-463C-9124-5B294F2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catálogo de capacidades publicadas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352CD-20E0-4956-9EC5-7BF99BD6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525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Una skill describe qué puede pedir el cliente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AAA4C-1CBF-41C4-B855-DD87904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5429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D1012"/>
          </a:solidFill>
          <a:ln xmlns:a="http://schemas.openxmlformats.org/drawingml/2006/main" w="9525">
            <a:solidFill>
              <a:srgbClr val="343B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id: echo_bot</a:t>
            </a:r>
          </a:p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name: Echo Bot</a:t>
            </a:r>
          </a:p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input_modes: text/plain</a:t>
            </a:r>
          </a:p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output_modes: text/plain</a:t>
            </a:r>
          </a:p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examples: hi, how are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1D57E-916B-4385-A8F4-BC1E440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9580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La card pública ofrece echo_bot. La card extendida agrega echo_bot_super_mode para clientes autenticados.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87E03-E891-4B0F-872C-42683F38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72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F92DE-31F7-4608-A1E3-CD0A447D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7687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URI well-known, registro curado o configuración directa</a:t>
            </a:r>
          </a:p>
        </p:txBody>
      </p:sp>
    </p:spTree>
    <p:extLst>
      <p:ext uri="{BB962C8B-B14F-4D97-AF65-F5344CB8AC3E}">
        <p14:creationId xmlns:p14="http://schemas.microsoft.com/office/powerpoint/2010/main" val="200019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CCFBF-47B0-486C-A49F-540F0DD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TRABAJO RASTREABLE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87FD-A419-49FE-BC61-069537E1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Ciclo de vida de una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5FC68-2DC6-407B-A85A-EA685873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A8798-220B-42D5-99D3-939B3554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1084C-C8C4-4EED-AE7F-1EFC96A3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2A2F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C7D9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0E0CC-8EF5-407D-BF85-9502D07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11417"/>
          </a:solidFill>
          <a:ln xmlns:a="http://schemas.openxmlformats.org/drawingml/2006/main" w="14288">
            <a:solidFill>
              <a:srgbClr val="56616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EBCE0-6D46-4F3A-8150-1C591A8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9B2BB"/>
                </a:solidFill>
                <a:latin typeface="Arial"/>
                <a:ea typeface="Arial"/>
                <a:cs typeface="Arial"/>
              </a:rPr>
              <a:t>Estados terminales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9D2CB-292C-46B1-952D-2CEEEA97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6DAFA-AD3E-4B55-8013-7D9F1739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B148F-886C-448F-B5B1-2E343EBB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CANCELED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F6890-90A0-4185-896A-C7EA5A6B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48250" y="2457450"/>
            <a:ext cx="314325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5717B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C96FE-7E8E-49AD-9663-F253115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20C"/>
          </a:solidFill>
          <a:ln xmlns:a="http://schemas.openxmlformats.org/drawingml/2006/main" w="14288">
            <a:solidFill>
              <a:srgbClr val="6D573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A3EE8-743E-45D0-ADD8-819E6F9B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Estados interrumpidos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472E5-44ED-47B2-97AF-D1AEE57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95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INPUT_REQUIRED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A6B4B-16E0-44E2-AFEA-0404175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AUTH_REQUIRED</a:t>
            </a:r>
          </a:p>
        </p:txBody>
      </p:sp>
      <p:cxnSp>
        <p:nvCxnSpPr>
          <p:cNvPr id="42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143375" y="2819400"/>
            <a:ext cx="1095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641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ABBC6-187A-4BCE-AEB3-0BF6CA4C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720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Con el dato o la autorización, la task puede continuar en WORKING.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DC9F7-D3A7-4D77-B078-5BAD647F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taskId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5770-6312-4889-B21A-C54B68D0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identifica una unidad de trabajo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5B860-68B1-4CEC-BB6E-542CE96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contextId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5F21A-C6C9-43FD-B9C1-A56E07CC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578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agrupa mensajes y tasks relacionados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A3955-75F7-42EE-ABC7-5D982FA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Una task terminal no se reinicia. Un refinamiento crea otra task dentro del mismo contexto.</a:t>
            </a:r>
          </a:p>
        </p:txBody>
      </p:sp>
    </p:spTree>
    <p:extLst>
      <p:ext uri="{BB962C8B-B14F-4D97-AF65-F5344CB8AC3E}">
        <p14:creationId xmlns:p14="http://schemas.microsoft.com/office/powerpoint/2010/main" val="1565544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BEAC4-9913-4B33-9F7D-02BB20B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488D9-8755-4D41-81D0-D00BAA65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Executor, eventos y streaming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65F44-0020-4AC5-A130-748BDE38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B4806-33E1-4C08-8683-3D0B8FD9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809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Rutas A2A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6777B-23BC-41A1-A569-47E0E2E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809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RequestHandler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9D16E-A7B2-438C-B687-6F1B811D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86125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4B2D0A"/>
          </a:solidFill>
          <a:ln xmlns:a="http://schemas.openxmlformats.org/drawingml/2006/main" w="1143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AgentExecutor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A1E74-FBC7-4E76-AD45-DA848358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1809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EventQueue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122F1-81BB-48F5-9D4F-CBE8BCCC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57800"/>
            <a:ext cx="1809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TaskStore</a:t>
            </a:r>
          </a:p>
        </p:txBody>
      </p:sp>
      <p:cxnSp>
        <p:nvCxnSpPr>
          <p:cNvPr id="36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428750" y="2095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428750" y="3000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428750" y="40671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428750" y="49720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D5E23-915F-4B0B-9621-44DE850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El executor traduce la lógica interna del agente a objetos del protocolo.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0D776-3500-40BB-B10E-52B52B5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execute(context, event_queue)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00170-0AD5-4AC5-8382-11D109BE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cancel(context, event_queue)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74414-83A7-4101-94A5-7D752444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287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Secuencia de eventos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039B6-DDBE-40D7-ADCC-C5FF215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11430">
            <a:solidFill>
              <a:srgbClr val="56616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objeto inicial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FE0D6-8CBF-4FDC-B176-4C8F9C19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28925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1143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WORKING</a:t>
            </a:r>
          </a:p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status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F73AA-6403-4641-9B26-15848A08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05225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11430">
            <a:solidFill>
              <a:srgbClr val="56616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9FB"/>
                </a:solidFill>
                <a:latin typeface="Arial"/>
                <a:ea typeface="Arial"/>
                <a:cs typeface="Arial"/>
              </a:rPr>
              <a:t>Artifact</a:t>
            </a:r>
          </a:p>
          <a:p xmlns:a="http://schemas.openxmlformats.org/drawingml/2006/main">
            <a:pPr algn="ctr">
              <a:defRPr sz="1425" b="0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9FB"/>
                </a:solidFill>
                <a:latin typeface="Arial"/>
                <a:ea typeface="Arial"/>
                <a:cs typeface="Arial"/>
              </a:rPr>
              <a:t>resultado o 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A2367-B72B-44D7-813C-AC6BC68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81525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352B"/>
          </a:solidFill>
          <a:ln xmlns:a="http://schemas.openxmlformats.org/drawingml/2006/main" w="11430">
            <a:solidFill>
              <a:srgbClr val="4FD1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COMPLETED</a:t>
            </a:r>
          </a:p>
          <a:p xmlns:a="http://schemas.openxmlformats.org/drawingml/2006/main">
            <a:pPr algn="ctr">
              <a:defRPr sz="1425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status terminal</a:t>
            </a:r>
          </a:p>
        </p:txBody>
      </p:sp>
      <p:cxnSp>
        <p:nvCxnSpPr>
          <p:cNvPr id="48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048750" y="25812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048750" y="34575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048750" y="43338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6A43A-ADD6-479C-840D-EF00DB2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Entrega al cliente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C849B-9BEE-4404-8F9C-A4D57A9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Polling: consulta GetTask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4F48B-D493-4D8C-AA45-E756A60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815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Streaming: SSE con updates incrementales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4F127-81E4-47AA-BD49-E8F3DFB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Push: webhook para trabajo desconectado</a:t>
            </a:r>
          </a:p>
        </p:txBody>
      </p:sp>
    </p:spTree>
    <p:extLst>
      <p:ext uri="{BB962C8B-B14F-4D97-AF65-F5344CB8AC3E}">
        <p14:creationId xmlns:p14="http://schemas.microsoft.com/office/powerpoint/2010/main" val="642785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6F41E-ADE5-4A99-8172-1F64079F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DEMO 2 / A2A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2540-47F4-4964-84C8-7608103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 Hello World: el contrato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73AD9-CD43-4178-A4B7-A7F41358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282A5-A2C8-4C07-B8A3-75057243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47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242A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test_client.py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71D5-3BDF-4BC6-A78C-F31A273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478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GET</a:t>
            </a:r>
          </a:p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Agent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90FD9-0B01-4666-AAE5-E143841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B2D0A"/>
          </a:solidFill>
          <a:ln xmlns:a="http://schemas.openxmlformats.org/drawingml/2006/main" w="1143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SendMessage</a:t>
            </a:r>
          </a:p>
          <a:p xmlns:a="http://schemas.openxmlformats.org/drawingml/2006/main">
            <a:pPr algn="ctr">
              <a:defRPr sz="15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o streaming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F7B7-6244-4443-914F-552F0E23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Starlette</a:t>
            </a:r>
          </a:p>
          <a:p xmlns:a="http://schemas.openxmlformats.org/drawingml/2006/main">
            <a:pPr algn="ctr">
              <a:defRPr sz="17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127.0.0.1:9999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6C0E9-9CB3-4411-8915-CC7135C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6193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DefaultRequestHandler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663DD-B1D2-4DC2-A114-1010AC9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6193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InMemoryTaskStore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8EBF3-2083-45A9-B897-DB5C35EA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26193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B2D0A"/>
          </a:solidFill>
          <a:ln xmlns:a="http://schemas.openxmlformats.org/drawingml/2006/main" w="1143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HelloWorldAgentExecutor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571750" y="1866900"/>
            <a:ext cx="71437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71750" y="2428875"/>
            <a:ext cx="714375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05375" y="1866900"/>
            <a:ext cx="7143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905375" y="2571750"/>
            <a:ext cx="7143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620000" y="1785938"/>
            <a:ext cx="71437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2571750"/>
            <a:ext cx="714375" cy="261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20000" y="2571750"/>
            <a:ext cx="714375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8D2E1-BC8E-4FEC-ACEC-D64E3B96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57750"/>
            <a:ext cx="8096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1012"/>
          </a:solidFill>
          <a:ln xmlns:a="http://schemas.openxmlformats.org/drawingml/2006/main" w="9525">
            <a:solidFill>
              <a:srgbClr val="343B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A641"/>
                </a:solidFill>
                <a:latin typeface="Arial"/>
                <a:ea typeface="Arial"/>
                <a:cs typeface="Arial"/>
              </a:rPr>
              <a:t>Hello, World! I have received your request (...)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AAC02-7668-454C-BD5D-8DAA5FA0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340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La respuesta está hardcodeada. La exposición, el discovery, la task y el streaming usan el contrato completo.</a:t>
            </a:r>
          </a:p>
        </p:txBody>
      </p:sp>
    </p:spTree>
    <p:extLst>
      <p:ext uri="{BB962C8B-B14F-4D97-AF65-F5344CB8AC3E}">
        <p14:creationId xmlns:p14="http://schemas.microsoft.com/office/powerpoint/2010/main" val="1295689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97BE9-9F60-484E-9B05-FAE9000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DEMO 3 / AGENTE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5D14A-88D8-45D6-953C-DAA35DD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 + LangGraph: el protocolo no cambia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CF6BE-18AE-408D-B644-43B3D40F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5B544-23E6-454E-ACA7-129C316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333625" cy="2857500"/>
          </a:xfrm>
          <a:prstGeom xmlns:a="http://schemas.openxmlformats.org/drawingml/2006/main" prst="roundRect">
            <a:avLst>
              <a:gd name="adj" fmla="val 4898"/>
            </a:avLst>
          </a:prstGeom>
          <a:noFill xmlns:a="http://schemas.openxmlformats.org/drawingml/2006/main"/>
          <a:ln xmlns:a="http://schemas.openxmlformats.org/drawingml/2006/main" w="20955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Perímetro A2A</a:t>
            </a:r>
          </a:p>
          <a:p xmlns:a="http://schemas.openxmlformats.org/drawingml/2006/main">
            <a:pPr algn="ctr">
              <a:defRPr sz="18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Card, tasks, eventos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380D5-3A5B-44A4-917B-6D15DE20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4B2D0A"/>
          </a:solidFill>
          <a:ln xmlns:a="http://schemas.openxmlformats.org/drawingml/2006/main" w="11430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CurrencyAgent</a:t>
            </a:r>
          </a:p>
          <a:p xmlns:a="http://schemas.openxmlformats.org/drawingml/2006/main">
            <a:pPr algn="ctr">
              <a:defRPr sz="15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3DC4E-E66E-466C-AC26-9CCCBC3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8242A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LangGraph 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3629C-865D-49B6-B33D-8A78441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2238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5C5BD-31C6-4825-99D9-6AB8E8B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22383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3942"/>
          </a:solidFill>
          <a:ln xmlns:a="http://schemas.openxmlformats.org/drawingml/2006/main" w="11430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get_exchange_rate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325E1-EFDC-4D9B-9376-DEEC7C25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2047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MemorySaver</a:t>
            </a:r>
          </a:p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thread_id = contextId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57500" y="2390775"/>
            <a:ext cx="5238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572125" y="1943100"/>
            <a:ext cx="90487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596188" y="2381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C7D9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96188" y="36004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C7D9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15375" y="1943100"/>
            <a:ext cx="809625" cy="962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24A7-207B-44DD-A560-31A7884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Interacción multi-turn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E7573-6B13-4CCB-B63F-AAFE32D6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00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“1 USD, ¿a qué moneda?”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BE845-E8B5-40F3-BDB6-0D6179B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INPUT_REQUIRED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84E87-0687-4735-A0B9-5FB47BF9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97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“CAD” con el mismo taskId y contextId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0697C-013D-443B-9546-FC0F150C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COMPLETED + artifact</a:t>
            </a:r>
          </a:p>
        </p:txBody>
      </p:sp>
    </p:spTree>
    <p:extLst>
      <p:ext uri="{BB962C8B-B14F-4D97-AF65-F5344CB8AC3E}">
        <p14:creationId xmlns:p14="http://schemas.microsoft.com/office/powerpoint/2010/main" val="1063382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28BB8-3034-4CA0-9D35-46FF409F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DEMO 4 /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91293-F195-4DD1-BF35-119C372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Ejemplo integrador: ADK + A2A +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5A657-AA38-44F8-ABCD-D749D5A0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C7465-18A4-4AC3-BF93-B50AE39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193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Humano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94D1E-EA26-4A08-8C08-E02F162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38375"/>
            <a:ext cx="20002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8242A"/>
          </a:solidFill>
          <a:ln xmlns:a="http://schemas.openxmlformats.org/drawingml/2006/main" w="20955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Agent A</a:t>
            </a:r>
          </a:p>
          <a:p xmlns:a="http://schemas.openxmlformats.org/drawingml/2006/main">
            <a:pPr algn="ctr">
              <a:defRPr sz="195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Generalista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211D1-507E-448D-8BB5-E2B0101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33362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4B2D0A"/>
          </a:solidFill>
          <a:ln xmlns:a="http://schemas.openxmlformats.org/drawingml/2006/main" w="20955">
            <a:solidFill>
              <a:srgbClr val="F4A6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Agent B</a:t>
            </a:r>
          </a:p>
          <a:p xmlns:a="http://schemas.openxmlformats.org/drawingml/2006/main">
            <a:pPr algn="ctr">
              <a:defRPr sz="187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Especialista Outlook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56762-8731-41A1-84C7-FBE6AE6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1905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3942"/>
          </a:solidFill>
          <a:ln xmlns:a="http://schemas.openxmlformats.org/drawingml/2006/main" w="20955">
            <a:solidFill>
              <a:srgbClr val="24C7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Composio</a:t>
            </a:r>
          </a:p>
          <a:p xmlns:a="http://schemas.openxmlformats.org/drawingml/2006/main">
            <a:pPr algn="ctr">
              <a:defRPr sz="187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1FC0F-5D5E-430B-A09B-53583E1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62200"/>
            <a:ext cx="1143000" cy="13811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2262A"/>
          </a:solidFill>
          <a:ln xmlns:a="http://schemas.openxmlformats.org/drawingml/2006/main" w="11430">
            <a:solidFill>
              <a:srgbClr val="65717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Outlook</a:t>
            </a:r>
          </a:p>
          <a:p xmlns:a="http://schemas.openxmlformats.org/drawingml/2006/main">
            <a:pPr algn="ctr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Microsoft Graph</a:t>
            </a:r>
          </a:p>
        </p:txBody>
      </p:sp>
      <p:cxnSp>
        <p:nvCxnSpPr>
          <p:cNvPr id="29" name=""/>
          <p:cNvCxnSpPr>
            <a:stCxn xmlns:a="http://schemas.openxmlformats.org/drawingml/2006/main" id="4" idx="6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485900" y="3067050"/>
            <a:ext cx="2762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5717B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62375" y="307181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86625" y="307181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C7D9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334625" y="3052763"/>
            <a:ext cx="52387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C7D9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771C7-FD4B-47C8-91B8-78D182FE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430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E7CEF-0389-4561-9525-3161C10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430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26B6C-0C32-40D9-9496-B4ACA2C3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152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RemoteA2aAgent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5AFD4-4FCE-4FC9-9615-784B68C5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McpToolset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24CEC-9F0B-460A-AAFC-54DDDCC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43450"/>
            <a:ext cx="2286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012"/>
          </a:solidFill>
          <a:ln xmlns:a="http://schemas.openxmlformats.org/drawingml/2006/main" w="9525">
            <a:solidFill>
              <a:srgbClr val="343B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C7D9"/>
                </a:solidFill>
                <a:latin typeface="Arial"/>
                <a:ea typeface="Arial"/>
                <a:cs typeface="Arial"/>
              </a:rPr>
              <a:t>OUTLOOK_SEND_EMAIL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EDAED-DD13-4F45-934C-772D4CE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Solicitud completa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33667-A4AF-4FCC-92FF-44C1474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destinatario, asunto, cuerpo e intención explícita de enviar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D4431-C61C-4F4F-800C-24AEE16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054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El resultado vuelve por MCP y luego por A2A antes de llegar al usuario.</a:t>
            </a:r>
          </a:p>
        </p:txBody>
      </p:sp>
    </p:spTree>
    <p:extLst>
      <p:ext uri="{BB962C8B-B14F-4D97-AF65-F5344CB8AC3E}">
        <p14:creationId xmlns:p14="http://schemas.microsoft.com/office/powerpoint/2010/main" val="888695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DF6E0-BEB4-4B85-8268-AEFFC13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4A31D-F8B6-40C1-9884-65162A2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Límites de confianza en el ejemplo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7F530-97D8-40F5-B22A-197303B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A81CC-B146-4862-9F45-15897065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BA3A4-2EBC-45BE-854A-FA0EFBF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ECA0D-FEA8-4958-A4BD-05EE37D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19225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La Agent Card publica capacidades y endpoints. Las credenciales quedan fuera del documento.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77A2A-D5DB-4D29-9594-9E8F5C16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DELEGACIÓN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29523-3341-4395-B67C-EF11912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3E86-CA88-4537-ACAB-35F7389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14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Agent A envía solicitudes de email al especialista. No conoce MCP ni la cuenta de Outlook.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43C7D-1B88-4BED-BB85-567DBC9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MÍNIMO PRIVILEGIO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4397F-83CB-488A-BD7E-C343AEA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148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5FFC0-8966-41D6-879F-E80A2AE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9975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Composio publica una sola tool y ADK vuelve a filtrar OUTLOOK_SEND_EMAIL.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4B587-299D-43AA-B5D9-BE75932E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EFECTO EXTERNO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A2DE4-1F1E-47C1-B70A-EA59A4CB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D1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F9DAA-79F8-4B80-933F-4B91FDA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053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Agent B exige todos los campos y una intención explícita antes de ejecutar el envío.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9881A-3FD2-4FD2-A408-714CFF7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La interoperabilidad separa responsabilidades. No elimina la necesidad de autenticación, autorización, confirmación y observabilidad.</a:t>
            </a:r>
          </a:p>
        </p:txBody>
      </p:sp>
    </p:spTree>
    <p:extLst>
      <p:ext uri="{BB962C8B-B14F-4D97-AF65-F5344CB8AC3E}">
        <p14:creationId xmlns:p14="http://schemas.microsoft.com/office/powerpoint/2010/main" val="13580901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F3E55-3F5D-408F-9D4C-4DE947B6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Recorrido de la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DE15-AD36-427A-AEA8-AC450012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D1020-8201-4196-A345-4BA80EF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C7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F0E6-541A-4B35-A801-82C7631B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57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C7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C7D9"/>
                </a:solidFill>
                <a:latin typeface="Arial"/>
                <a:ea typeface="Arial"/>
                <a:cs typeface="Arial"/>
              </a:rPr>
              <a:t>mcp-minimo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1346D-0565-4618-B6FA-D522F394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47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Una tool remota y el traductor MCP del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69CD4-A81F-4476-87A5-27F8B45A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64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374B-2FA8-427B-8EBB-A2A8F3D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812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28A3E-4CCA-4196-ACAD-4201937E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718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Una Agent Card, un executor y una Task completa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975AE-A5E3-4D60-B380-59C324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64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17DAF-CDB2-46A3-A038-20CFC793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052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a2a-langgraph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C85DC-108D-4373-B2E5-56C6A96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El mismo protocolo alrededor de un agente con memoria y 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9BEBC-2FC8-47F9-9EBE-C563ECD2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19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81B12-E0C2-4972-ABCD-D905D4BC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291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FD19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D19C"/>
                </a:solidFill>
                <a:latin typeface="Arial"/>
                <a:ea typeface="Arial"/>
                <a:cs typeface="Arial"/>
              </a:rPr>
              <a:t>adk-a2a-mcp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121E1-E2E7-4FED-985B-A88D20A4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197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DEE3"/>
                </a:solidFill>
                <a:latin typeface="Arial"/>
                <a:ea typeface="Arial"/>
                <a:cs typeface="Arial"/>
              </a:rPr>
              <a:t>Dos agentes por A2A y un efecto externo por MCP</a:t>
            </a:r>
          </a:p>
        </p:txBody>
      </p:sp>
      <p:cxnSp>
        <p:nvCxnSpPr>
          <p:cNvPr id="34" name=""/>
          <p:cNvCxnSpPr>
            <a:stCxn xmlns:a="http://schemas.openxmlformats.org/drawingml/2006/main" id="3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57275" y="21621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575F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57275" y="328612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575F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7275" y="44100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575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325FA-EC33-4B0E-8356-D772D553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8575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191C"/>
          </a:solidFill>
          <a:ln xmlns:a="http://schemas.openxmlformats.org/drawingml/2006/main" w="11430">
            <a:solidFill>
              <a:srgbClr val="56616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MCP para tools</a:t>
            </a:r>
          </a:p>
          <a:p xmlns:a="http://schemas.openxmlformats.org/drawingml/2006/main">
            <a:pPr algn="ctr">
              <a:defRPr sz="2550" b="1">
                <a:solidFill>
                  <a:srgbClr val="F7F9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B"/>
                </a:solidFill>
                <a:latin typeface="Arial"/>
                <a:ea typeface="Arial"/>
                <a:cs typeface="Arial"/>
              </a:rPr>
              <a:t>A2A para agentes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73FA4-95AF-42C0-A647-3EBFA11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9B2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2BB"/>
                </a:solidFill>
                <a:latin typeface="Arial"/>
                <a:ea typeface="Arial"/>
                <a:cs typeface="Arial"/>
              </a:rPr>
              <a:t>El caso integrador combina ambos límites sin mezclar sus responsabilidades.</a:t>
            </a:r>
          </a:p>
        </p:txBody>
      </p:sp>
    </p:spTree>
    <p:extLst>
      <p:ext uri="{BB962C8B-B14F-4D97-AF65-F5344CB8AC3E}">
        <p14:creationId xmlns:p14="http://schemas.microsoft.com/office/powerpoint/2010/main" val="124328994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2026-09-14T22:28:25.6810000Z</dcterms:created>
  <dcterms:modified xsi:type="dcterms:W3CDTF">2026-09-14T22:28:25.6810000Z</dcterms:modified>
</coreProperties>
</file>