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Apertura.
Decir: no voy a hablar de agentes en abstracto. Vamos a mirar un agente chico, romper una tool de dos maneras, y terminar con una experiencia real donde el primer diseno tenia nueve tools y el final solo necesito tres.
Por que el titulo dice contexto: una tool no termina cuando devuelve un valor. Lo que devuelve entra al contexto del modelo y decide el proximo paso. Encadenar tools es administrar contexto.
Las tres preguntas que responde el workshop:
1) Que convierte una funcion en una tool.
2) Como un retorno cambia el proximo paso del agente.
3) Por que 3 tools funcionaron mejor que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Este es el mapa: lo dejo dos segundos y sigo.
Prometer el resultado: al salir de aca deberian poder decidir si una capacidad necesita ser una tool, detectar tools que son pasos mentales del modelo, escribir un error con error/why/hint, consolidar tools que siempre ocurren juntas, y verificar el diseno mirando trazas y no solo schemas.
Transicion: antes de las reglas, veamos que circula realmente entre un agente y sus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Definicion operacional, antes de tocar codigo.
Ejemplo bueno para decir en voz: apply_patch es una tool porque el modelo produce el contenido pero necesita que el sistema lo aplique. view_image es una tool porque acceder a la imagen requiere una capacidad externa. No existe una tool think_about_image, porque analizar la imagen ya lo hace el modelo.
Dejar la pregunta de abajo colgada: la vamos a cobrar en el caso Three.js para descartar 6 de 9 tools. No adelantar el caso todavia.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 min. Playground en vivo. Esta slide es solo el mapa; el protagonista es la pantalla del chat.
Antes: npm start, navegador en localhost:4317, zoom verificado.
Con search_web: mientras corre, senalar en la traza el nombre de la tool, el input que construyo el modelo, el resultado estructurado y la respuesta final apoyada en ese resultado. NO leer la respuesta completa: el foco es el intercambio, no el contenido investigado.
Con notes: un prompt por vez. Senalar que es UNA tool con cuatro acciones y que el storage persiste entre turnos, o sea que el estado sobrevive al contexto de un turno.
Idea que tiene que quedar: todo lo que devuelve la tool entra al contexto. Encadenar tools es administrar que entra y que no.
Transicion: ahora dejemos todo igual y cambiemos solo lo que vuelve cuando la tool falla.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 min. Setup conceptual, 3 min. Leer el escenario rapido y mostrar el codigo en pantalla.
Contrato: error = que fallo. why = por que fallo. hint = como recuperar. available_options = alternativas validas cuando hay mas de una.
Preguntar a la sala ANTES de ejecutar: el modelo podra recuperarse igual con 'failed'?
Dejar que voten. Muchos van a decir que si.
Aclarar el control: el system prompt es el mismo en las dos corridas e incluye una regla normal de seguridad para mutaciones (si una accion falla sin explicar una recuperacion confiable, no inventes ids). Eso evita que el ejemplo dependa de la suerte.
Comandos: npm run demo:tool-bad primero, npm run demo:tool-good despues.
Si preferis comentar codigo en vivo: test/fixtures/active-note-tool.js, ACTIVE_DESIGN = bad / good, y siempre npm run demo:tool-active.
No leer el JSON completo. Marcar solo why, hint y suggested_call.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 min. Discusion, 5 min, despues de correr las dos demos.
Preguntas para la sala:
- 'failed' significa id invalido, base caida o falta de permisos?
- Seria seguro que el agente adivine despues de fallar un delete?
- Que parte del retorno habilito la segunda llamada?
Aclarar que el agente que se detiene NO esta fallando: detenerse es lo correcto cuando una mutacion fallo y no hay recuperacion confiable. El problema es la tool, no el modelo.
Bajar la frase del cierre a algo humano: si a una persona le decis 'fallo' y nada mas, tampoco sabe como seguir. No es inteligencia, es contexto. Aca se conectan las dos mitades del titulo: encadenar tools es administrar el contexto que cada retorno deja.
Que NO demuestra: que todo error deba traer una llamada rigida. suggested_call sirve aca porque la recuperacion es segura y determinista. En otros casos available_options es mejor.
Transicion: un buen retorno arregla el proximo paso. Un buen limite evita pasos innecesarios desde el principio.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 min. Pasada rapida, 2 minutos. Si vas corto de tiempo, esta es la slide que se recorta.
Vienen de un agente de diagnostico industrial real: las tools consultan series de sensores, logs de eventos, guias de troubleshooting y busqueda en Slack. Decidir si nombras el proyecto o lo dejas generico.
Que quede claro que son cuatro CATEGORIAS distintas de fallo, no cuatro ejemplos del mismo:
1. Limite excedido: la llamada era invalida. El hint dice como partirla, no solo que estaba mal.
2. Sin datos: no fallo nada. Devolver [] mezcla 'no hay datos' con 'algo se rompio'. Fijate que ademas devuelve el rango que busco: el modelo no tiene que acordarse de que pidio.
3. No existe: el catalogo de valores validos convierte un callejon sin salida en una eleccion. Es lo mismo que hacia suggested_call en la demo anterior.
4. Busqueda vacia: no alcanza con decir que no hubo resultados; hay que sugerir la proxima estrategia, que en este caso es aflojar la query.
Punto que conecta con el titulo del workshop: todo esto ocupa contexto. Un hint de una linea vale mas que volcar el stack trace entero.
Cerrar con la frase de abajo y pasar a fronteras.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30-48 min. Primera mitad del caso. Contarlo como error propio, no como receta.
Narrar el orden real: cuando disene este agente, arranque poniendo una tool por cada cosa que el agente tenia que hacer. Nueve. Recien despues me pregunte, una por una, si el modelo necesitaba una capacidad externa para eso.
Bajar fila por fila, rapido. Las tres que sobreviven son las unicas que tocan algo afuera: un runtime, una camara, el chat del usuario.
El mejor ejemplo de la lista es inspect_3d_render: la habia puesto para que el agente 'mire' el render. Pero el modelo ya ve la imagen que le llega. Era pedirle por RPC algo que hace de fabrica. Es el mismo motivo por el que no existe una tool think_about_image.
Costo de haberlas dejado: nueve nombres parecidos entre los que elegir en cada turno, mas contexto gastado en definiciones, y mas chances de encadenar mal.
No explicar implementacion WebGL.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30-48 min. Segunda mitad del caso.
render: le paso el codigo entero y me devuelve scene_id, revision_id, una URL privada de preview, los errores de consola y metricas. Ojo con lo que devuelve: los errores de consola son justamente el contexto que le permite corregirse en el paso siguiente.
capture: pensarla como el mecanismo para sacarle screenshots a la escena, desde frente, costado, perspectiva, lo que pida. Ejemplo real: renderizo un perro astronauta, saco tres fotos, ve que el casco quedo enorme, corrige el codigo y vuelve a render.
publish: solo despues de renderizar, mirar y aprobar. En el chat aparece una tarjeta 3D que el usuario puede rotar. Por eso esta separada de render: renderizar en privado no es publicar.
Leer el flujo de abajo senalando que los pasos 2 y 3 no son tools nuevas: web search ya existia y el codigo lo escribe el modelo.
Cerrar: no convertir 'tres' en regla universal. El numero salio de contar efectos externos distintos.
Transicion: de estos dos casos, retornos y fronteras, sale un checklist corto.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48-55 min. Esta es la slide que la gente fotografia. Bajar el ritmo.
No leer las ocho en voz alta. Elegir tres y anclarlas a lo que ya vieron:
- 1 y 3 son el caso Three.js.
- 5 y 6 son la demo del id vencido.
- 8 es la razon por la que corrimos el test en vez de discutirlo.
El punto 7 es el que conecta con el titulo: todo lo que devuelve una tool ocupa contexto. Traer de mas es tan caro como traer de menos.
Anti-patron favorito para comentar: mas tools como sustituto de mejores limites.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55-60 min. Cierre y preguntas.
Leer la pregunta, esperar dos segundos, dar la respuesta de la slide. No agregar nada mas.
Dejar tiempo real para preguntas: no llenar el silencio.
PLAN DE CONTINGENCIA si falla internet o una API:
1. No reparar credenciales frente a la audiencia.
2. Mostrar los logs reales capturados en TOOL_DESIGN_COMPARISON.md.
3. Usar las capturas locales del caso Three.js.
4. Correr npm test para mostrar que schemas, retornos y UI siguen verificados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191F"/>
          </a:solidFill>
          <a:ln/>
        </p:spPr>
      </p:sp>
      <p:sp>
        <p:nvSpPr>
          <p:cNvPr id="3" name="Shape 1"/>
          <p:cNvSpPr/>
          <p:nvPr/>
        </p:nvSpPr>
        <p:spPr>
          <a:xfrm>
            <a:off x="502920" y="1298448"/>
            <a:ext cx="457200" cy="82296"/>
          </a:xfrm>
          <a:prstGeom prst="rect">
            <a:avLst/>
          </a:prstGeom>
          <a:solidFill>
            <a:srgbClr val="E4572E"/>
          </a:solidFill>
          <a:ln/>
        </p:spPr>
      </p:sp>
      <p:sp>
        <p:nvSpPr>
          <p:cNvPr id="4" name="Text 2"/>
          <p:cNvSpPr/>
          <p:nvPr/>
        </p:nvSpPr>
        <p:spPr>
          <a:xfrm>
            <a:off x="502920" y="868680"/>
            <a:ext cx="5486400" cy="274320"/>
          </a:xfrm>
          <a:prstGeom prst="rect">
            <a:avLst/>
          </a:prstGeom>
          <a:noFill/>
          <a:ln/>
        </p:spPr>
        <p:txBody>
          <a:bodyPr wrap="square" lIns="0" tIns="0" rIns="0" bIns="0" rtlCol="0" anchor="ctr"/>
          <a:lstStyle/>
          <a:p>
            <a:pPr indent="0" marL="0">
              <a:buNone/>
            </a:pPr>
            <a:r>
              <a:rPr lang="en-US" sz="1200" spc="200" kern="0" dirty="0">
                <a:solidFill>
                  <a:srgbClr val="E4572E"/>
                </a:solidFill>
                <a:latin typeface="Calibri" pitchFamily="34" charset="0"/>
                <a:ea typeface="Calibri" pitchFamily="34" charset="-122"/>
                <a:cs typeface="Calibri" pitchFamily="34" charset="-120"/>
              </a:rPr>
              <a:t>Workshop</a:t>
            </a:r>
            <a:endParaRPr lang="en-US" sz="1200" dirty="0"/>
          </a:p>
        </p:txBody>
      </p:sp>
      <p:sp>
        <p:nvSpPr>
          <p:cNvPr id="5" name="Text 3"/>
          <p:cNvSpPr/>
          <p:nvPr/>
        </p:nvSpPr>
        <p:spPr>
          <a:xfrm>
            <a:off x="502920" y="1572768"/>
            <a:ext cx="8046720" cy="1463040"/>
          </a:xfrm>
          <a:prstGeom prst="rect">
            <a:avLst/>
          </a:prstGeom>
          <a:noFill/>
          <a:ln/>
        </p:spPr>
        <p:txBody>
          <a:bodyPr wrap="square" lIns="0" tIns="0" rIns="0" bIns="0" rtlCol="0" anchor="ctr"/>
          <a:lstStyle/>
          <a:p>
            <a:pPr indent="0" marL="0">
              <a:lnSpc>
                <a:spcPts val="4200"/>
              </a:lnSpc>
              <a:buNone/>
            </a:pPr>
            <a:r>
              <a:rPr lang="en-US" sz="3600" b="1" dirty="0">
                <a:solidFill>
                  <a:srgbClr val="FFFFFF"/>
                </a:solidFill>
                <a:latin typeface="Arial" pitchFamily="34" charset="0"/>
                <a:ea typeface="Arial" pitchFamily="34" charset="-122"/>
                <a:cs typeface="Arial" pitchFamily="34" charset="-120"/>
              </a:rPr>
              <a:t>Tool Chaining</a:t>
            </a:r>
            <a:endParaRPr lang="en-US" sz="3600" dirty="0"/>
          </a:p>
          <a:p>
            <a:pPr indent="0" marL="0">
              <a:lnSpc>
                <a:spcPts val="4200"/>
              </a:lnSpc>
              <a:buNone/>
            </a:pPr>
            <a:r>
              <a:rPr lang="en-US" sz="3600" b="1" dirty="0">
                <a:solidFill>
                  <a:srgbClr val="FFFFFF"/>
                </a:solidFill>
                <a:latin typeface="Arial" pitchFamily="34" charset="0"/>
                <a:ea typeface="Arial" pitchFamily="34" charset="-122"/>
                <a:cs typeface="Arial" pitchFamily="34" charset="-120"/>
              </a:rPr>
              <a:t>&amp; Context Management</a:t>
            </a:r>
            <a:endParaRPr lang="en-US" sz="3600" dirty="0"/>
          </a:p>
        </p:txBody>
      </p:sp>
      <p:sp>
        <p:nvSpPr>
          <p:cNvPr id="6" name="Text 4"/>
          <p:cNvSpPr/>
          <p:nvPr/>
        </p:nvSpPr>
        <p:spPr>
          <a:xfrm>
            <a:off x="502920" y="3246120"/>
            <a:ext cx="7589520" cy="365760"/>
          </a:xfrm>
          <a:prstGeom prst="rect">
            <a:avLst/>
          </a:prstGeom>
          <a:noFill/>
          <a:ln/>
        </p:spPr>
        <p:txBody>
          <a:bodyPr wrap="square" lIns="0" tIns="0" rIns="0" bIns="0" rtlCol="0" anchor="ctr"/>
          <a:lstStyle/>
          <a:p>
            <a:pPr indent="0" marL="0">
              <a:buNone/>
            </a:pPr>
            <a:r>
              <a:rPr lang="en-US" sz="1600" i="1" dirty="0">
                <a:solidFill>
                  <a:srgbClr val="C9CCD3"/>
                </a:solidFill>
                <a:latin typeface="Calibri" pitchFamily="34" charset="0"/>
                <a:ea typeface="Calibri" pitchFamily="34" charset="-122"/>
                <a:cs typeface="Calibri" pitchFamily="34" charset="-120"/>
              </a:rPr>
              <a:t>Diseñar tools es diseñar la comunicación entre el agente y el mundo.</a:t>
            </a:r>
            <a:endParaRPr lang="en-US" sz="1600" dirty="0"/>
          </a:p>
        </p:txBody>
      </p:sp>
      <p:sp>
        <p:nvSpPr>
          <p:cNvPr id="7" name="Text 5"/>
          <p:cNvSpPr/>
          <p:nvPr/>
        </p:nvSpPr>
        <p:spPr>
          <a:xfrm>
            <a:off x="502920" y="3703320"/>
            <a:ext cx="7589520" cy="274320"/>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Menos tools · límites claros · retornos accionables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4" name="Text 2"/>
          <p:cNvSpPr/>
          <p:nvPr/>
        </p:nvSpPr>
        <p:spPr>
          <a:xfrm>
            <a:off x="978408" y="329184"/>
            <a:ext cx="7662672" cy="420624"/>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El recorrido</a:t>
            </a:r>
            <a:endParaRPr lang="en-US" sz="2700" dirty="0"/>
          </a:p>
        </p:txBody>
      </p:sp>
      <p:sp>
        <p:nvSpPr>
          <p:cNvPr id="5" name="Shape 3"/>
          <p:cNvSpPr/>
          <p:nvPr/>
        </p:nvSpPr>
        <p:spPr>
          <a:xfrm>
            <a:off x="502920" y="1188720"/>
            <a:ext cx="2587752" cy="2148840"/>
          </a:xfrm>
          <a:prstGeom prst="rect">
            <a:avLst/>
          </a:prstGeom>
          <a:solidFill>
            <a:srgbClr val="F1F2F4"/>
          </a:solidFill>
          <a:ln/>
        </p:spPr>
      </p:sp>
      <p:sp>
        <p:nvSpPr>
          <p:cNvPr id="6" name="Shape 4"/>
          <p:cNvSpPr/>
          <p:nvPr/>
        </p:nvSpPr>
        <p:spPr>
          <a:xfrm>
            <a:off x="502920" y="1188720"/>
            <a:ext cx="2587752" cy="384048"/>
          </a:xfrm>
          <a:prstGeom prst="rect">
            <a:avLst/>
          </a:prstGeom>
          <a:solidFill>
            <a:srgbClr val="E4572E"/>
          </a:solidFill>
          <a:ln/>
        </p:spPr>
      </p:sp>
      <p:sp>
        <p:nvSpPr>
          <p:cNvPr id="7" name="Text 5"/>
          <p:cNvSpPr/>
          <p:nvPr/>
        </p:nvSpPr>
        <p:spPr>
          <a:xfrm>
            <a:off x="649224" y="1188720"/>
            <a:ext cx="2295144" cy="384048"/>
          </a:xfrm>
          <a:prstGeom prst="rect">
            <a:avLst/>
          </a:prstGeom>
          <a:noFill/>
          <a:ln/>
        </p:spPr>
        <p:txBody>
          <a:bodyPr wrap="square" lIns="0" tIns="0" rIns="0" bIns="0" rtlCol="0" anchor="ctr"/>
          <a:lstStyle/>
          <a:p>
            <a:pPr indent="0" marL="0">
              <a:buNone/>
            </a:pPr>
            <a:r>
              <a:rPr lang="en-US" sz="1200" b="1" spc="150" kern="0" dirty="0">
                <a:solidFill>
                  <a:srgbClr val="FFFFFF"/>
                </a:solidFill>
                <a:latin typeface="Arial" pitchFamily="34" charset="0"/>
                <a:ea typeface="Arial" pitchFamily="34" charset="-122"/>
                <a:cs typeface="Arial" pitchFamily="34" charset="-120"/>
              </a:rPr>
              <a:t>VER</a:t>
            </a:r>
            <a:endParaRPr lang="en-US" sz="1200" dirty="0"/>
          </a:p>
        </p:txBody>
      </p:sp>
      <p:sp>
        <p:nvSpPr>
          <p:cNvPr id="8" name="Text 6"/>
          <p:cNvSpPr/>
          <p:nvPr/>
        </p:nvSpPr>
        <p:spPr>
          <a:xfrm>
            <a:off x="649224" y="1719072"/>
            <a:ext cx="2295144" cy="329184"/>
          </a:xfrm>
          <a:prstGeom prst="rect">
            <a:avLst/>
          </a:prstGeom>
          <a:noFill/>
          <a:ln/>
        </p:spPr>
        <p:txBody>
          <a:bodyPr wrap="square" lIns="0" tIns="0" rIns="0" bIns="0" rtlCol="0" anchor="ctr"/>
          <a:lstStyle/>
          <a:p>
            <a:pPr indent="0" marL="0">
              <a:buNone/>
            </a:pPr>
            <a:r>
              <a:rPr lang="en-US" sz="1500" b="1" dirty="0">
                <a:solidFill>
                  <a:srgbClr val="16191F"/>
                </a:solidFill>
                <a:latin typeface="Arial" pitchFamily="34" charset="0"/>
                <a:ea typeface="Arial" pitchFamily="34" charset="-122"/>
                <a:cs typeface="Arial" pitchFamily="34" charset="-120"/>
              </a:rPr>
              <a:t>Un agente chico</a:t>
            </a:r>
            <a:endParaRPr lang="en-US" sz="1500" dirty="0"/>
          </a:p>
        </p:txBody>
      </p:sp>
      <p:sp>
        <p:nvSpPr>
          <p:cNvPr id="9" name="Text 7"/>
          <p:cNvSpPr/>
          <p:nvPr/>
        </p:nvSpPr>
        <p:spPr>
          <a:xfrm>
            <a:off x="649224" y="2121408"/>
            <a:ext cx="2295144" cy="777240"/>
          </a:xfrm>
          <a:prstGeom prst="rect">
            <a:avLst/>
          </a:prstGeom>
          <a:noFill/>
          <a:ln/>
        </p:spPr>
        <p:txBody>
          <a:bodyPr wrap="square" lIns="0" tIns="0" rIns="0" bIns="0" rtlCol="0" anchor="t"/>
          <a:lstStyle/>
          <a:p>
            <a:pPr indent="0" marL="0">
              <a:lnSpc>
                <a:spcPts val="1600"/>
              </a:lnSpc>
              <a:buNone/>
            </a:pPr>
            <a:r>
              <a:rPr lang="en-US" sz="1250" dirty="0">
                <a:solidFill>
                  <a:srgbClr val="2A2E36"/>
                </a:solidFill>
                <a:latin typeface="Calibri" pitchFamily="34" charset="0"/>
                <a:ea typeface="Calibri" pitchFamily="34" charset="-122"/>
                <a:cs typeface="Calibri" pitchFamily="34" charset="-120"/>
              </a:rPr>
              <a:t>search_web y notes,</a:t>
            </a:r>
            <a:endParaRPr lang="en-US" sz="1250" dirty="0"/>
          </a:p>
          <a:p>
            <a:pPr indent="0" marL="0">
              <a:lnSpc>
                <a:spcPts val="1600"/>
              </a:lnSpc>
              <a:buNone/>
            </a:pPr>
            <a:r>
              <a:rPr lang="en-US" sz="1250" dirty="0">
                <a:solidFill>
                  <a:srgbClr val="2A2E36"/>
                </a:solidFill>
                <a:latin typeface="Calibri" pitchFamily="34" charset="0"/>
                <a:ea typeface="Calibri" pitchFamily="34" charset="-122"/>
                <a:cs typeface="Calibri" pitchFamily="34" charset="-120"/>
              </a:rPr>
              <a:t>con las trazas a la vista.</a:t>
            </a:r>
            <a:endParaRPr lang="en-US" sz="1250" dirty="0"/>
          </a:p>
        </p:txBody>
      </p:sp>
      <p:sp>
        <p:nvSpPr>
          <p:cNvPr id="10" name="Shape 8"/>
          <p:cNvSpPr/>
          <p:nvPr/>
        </p:nvSpPr>
        <p:spPr>
          <a:xfrm>
            <a:off x="3264408" y="1188720"/>
            <a:ext cx="2587752" cy="2148840"/>
          </a:xfrm>
          <a:prstGeom prst="rect">
            <a:avLst/>
          </a:prstGeom>
          <a:solidFill>
            <a:srgbClr val="F1F2F4"/>
          </a:solidFill>
          <a:ln/>
        </p:spPr>
      </p:sp>
      <p:sp>
        <p:nvSpPr>
          <p:cNvPr id="11" name="Shape 9"/>
          <p:cNvSpPr/>
          <p:nvPr/>
        </p:nvSpPr>
        <p:spPr>
          <a:xfrm>
            <a:off x="3264408" y="1188720"/>
            <a:ext cx="2587752" cy="384048"/>
          </a:xfrm>
          <a:prstGeom prst="rect">
            <a:avLst/>
          </a:prstGeom>
          <a:solidFill>
            <a:srgbClr val="A4232B"/>
          </a:solidFill>
          <a:ln/>
        </p:spPr>
      </p:sp>
      <p:sp>
        <p:nvSpPr>
          <p:cNvPr id="12" name="Text 10"/>
          <p:cNvSpPr/>
          <p:nvPr/>
        </p:nvSpPr>
        <p:spPr>
          <a:xfrm>
            <a:off x="3410712" y="1188720"/>
            <a:ext cx="2295144" cy="384048"/>
          </a:xfrm>
          <a:prstGeom prst="rect">
            <a:avLst/>
          </a:prstGeom>
          <a:noFill/>
          <a:ln/>
        </p:spPr>
        <p:txBody>
          <a:bodyPr wrap="square" lIns="0" tIns="0" rIns="0" bIns="0" rtlCol="0" anchor="ctr"/>
          <a:lstStyle/>
          <a:p>
            <a:pPr indent="0" marL="0">
              <a:buNone/>
            </a:pPr>
            <a:r>
              <a:rPr lang="en-US" sz="1200" b="1" spc="150" kern="0" dirty="0">
                <a:solidFill>
                  <a:srgbClr val="FFFFFF"/>
                </a:solidFill>
                <a:latin typeface="Arial" pitchFamily="34" charset="0"/>
                <a:ea typeface="Arial" pitchFamily="34" charset="-122"/>
                <a:cs typeface="Arial" pitchFamily="34" charset="-120"/>
              </a:rPr>
              <a:t>PROBAR</a:t>
            </a:r>
            <a:endParaRPr lang="en-US" sz="1200" dirty="0"/>
          </a:p>
        </p:txBody>
      </p:sp>
      <p:sp>
        <p:nvSpPr>
          <p:cNvPr id="13" name="Text 11"/>
          <p:cNvSpPr/>
          <p:nvPr/>
        </p:nvSpPr>
        <p:spPr>
          <a:xfrm>
            <a:off x="3410712" y="1719072"/>
            <a:ext cx="2295144" cy="329184"/>
          </a:xfrm>
          <a:prstGeom prst="rect">
            <a:avLst/>
          </a:prstGeom>
          <a:noFill/>
          <a:ln/>
        </p:spPr>
        <p:txBody>
          <a:bodyPr wrap="square" lIns="0" tIns="0" rIns="0" bIns="0" rtlCol="0" anchor="ctr"/>
          <a:lstStyle/>
          <a:p>
            <a:pPr indent="0" marL="0">
              <a:buNone/>
            </a:pPr>
            <a:r>
              <a:rPr lang="en-US" sz="1500" b="1" dirty="0">
                <a:solidFill>
                  <a:srgbClr val="16191F"/>
                </a:solidFill>
                <a:latin typeface="Arial" pitchFamily="34" charset="0"/>
                <a:ea typeface="Arial" pitchFamily="34" charset="-122"/>
                <a:cs typeface="Arial" pitchFamily="34" charset="-120"/>
              </a:rPr>
              <a:t>El retorno del error</a:t>
            </a:r>
            <a:endParaRPr lang="en-US" sz="1500" dirty="0"/>
          </a:p>
        </p:txBody>
      </p:sp>
      <p:sp>
        <p:nvSpPr>
          <p:cNvPr id="14" name="Text 12"/>
          <p:cNvSpPr/>
          <p:nvPr/>
        </p:nvSpPr>
        <p:spPr>
          <a:xfrm>
            <a:off x="3410712" y="2121408"/>
            <a:ext cx="2295144" cy="777240"/>
          </a:xfrm>
          <a:prstGeom prst="rect">
            <a:avLst/>
          </a:prstGeom>
          <a:noFill/>
          <a:ln/>
        </p:spPr>
        <p:txBody>
          <a:bodyPr wrap="square" lIns="0" tIns="0" rIns="0" bIns="0" rtlCol="0" anchor="t"/>
          <a:lstStyle/>
          <a:p>
            <a:pPr indent="0" marL="0">
              <a:lnSpc>
                <a:spcPts val="1600"/>
              </a:lnSpc>
              <a:buNone/>
            </a:pPr>
            <a:r>
              <a:rPr lang="en-US" sz="1250" dirty="0">
                <a:solidFill>
                  <a:srgbClr val="2A2E36"/>
                </a:solidFill>
                <a:latin typeface="Calibri" pitchFamily="34" charset="0"/>
                <a:ea typeface="Calibri" pitchFamily="34" charset="-122"/>
                <a:cs typeface="Calibri" pitchFamily="34" charset="-120"/>
              </a:rPr>
              <a:t>Cambiamos lo que la tool</a:t>
            </a:r>
            <a:endParaRPr lang="en-US" sz="1250" dirty="0"/>
          </a:p>
          <a:p>
            <a:pPr indent="0" marL="0">
              <a:lnSpc>
                <a:spcPts val="1600"/>
              </a:lnSpc>
              <a:buNone/>
            </a:pPr>
            <a:r>
              <a:rPr lang="en-US" sz="1250" dirty="0">
                <a:solidFill>
                  <a:srgbClr val="2A2E36"/>
                </a:solidFill>
                <a:latin typeface="Calibri" pitchFamily="34" charset="0"/>
                <a:ea typeface="Calibri" pitchFamily="34" charset="-122"/>
                <a:cs typeface="Calibri" pitchFamily="34" charset="-120"/>
              </a:rPr>
              <a:t>devuelve al fallar.</a:t>
            </a:r>
            <a:endParaRPr lang="en-US" sz="1250" dirty="0"/>
          </a:p>
        </p:txBody>
      </p:sp>
      <p:sp>
        <p:nvSpPr>
          <p:cNvPr id="15" name="Shape 13"/>
          <p:cNvSpPr/>
          <p:nvPr/>
        </p:nvSpPr>
        <p:spPr>
          <a:xfrm>
            <a:off x="6025896" y="1188720"/>
            <a:ext cx="2587752" cy="2148840"/>
          </a:xfrm>
          <a:prstGeom prst="rect">
            <a:avLst/>
          </a:prstGeom>
          <a:solidFill>
            <a:srgbClr val="F1F2F4"/>
          </a:solidFill>
          <a:ln/>
        </p:spPr>
      </p:sp>
      <p:sp>
        <p:nvSpPr>
          <p:cNvPr id="16" name="Shape 14"/>
          <p:cNvSpPr/>
          <p:nvPr/>
        </p:nvSpPr>
        <p:spPr>
          <a:xfrm>
            <a:off x="6025896" y="1188720"/>
            <a:ext cx="2587752" cy="384048"/>
          </a:xfrm>
          <a:prstGeom prst="rect">
            <a:avLst/>
          </a:prstGeom>
          <a:solidFill>
            <a:srgbClr val="12715B"/>
          </a:solidFill>
          <a:ln/>
        </p:spPr>
      </p:sp>
      <p:sp>
        <p:nvSpPr>
          <p:cNvPr id="17" name="Text 15"/>
          <p:cNvSpPr/>
          <p:nvPr/>
        </p:nvSpPr>
        <p:spPr>
          <a:xfrm>
            <a:off x="6172200" y="1188720"/>
            <a:ext cx="2295144" cy="384048"/>
          </a:xfrm>
          <a:prstGeom prst="rect">
            <a:avLst/>
          </a:prstGeom>
          <a:noFill/>
          <a:ln/>
        </p:spPr>
        <p:txBody>
          <a:bodyPr wrap="square" lIns="0" tIns="0" rIns="0" bIns="0" rtlCol="0" anchor="ctr"/>
          <a:lstStyle/>
          <a:p>
            <a:pPr indent="0" marL="0">
              <a:buNone/>
            </a:pPr>
            <a:r>
              <a:rPr lang="en-US" sz="1200" b="1" spc="150" kern="0" dirty="0">
                <a:solidFill>
                  <a:srgbClr val="FFFFFF"/>
                </a:solidFill>
                <a:latin typeface="Arial" pitchFamily="34" charset="0"/>
                <a:ea typeface="Arial" pitchFamily="34" charset="-122"/>
                <a:cs typeface="Arial" pitchFamily="34" charset="-120"/>
              </a:rPr>
              <a:t>GENERALIZAR</a:t>
            </a:r>
            <a:endParaRPr lang="en-US" sz="1200" dirty="0"/>
          </a:p>
        </p:txBody>
      </p:sp>
      <p:sp>
        <p:nvSpPr>
          <p:cNvPr id="18" name="Text 16"/>
          <p:cNvSpPr/>
          <p:nvPr/>
        </p:nvSpPr>
        <p:spPr>
          <a:xfrm>
            <a:off x="6172200" y="1719072"/>
            <a:ext cx="2295144" cy="329184"/>
          </a:xfrm>
          <a:prstGeom prst="rect">
            <a:avLst/>
          </a:prstGeom>
          <a:noFill/>
          <a:ln/>
        </p:spPr>
        <p:txBody>
          <a:bodyPr wrap="square" lIns="0" tIns="0" rIns="0" bIns="0" rtlCol="0" anchor="ctr"/>
          <a:lstStyle/>
          <a:p>
            <a:pPr indent="0" marL="0">
              <a:buNone/>
            </a:pPr>
            <a:r>
              <a:rPr lang="en-US" sz="1500" b="1" dirty="0">
                <a:solidFill>
                  <a:srgbClr val="16191F"/>
                </a:solidFill>
                <a:latin typeface="Arial" pitchFamily="34" charset="0"/>
                <a:ea typeface="Arial" pitchFamily="34" charset="-122"/>
                <a:cs typeface="Arial" pitchFamily="34" charset="-120"/>
              </a:rPr>
              <a:t>Caso real Three.js</a:t>
            </a:r>
            <a:endParaRPr lang="en-US" sz="1500" dirty="0"/>
          </a:p>
        </p:txBody>
      </p:sp>
      <p:sp>
        <p:nvSpPr>
          <p:cNvPr id="19" name="Text 17"/>
          <p:cNvSpPr/>
          <p:nvPr/>
        </p:nvSpPr>
        <p:spPr>
          <a:xfrm>
            <a:off x="6172200" y="2121408"/>
            <a:ext cx="2295144" cy="777240"/>
          </a:xfrm>
          <a:prstGeom prst="rect">
            <a:avLst/>
          </a:prstGeom>
          <a:noFill/>
          <a:ln/>
        </p:spPr>
        <p:txBody>
          <a:bodyPr wrap="square" lIns="0" tIns="0" rIns="0" bIns="0" rtlCol="0" anchor="t"/>
          <a:lstStyle/>
          <a:p>
            <a:pPr indent="0" marL="0">
              <a:lnSpc>
                <a:spcPts val="1600"/>
              </a:lnSpc>
              <a:buNone/>
            </a:pPr>
            <a:r>
              <a:rPr lang="en-US" sz="1250" dirty="0">
                <a:solidFill>
                  <a:srgbClr val="2A2E36"/>
                </a:solidFill>
                <a:latin typeface="Calibri" pitchFamily="34" charset="0"/>
                <a:ea typeface="Calibri" pitchFamily="34" charset="-122"/>
                <a:cs typeface="Calibri" pitchFamily="34" charset="-120"/>
              </a:rPr>
              <a:t>De 9 tools a 3:</a:t>
            </a:r>
            <a:endParaRPr lang="en-US" sz="1250" dirty="0"/>
          </a:p>
          <a:p>
            <a:pPr indent="0" marL="0">
              <a:lnSpc>
                <a:spcPts val="1600"/>
              </a:lnSpc>
              <a:buNone/>
            </a:pPr>
            <a:r>
              <a:rPr lang="en-US" sz="1250" dirty="0">
                <a:solidFill>
                  <a:srgbClr val="2A2E36"/>
                </a:solidFill>
                <a:latin typeface="Calibri" pitchFamily="34" charset="0"/>
                <a:ea typeface="Calibri" pitchFamily="34" charset="-122"/>
                <a:cs typeface="Calibri" pitchFamily="34" charset="-120"/>
              </a:rPr>
              <a:t>cómo elegir fronteras.</a:t>
            </a:r>
            <a:endParaRPr lang="en-US" sz="1250" dirty="0"/>
          </a:p>
        </p:txBody>
      </p:sp>
      <p:sp>
        <p:nvSpPr>
          <p:cNvPr id="20" name="Text 18"/>
          <p:cNvSpPr/>
          <p:nvPr/>
        </p:nvSpPr>
        <p:spPr>
          <a:xfrm>
            <a:off x="502920" y="3520440"/>
            <a:ext cx="8138160" cy="27432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Reglas prácticas y checklist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 name="Text 2"/>
          <p:cNvSpPr/>
          <p:nvPr/>
        </p:nvSpPr>
        <p:spPr>
          <a:xfrm>
            <a:off x="978408" y="329184"/>
            <a:ext cx="7662672" cy="420624"/>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¿Qué es realmente una tool?</a:t>
            </a:r>
            <a:endParaRPr lang="en-US" sz="2700" dirty="0"/>
          </a:p>
        </p:txBody>
      </p:sp>
      <p:sp>
        <p:nvSpPr>
          <p:cNvPr id="5" name="Shape 3"/>
          <p:cNvSpPr/>
          <p:nvPr/>
        </p:nvSpPr>
        <p:spPr>
          <a:xfrm>
            <a:off x="502920" y="1188720"/>
            <a:ext cx="3977640" cy="2194560"/>
          </a:xfrm>
          <a:prstGeom prst="rect">
            <a:avLst/>
          </a:prstGeom>
          <a:solidFill>
            <a:srgbClr val="F1F2F4"/>
          </a:solidFill>
          <a:ln/>
        </p:spPr>
      </p:sp>
      <p:sp>
        <p:nvSpPr>
          <p:cNvPr id="6" name="Shape 4"/>
          <p:cNvSpPr/>
          <p:nvPr/>
        </p:nvSpPr>
        <p:spPr>
          <a:xfrm>
            <a:off x="502920" y="1188720"/>
            <a:ext cx="3977640" cy="384048"/>
          </a:xfrm>
          <a:prstGeom prst="rect">
            <a:avLst/>
          </a:prstGeom>
          <a:solidFill>
            <a:srgbClr val="12715B"/>
          </a:solidFill>
          <a:ln/>
        </p:spPr>
      </p:sp>
      <p:sp>
        <p:nvSpPr>
          <p:cNvPr id="7" name="Text 5"/>
          <p:cNvSpPr/>
          <p:nvPr/>
        </p:nvSpPr>
        <p:spPr>
          <a:xfrm>
            <a:off x="649224" y="1188720"/>
            <a:ext cx="3657600" cy="384048"/>
          </a:xfrm>
          <a:prstGeom prst="rect">
            <a:avLst/>
          </a:prstGeom>
          <a:noFill/>
          <a:ln/>
        </p:spPr>
        <p:txBody>
          <a:bodyPr wrap="square" lIns="0" tIns="0" rIns="0" bIns="0" rtlCol="0" anchor="ctr"/>
          <a:lstStyle/>
          <a:p>
            <a:pPr indent="0" marL="0">
              <a:buNone/>
            </a:pPr>
            <a:r>
              <a:rPr lang="en-US" sz="1200" b="1" spc="150" kern="0" dirty="0">
                <a:solidFill>
                  <a:srgbClr val="FFFFFF"/>
                </a:solidFill>
                <a:latin typeface="Arial" pitchFamily="34" charset="0"/>
                <a:ea typeface="Arial" pitchFamily="34" charset="-122"/>
                <a:cs typeface="Arial" pitchFamily="34" charset="-120"/>
              </a:rPr>
              <a:t>SÍ ES UNA TOOL</a:t>
            </a:r>
            <a:endParaRPr lang="en-US" sz="1200" dirty="0"/>
          </a:p>
        </p:txBody>
      </p:sp>
      <p:sp>
        <p:nvSpPr>
          <p:cNvPr id="8" name="Text 6"/>
          <p:cNvSpPr/>
          <p:nvPr/>
        </p:nvSpPr>
        <p:spPr>
          <a:xfrm>
            <a:off x="649224" y="1664208"/>
            <a:ext cx="3685032" cy="237744"/>
          </a:xfrm>
          <a:prstGeom prst="rect">
            <a:avLst/>
          </a:prstGeom>
          <a:noFill/>
          <a:ln/>
        </p:spPr>
        <p:txBody>
          <a:bodyPr wrap="square" lIns="0" tIns="0" rIns="0" bIns="0" rtlCol="0" anchor="ctr"/>
          <a:lstStyle/>
          <a:p>
            <a:pPr indent="0" marL="0">
              <a:buNone/>
            </a:pPr>
            <a:r>
              <a:rPr lang="en-US" sz="1200" i="1" dirty="0">
                <a:solidFill>
                  <a:srgbClr val="6E7681"/>
                </a:solidFill>
                <a:latin typeface="Calibri" pitchFamily="34" charset="0"/>
                <a:ea typeface="Calibri" pitchFamily="34" charset="-122"/>
                <a:cs typeface="Calibri" pitchFamily="34" charset="-120"/>
              </a:rPr>
              <a:t>Una capacidad externa que el modelo no tiene:</a:t>
            </a:r>
            <a:endParaRPr lang="en-US" sz="1200" dirty="0"/>
          </a:p>
        </p:txBody>
      </p:sp>
      <p:sp>
        <p:nvSpPr>
          <p:cNvPr id="9" name="Text 7"/>
          <p:cNvSpPr/>
          <p:nvPr/>
        </p:nvSpPr>
        <p:spPr>
          <a:xfrm>
            <a:off x="777240" y="1965960"/>
            <a:ext cx="3566160" cy="128016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2A2E36"/>
                </a:solidFill>
                <a:latin typeface="Calibri" pitchFamily="34" charset="0"/>
                <a:ea typeface="Calibri" pitchFamily="34" charset="-122"/>
                <a:cs typeface="Calibri" pitchFamily="34" charset="-120"/>
              </a:rPr>
              <a:t>consultar un sistema</a:t>
            </a:r>
            <a:endParaRPr lang="en-US" sz="1350" dirty="0"/>
          </a:p>
          <a:p>
            <a:pPr marL="342900" indent="-342900">
              <a:spcAft>
                <a:spcPts val="600"/>
              </a:spcAft>
              <a:buSzPct val="100000"/>
              <a:buChar char="•"/>
            </a:pPr>
            <a:r>
              <a:rPr lang="en-US" sz="1350" dirty="0">
                <a:solidFill>
                  <a:srgbClr val="2A2E36"/>
                </a:solidFill>
                <a:latin typeface="Calibri" pitchFamily="34" charset="0"/>
                <a:ea typeface="Calibri" pitchFamily="34" charset="-122"/>
                <a:cs typeface="Calibri" pitchFamily="34" charset="-120"/>
              </a:rPr>
              <a:t>ejecutar código</a:t>
            </a:r>
            <a:endParaRPr lang="en-US" sz="1350" dirty="0"/>
          </a:p>
          <a:p>
            <a:pPr marL="342900" indent="-342900">
              <a:spcAft>
                <a:spcPts val="600"/>
              </a:spcAft>
              <a:buSzPct val="100000"/>
              <a:buChar char="•"/>
            </a:pPr>
            <a:r>
              <a:rPr lang="en-US" sz="1350" dirty="0">
                <a:solidFill>
                  <a:srgbClr val="2A2E36"/>
                </a:solidFill>
                <a:latin typeface="Calibri" pitchFamily="34" charset="0"/>
                <a:ea typeface="Calibri" pitchFamily="34" charset="-122"/>
                <a:cs typeface="Calibri" pitchFamily="34" charset="-120"/>
              </a:rPr>
              <a:t>acceder a un recurso</a:t>
            </a:r>
            <a:endParaRPr lang="en-US" sz="1350" dirty="0"/>
          </a:p>
          <a:p>
            <a:pPr marL="342900" indent="-342900">
              <a:spcAft>
                <a:spcPts val="600"/>
              </a:spcAft>
              <a:buSzPct val="100000"/>
              <a:buChar char="•"/>
            </a:pPr>
            <a:r>
              <a:rPr lang="en-US" sz="1350" dirty="0">
                <a:solidFill>
                  <a:srgbClr val="2A2E36"/>
                </a:solidFill>
                <a:latin typeface="Calibri" pitchFamily="34" charset="0"/>
                <a:ea typeface="Calibri" pitchFamily="34" charset="-122"/>
                <a:cs typeface="Calibri" pitchFamily="34" charset="-120"/>
              </a:rPr>
              <a:t>cambiar estado persistente</a:t>
            </a:r>
            <a:endParaRPr lang="en-US" sz="1350" dirty="0"/>
          </a:p>
        </p:txBody>
      </p:sp>
      <p:sp>
        <p:nvSpPr>
          <p:cNvPr id="10" name="Shape 8"/>
          <p:cNvSpPr/>
          <p:nvPr/>
        </p:nvSpPr>
        <p:spPr>
          <a:xfrm>
            <a:off x="4663440" y="1188720"/>
            <a:ext cx="3977640" cy="2194560"/>
          </a:xfrm>
          <a:prstGeom prst="rect">
            <a:avLst/>
          </a:prstGeom>
          <a:solidFill>
            <a:srgbClr val="F1F2F4"/>
          </a:solidFill>
          <a:ln/>
        </p:spPr>
      </p:sp>
      <p:sp>
        <p:nvSpPr>
          <p:cNvPr id="11" name="Shape 9"/>
          <p:cNvSpPr/>
          <p:nvPr/>
        </p:nvSpPr>
        <p:spPr>
          <a:xfrm>
            <a:off x="4663440" y="1188720"/>
            <a:ext cx="3977640" cy="384048"/>
          </a:xfrm>
          <a:prstGeom prst="rect">
            <a:avLst/>
          </a:prstGeom>
          <a:solidFill>
            <a:srgbClr val="A4232B"/>
          </a:solidFill>
          <a:ln/>
        </p:spPr>
      </p:sp>
      <p:sp>
        <p:nvSpPr>
          <p:cNvPr id="12" name="Text 10"/>
          <p:cNvSpPr/>
          <p:nvPr/>
        </p:nvSpPr>
        <p:spPr>
          <a:xfrm>
            <a:off x="4809744" y="1188720"/>
            <a:ext cx="3657600" cy="384048"/>
          </a:xfrm>
          <a:prstGeom prst="rect">
            <a:avLst/>
          </a:prstGeom>
          <a:noFill/>
          <a:ln/>
        </p:spPr>
        <p:txBody>
          <a:bodyPr wrap="square" lIns="0" tIns="0" rIns="0" bIns="0" rtlCol="0" anchor="ctr"/>
          <a:lstStyle/>
          <a:p>
            <a:pPr indent="0" marL="0">
              <a:buNone/>
            </a:pPr>
            <a:r>
              <a:rPr lang="en-US" sz="1200" b="1" spc="150" kern="0" dirty="0">
                <a:solidFill>
                  <a:srgbClr val="FFFFFF"/>
                </a:solidFill>
                <a:latin typeface="Arial" pitchFamily="34" charset="0"/>
                <a:ea typeface="Arial" pitchFamily="34" charset="-122"/>
                <a:cs typeface="Arial" pitchFamily="34" charset="-120"/>
              </a:rPr>
              <a:t>NO ES UNA TOOL</a:t>
            </a:r>
            <a:endParaRPr lang="en-US" sz="1200" dirty="0"/>
          </a:p>
        </p:txBody>
      </p:sp>
      <p:sp>
        <p:nvSpPr>
          <p:cNvPr id="13" name="Text 11"/>
          <p:cNvSpPr/>
          <p:nvPr/>
        </p:nvSpPr>
        <p:spPr>
          <a:xfrm>
            <a:off x="4809744" y="1664208"/>
            <a:ext cx="3685032" cy="237744"/>
          </a:xfrm>
          <a:prstGeom prst="rect">
            <a:avLst/>
          </a:prstGeom>
          <a:noFill/>
          <a:ln/>
        </p:spPr>
        <p:txBody>
          <a:bodyPr wrap="square" lIns="0" tIns="0" rIns="0" bIns="0" rtlCol="0" anchor="ctr"/>
          <a:lstStyle/>
          <a:p>
            <a:pPr indent="0" marL="0">
              <a:buNone/>
            </a:pPr>
            <a:r>
              <a:rPr lang="en-US" sz="1200" i="1" dirty="0">
                <a:solidFill>
                  <a:srgbClr val="6E7681"/>
                </a:solidFill>
                <a:latin typeface="Calibri" pitchFamily="34" charset="0"/>
                <a:ea typeface="Calibri" pitchFamily="34" charset="-122"/>
                <a:cs typeface="Calibri" pitchFamily="34" charset="-120"/>
              </a:rPr>
              <a:t>Algo que el modelo ya hace solo:</a:t>
            </a:r>
            <a:endParaRPr lang="en-US" sz="1200" dirty="0"/>
          </a:p>
        </p:txBody>
      </p:sp>
      <p:sp>
        <p:nvSpPr>
          <p:cNvPr id="14" name="Text 12"/>
          <p:cNvSpPr/>
          <p:nvPr/>
        </p:nvSpPr>
        <p:spPr>
          <a:xfrm>
            <a:off x="4937760" y="1965960"/>
            <a:ext cx="3566160" cy="128016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2A2E36"/>
                </a:solidFill>
                <a:latin typeface="Calibri" pitchFamily="34" charset="0"/>
                <a:ea typeface="Calibri" pitchFamily="34" charset="-122"/>
                <a:cs typeface="Calibri" pitchFamily="34" charset="-120"/>
              </a:rPr>
              <a:t>“pensá referencias”</a:t>
            </a:r>
            <a:endParaRPr lang="en-US" sz="1350" dirty="0"/>
          </a:p>
          <a:p>
            <a:pPr marL="342900" indent="-342900">
              <a:spcAft>
                <a:spcPts val="600"/>
              </a:spcAft>
              <a:buSzPct val="100000"/>
              <a:buChar char="•"/>
            </a:pPr>
            <a:r>
              <a:rPr lang="en-US" sz="1350" dirty="0">
                <a:solidFill>
                  <a:srgbClr val="2A2E36"/>
                </a:solidFill>
                <a:latin typeface="Calibri" pitchFamily="34" charset="0"/>
                <a:ea typeface="Calibri" pitchFamily="34" charset="-122"/>
                <a:cs typeface="Calibri" pitchFamily="34" charset="-120"/>
              </a:rPr>
              <a:t>“inspeccioná conceptualmente”</a:t>
            </a:r>
            <a:endParaRPr lang="en-US" sz="1350" dirty="0"/>
          </a:p>
          <a:p>
            <a:pPr marL="342900" indent="-342900">
              <a:spcAft>
                <a:spcPts val="600"/>
              </a:spcAft>
              <a:buSzPct val="100000"/>
              <a:buChar char="•"/>
            </a:pPr>
            <a:r>
              <a:rPr lang="en-US" sz="1350" dirty="0">
                <a:solidFill>
                  <a:srgbClr val="2A2E36"/>
                </a:solidFill>
                <a:latin typeface="Calibri" pitchFamily="34" charset="0"/>
                <a:ea typeface="Calibri" pitchFamily="34" charset="-122"/>
                <a:cs typeface="Calibri" pitchFamily="34" charset="-120"/>
              </a:rPr>
              <a:t>“decidí cómo componer”</a:t>
            </a:r>
            <a:endParaRPr lang="en-US" sz="1350" dirty="0"/>
          </a:p>
          <a:p>
            <a:pPr marL="342900" indent="-342900">
              <a:spcAft>
                <a:spcPts val="600"/>
              </a:spcAft>
              <a:buSzPct val="100000"/>
              <a:buChar char="•"/>
            </a:pPr>
            <a:r>
              <a:rPr lang="en-US" sz="1350" dirty="0">
                <a:solidFill>
                  <a:srgbClr val="2A2E36"/>
                </a:solidFill>
                <a:latin typeface="Calibri" pitchFamily="34" charset="0"/>
                <a:ea typeface="Calibri" pitchFamily="34" charset="-122"/>
                <a:cs typeface="Calibri" pitchFamily="34" charset="-120"/>
              </a:rPr>
              <a:t>eso va en el prompt, no en una tool</a:t>
            </a:r>
            <a:endParaRPr lang="en-US" sz="1350" dirty="0"/>
          </a:p>
        </p:txBody>
      </p:sp>
      <p:sp>
        <p:nvSpPr>
          <p:cNvPr id="15" name="Shape 13"/>
          <p:cNvSpPr/>
          <p:nvPr/>
        </p:nvSpPr>
        <p:spPr>
          <a:xfrm>
            <a:off x="502920" y="3657600"/>
            <a:ext cx="64008" cy="502920"/>
          </a:xfrm>
          <a:prstGeom prst="rect">
            <a:avLst/>
          </a:prstGeom>
          <a:solidFill>
            <a:srgbClr val="E4572E"/>
          </a:solidFill>
          <a:ln/>
        </p:spPr>
      </p:sp>
      <p:sp>
        <p:nvSpPr>
          <p:cNvPr id="16" name="Text 14"/>
          <p:cNvSpPr/>
          <p:nvPr/>
        </p:nvSpPr>
        <p:spPr>
          <a:xfrm>
            <a:off x="704088" y="3657600"/>
            <a:ext cx="7936992" cy="502920"/>
          </a:xfrm>
          <a:prstGeom prst="rect">
            <a:avLst/>
          </a:prstGeom>
          <a:noFill/>
          <a:ln/>
        </p:spPr>
        <p:txBody>
          <a:bodyPr wrap="square" lIns="0" tIns="0" rIns="0" bIns="0" rtlCol="0" anchor="ctr"/>
          <a:lstStyle/>
          <a:p>
            <a:pPr indent="0" marL="0">
              <a:buNone/>
            </a:pPr>
            <a:r>
              <a:rPr lang="en-US" sz="1400" b="1" dirty="0">
                <a:solidFill>
                  <a:srgbClr val="16191F"/>
                </a:solidFill>
                <a:latin typeface="Calibri" pitchFamily="34" charset="0"/>
                <a:ea typeface="Calibri" pitchFamily="34" charset="-122"/>
                <a:cs typeface="Calibri" pitchFamily="34" charset="-120"/>
              </a:rPr>
              <a:t>La pregunta única: ¿el agente necesita una capacidad externa, o puede producir y decidir el contenido por sí mismo?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 name="Text 2"/>
          <p:cNvSpPr/>
          <p:nvPr/>
        </p:nvSpPr>
        <p:spPr>
          <a:xfrm>
            <a:off x="978408" y="329184"/>
            <a:ext cx="7662672" cy="420624"/>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Anatomía de una llamada a una tool</a:t>
            </a:r>
            <a:endParaRPr lang="en-US" sz="2700" dirty="0"/>
          </a:p>
        </p:txBody>
      </p:sp>
      <p:sp>
        <p:nvSpPr>
          <p:cNvPr id="5" name="Text 3"/>
          <p:cNvSpPr/>
          <p:nvPr/>
        </p:nvSpPr>
        <p:spPr>
          <a:xfrm>
            <a:off x="978408" y="786384"/>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Cada paso deja algo en el contexto del modelo</a:t>
            </a:r>
            <a:endParaRPr lang="en-US" sz="1300" dirty="0"/>
          </a:p>
        </p:txBody>
      </p:sp>
      <p:sp>
        <p:nvSpPr>
          <p:cNvPr id="6" name="Shape 4"/>
          <p:cNvSpPr/>
          <p:nvPr/>
        </p:nvSpPr>
        <p:spPr>
          <a:xfrm>
            <a:off x="502920" y="1325880"/>
            <a:ext cx="1783080" cy="1097280"/>
          </a:xfrm>
          <a:prstGeom prst="rect">
            <a:avLst/>
          </a:prstGeom>
          <a:solidFill>
            <a:srgbClr val="F1F2F4"/>
          </a:solidFill>
          <a:ln/>
        </p:spPr>
      </p:sp>
      <p:sp>
        <p:nvSpPr>
          <p:cNvPr id="7" name="Text 5"/>
          <p:cNvSpPr/>
          <p:nvPr/>
        </p:nvSpPr>
        <p:spPr>
          <a:xfrm>
            <a:off x="612648" y="1435608"/>
            <a:ext cx="1563624" cy="274320"/>
          </a:xfrm>
          <a:prstGeom prst="rect">
            <a:avLst/>
          </a:prstGeom>
          <a:noFill/>
          <a:ln/>
        </p:spPr>
        <p:txBody>
          <a:bodyPr wrap="square" lIns="0" tIns="0" rIns="0" bIns="0" rtlCol="0" anchor="ctr"/>
          <a:lstStyle/>
          <a:p>
            <a:pPr indent="0" marL="0">
              <a:buNone/>
            </a:pPr>
            <a:r>
              <a:rPr lang="en-US" sz="1100" b="1" spc="100" kern="0" dirty="0">
                <a:solidFill>
                  <a:srgbClr val="16191F"/>
                </a:solidFill>
                <a:latin typeface="Arial" pitchFamily="34" charset="0"/>
                <a:ea typeface="Arial" pitchFamily="34" charset="-122"/>
                <a:cs typeface="Arial" pitchFamily="34" charset="-120"/>
              </a:rPr>
              <a:t>DEFINICIÓN</a:t>
            </a:r>
            <a:endParaRPr lang="en-US" sz="1100" dirty="0"/>
          </a:p>
        </p:txBody>
      </p:sp>
      <p:sp>
        <p:nvSpPr>
          <p:cNvPr id="8" name="Text 6"/>
          <p:cNvSpPr/>
          <p:nvPr/>
        </p:nvSpPr>
        <p:spPr>
          <a:xfrm>
            <a:off x="612648" y="1719072"/>
            <a:ext cx="1563624" cy="566928"/>
          </a:xfrm>
          <a:prstGeom prst="rect">
            <a:avLst/>
          </a:prstGeom>
          <a:noFill/>
          <a:ln/>
        </p:spPr>
        <p:txBody>
          <a:bodyPr wrap="square" lIns="0" tIns="0" rIns="0" bIns="0" rtlCol="0" anchor="t"/>
          <a:lstStyle/>
          <a:p>
            <a:pPr indent="0" marL="0">
              <a:lnSpc>
                <a:spcPts val="1400"/>
              </a:lnSpc>
              <a:buNone/>
            </a:pPr>
            <a:r>
              <a:rPr lang="en-US" sz="1200" dirty="0">
                <a:solidFill>
                  <a:srgbClr val="6E7681"/>
                </a:solidFill>
                <a:latin typeface="Calibri" pitchFamily="34" charset="0"/>
                <a:ea typeface="Calibri" pitchFamily="34" charset="-122"/>
                <a:cs typeface="Calibri" pitchFamily="34" charset="-120"/>
              </a:rPr>
              <a:t>el modelo elige</a:t>
            </a:r>
            <a:endParaRPr lang="en-US" sz="1200" dirty="0"/>
          </a:p>
          <a:p>
            <a:pPr indent="0" marL="0">
              <a:lnSpc>
                <a:spcPts val="1400"/>
              </a:lnSpc>
              <a:buNone/>
            </a:pPr>
            <a:r>
              <a:rPr lang="en-US" sz="1200" dirty="0">
                <a:solidFill>
                  <a:srgbClr val="6E7681"/>
                </a:solidFill>
                <a:latin typeface="Calibri" pitchFamily="34" charset="0"/>
                <a:ea typeface="Calibri" pitchFamily="34" charset="-122"/>
                <a:cs typeface="Calibri" pitchFamily="34" charset="-120"/>
              </a:rPr>
              <a:t>qué tool usar</a:t>
            </a:r>
            <a:endParaRPr lang="en-US" sz="1200" dirty="0"/>
          </a:p>
        </p:txBody>
      </p:sp>
      <p:sp>
        <p:nvSpPr>
          <p:cNvPr id="9" name="Text 7"/>
          <p:cNvSpPr/>
          <p:nvPr/>
        </p:nvSpPr>
        <p:spPr>
          <a:xfrm>
            <a:off x="2286000" y="1325880"/>
            <a:ext cx="384048" cy="1097280"/>
          </a:xfrm>
          <a:prstGeom prst="rect">
            <a:avLst/>
          </a:prstGeom>
          <a:noFill/>
          <a:ln/>
        </p:spPr>
        <p:txBody>
          <a:bodyPr wrap="square" lIns="0" tIns="0" rIns="0" bIns="0" rtlCol="0" anchor="ctr"/>
          <a:lstStyle/>
          <a:p>
            <a:pPr algn="ctr" indent="0" marL="0">
              <a:buNone/>
            </a:pPr>
            <a:r>
              <a:rPr lang="en-US" sz="1600" dirty="0">
                <a:solidFill>
                  <a:srgbClr val="E4572E"/>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70048" y="1325880"/>
            <a:ext cx="1783080" cy="1097280"/>
          </a:xfrm>
          <a:prstGeom prst="rect">
            <a:avLst/>
          </a:prstGeom>
          <a:solidFill>
            <a:srgbClr val="F1F2F4"/>
          </a:solidFill>
          <a:ln/>
        </p:spPr>
      </p:sp>
      <p:sp>
        <p:nvSpPr>
          <p:cNvPr id="11" name="Text 9"/>
          <p:cNvSpPr/>
          <p:nvPr/>
        </p:nvSpPr>
        <p:spPr>
          <a:xfrm>
            <a:off x="2779776" y="1435608"/>
            <a:ext cx="1563624" cy="274320"/>
          </a:xfrm>
          <a:prstGeom prst="rect">
            <a:avLst/>
          </a:prstGeom>
          <a:noFill/>
          <a:ln/>
        </p:spPr>
        <p:txBody>
          <a:bodyPr wrap="square" lIns="0" tIns="0" rIns="0" bIns="0" rtlCol="0" anchor="ctr"/>
          <a:lstStyle/>
          <a:p>
            <a:pPr indent="0" marL="0">
              <a:buNone/>
            </a:pPr>
            <a:r>
              <a:rPr lang="en-US" sz="1100" b="1" spc="100" kern="0" dirty="0">
                <a:solidFill>
                  <a:srgbClr val="16191F"/>
                </a:solidFill>
                <a:latin typeface="Arial" pitchFamily="34" charset="0"/>
                <a:ea typeface="Arial" pitchFamily="34" charset="-122"/>
                <a:cs typeface="Arial" pitchFamily="34" charset="-120"/>
              </a:rPr>
              <a:t>INPUT</a:t>
            </a:r>
            <a:endParaRPr lang="en-US" sz="1100" dirty="0"/>
          </a:p>
        </p:txBody>
      </p:sp>
      <p:sp>
        <p:nvSpPr>
          <p:cNvPr id="12" name="Text 10"/>
          <p:cNvSpPr/>
          <p:nvPr/>
        </p:nvSpPr>
        <p:spPr>
          <a:xfrm>
            <a:off x="2779776" y="1719072"/>
            <a:ext cx="1563624" cy="566928"/>
          </a:xfrm>
          <a:prstGeom prst="rect">
            <a:avLst/>
          </a:prstGeom>
          <a:noFill/>
          <a:ln/>
        </p:spPr>
        <p:txBody>
          <a:bodyPr wrap="square" lIns="0" tIns="0" rIns="0" bIns="0" rtlCol="0" anchor="t"/>
          <a:lstStyle/>
          <a:p>
            <a:pPr indent="0" marL="0">
              <a:lnSpc>
                <a:spcPts val="1400"/>
              </a:lnSpc>
              <a:buNone/>
            </a:pPr>
            <a:r>
              <a:rPr lang="en-US" sz="1200" dirty="0">
                <a:solidFill>
                  <a:srgbClr val="6E7681"/>
                </a:solidFill>
                <a:latin typeface="Calibri" pitchFamily="34" charset="0"/>
                <a:ea typeface="Calibri" pitchFamily="34" charset="-122"/>
                <a:cs typeface="Calibri" pitchFamily="34" charset="-120"/>
              </a:rPr>
              <a:t>arma la llamada</a:t>
            </a:r>
            <a:endParaRPr lang="en-US" sz="1200" dirty="0"/>
          </a:p>
          <a:p>
            <a:pPr indent="0" marL="0">
              <a:lnSpc>
                <a:spcPts val="1400"/>
              </a:lnSpc>
              <a:buNone/>
            </a:pPr>
            <a:r>
              <a:rPr lang="en-US" sz="1200" dirty="0">
                <a:solidFill>
                  <a:srgbClr val="6E7681"/>
                </a:solidFill>
                <a:latin typeface="Calibri" pitchFamily="34" charset="0"/>
                <a:ea typeface="Calibri" pitchFamily="34" charset="-122"/>
                <a:cs typeface="Calibri" pitchFamily="34" charset="-120"/>
              </a:rPr>
              <a:t>con su intención</a:t>
            </a:r>
            <a:endParaRPr lang="en-US" sz="1200" dirty="0"/>
          </a:p>
        </p:txBody>
      </p:sp>
      <p:sp>
        <p:nvSpPr>
          <p:cNvPr id="13" name="Text 11"/>
          <p:cNvSpPr/>
          <p:nvPr/>
        </p:nvSpPr>
        <p:spPr>
          <a:xfrm>
            <a:off x="4453128" y="1325880"/>
            <a:ext cx="384048" cy="1097280"/>
          </a:xfrm>
          <a:prstGeom prst="rect">
            <a:avLst/>
          </a:prstGeom>
          <a:noFill/>
          <a:ln/>
        </p:spPr>
        <p:txBody>
          <a:bodyPr wrap="square" lIns="0" tIns="0" rIns="0" bIns="0" rtlCol="0" anchor="ctr"/>
          <a:lstStyle/>
          <a:p>
            <a:pPr algn="ctr" indent="0" marL="0">
              <a:buNone/>
            </a:pPr>
            <a:r>
              <a:rPr lang="en-US" sz="1600" dirty="0">
                <a:solidFill>
                  <a:srgbClr val="E4572E"/>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837176" y="1325880"/>
            <a:ext cx="1783080" cy="1097280"/>
          </a:xfrm>
          <a:prstGeom prst="rect">
            <a:avLst/>
          </a:prstGeom>
          <a:solidFill>
            <a:srgbClr val="F1F2F4"/>
          </a:solidFill>
          <a:ln/>
        </p:spPr>
      </p:sp>
      <p:sp>
        <p:nvSpPr>
          <p:cNvPr id="15" name="Text 13"/>
          <p:cNvSpPr/>
          <p:nvPr/>
        </p:nvSpPr>
        <p:spPr>
          <a:xfrm>
            <a:off x="4946904" y="1435608"/>
            <a:ext cx="1563624" cy="274320"/>
          </a:xfrm>
          <a:prstGeom prst="rect">
            <a:avLst/>
          </a:prstGeom>
          <a:noFill/>
          <a:ln/>
        </p:spPr>
        <p:txBody>
          <a:bodyPr wrap="square" lIns="0" tIns="0" rIns="0" bIns="0" rtlCol="0" anchor="ctr"/>
          <a:lstStyle/>
          <a:p>
            <a:pPr indent="0" marL="0">
              <a:buNone/>
            </a:pPr>
            <a:r>
              <a:rPr lang="en-US" sz="1100" b="1" spc="100" kern="0" dirty="0">
                <a:solidFill>
                  <a:srgbClr val="E4572E"/>
                </a:solidFill>
                <a:latin typeface="Arial" pitchFamily="34" charset="0"/>
                <a:ea typeface="Arial" pitchFamily="34" charset="-122"/>
                <a:cs typeface="Arial" pitchFamily="34" charset="-120"/>
              </a:rPr>
              <a:t>RETORNO</a:t>
            </a:r>
            <a:endParaRPr lang="en-US" sz="1100" dirty="0"/>
          </a:p>
        </p:txBody>
      </p:sp>
      <p:sp>
        <p:nvSpPr>
          <p:cNvPr id="16" name="Text 14"/>
          <p:cNvSpPr/>
          <p:nvPr/>
        </p:nvSpPr>
        <p:spPr>
          <a:xfrm>
            <a:off x="4946904" y="1719072"/>
            <a:ext cx="1563624" cy="566928"/>
          </a:xfrm>
          <a:prstGeom prst="rect">
            <a:avLst/>
          </a:prstGeom>
          <a:noFill/>
          <a:ln/>
        </p:spPr>
        <p:txBody>
          <a:bodyPr wrap="square" lIns="0" tIns="0" rIns="0" bIns="0" rtlCol="0" anchor="t"/>
          <a:lstStyle/>
          <a:p>
            <a:pPr indent="0" marL="0">
              <a:lnSpc>
                <a:spcPts val="1400"/>
              </a:lnSpc>
              <a:buNone/>
            </a:pPr>
            <a:r>
              <a:rPr lang="en-US" sz="1200" dirty="0">
                <a:solidFill>
                  <a:srgbClr val="6E7681"/>
                </a:solidFill>
                <a:latin typeface="Calibri" pitchFamily="34" charset="0"/>
                <a:ea typeface="Calibri" pitchFamily="34" charset="-122"/>
                <a:cs typeface="Calibri" pitchFamily="34" charset="-120"/>
              </a:rPr>
              <a:t>vuelve al contexto</a:t>
            </a:r>
            <a:endParaRPr lang="en-US" sz="1200" dirty="0"/>
          </a:p>
          <a:p>
            <a:pPr indent="0" marL="0">
              <a:lnSpc>
                <a:spcPts val="1400"/>
              </a:lnSpc>
              <a:buNone/>
            </a:pPr>
            <a:r>
              <a:rPr lang="en-US" sz="1200" dirty="0">
                <a:solidFill>
                  <a:srgbClr val="6E7681"/>
                </a:solidFill>
                <a:latin typeface="Calibri" pitchFamily="34" charset="0"/>
                <a:ea typeface="Calibri" pitchFamily="34" charset="-122"/>
                <a:cs typeface="Calibri" pitchFamily="34" charset="-120"/>
              </a:rPr>
              <a:t>como estado</a:t>
            </a:r>
            <a:endParaRPr lang="en-US" sz="1200" dirty="0"/>
          </a:p>
        </p:txBody>
      </p:sp>
      <p:sp>
        <p:nvSpPr>
          <p:cNvPr id="17" name="Text 15"/>
          <p:cNvSpPr/>
          <p:nvPr/>
        </p:nvSpPr>
        <p:spPr>
          <a:xfrm>
            <a:off x="6620256" y="1325880"/>
            <a:ext cx="384048" cy="1097280"/>
          </a:xfrm>
          <a:prstGeom prst="rect">
            <a:avLst/>
          </a:prstGeom>
          <a:noFill/>
          <a:ln/>
        </p:spPr>
        <p:txBody>
          <a:bodyPr wrap="square" lIns="0" tIns="0" rIns="0" bIns="0" rtlCol="0" anchor="ctr"/>
          <a:lstStyle/>
          <a:p>
            <a:pPr algn="ctr" indent="0" marL="0">
              <a:buNone/>
            </a:pPr>
            <a:r>
              <a:rPr lang="en-US" sz="1600" dirty="0">
                <a:solidFill>
                  <a:srgbClr val="E4572E"/>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7004304" y="1325880"/>
            <a:ext cx="1783080" cy="1097280"/>
          </a:xfrm>
          <a:prstGeom prst="rect">
            <a:avLst/>
          </a:prstGeom>
          <a:solidFill>
            <a:srgbClr val="F1F2F4"/>
          </a:solidFill>
          <a:ln/>
        </p:spPr>
      </p:sp>
      <p:sp>
        <p:nvSpPr>
          <p:cNvPr id="19" name="Text 17"/>
          <p:cNvSpPr/>
          <p:nvPr/>
        </p:nvSpPr>
        <p:spPr>
          <a:xfrm>
            <a:off x="7114032" y="1435608"/>
            <a:ext cx="1563624" cy="274320"/>
          </a:xfrm>
          <a:prstGeom prst="rect">
            <a:avLst/>
          </a:prstGeom>
          <a:noFill/>
          <a:ln/>
        </p:spPr>
        <p:txBody>
          <a:bodyPr wrap="square" lIns="0" tIns="0" rIns="0" bIns="0" rtlCol="0" anchor="ctr"/>
          <a:lstStyle/>
          <a:p>
            <a:pPr indent="0" marL="0">
              <a:buNone/>
            </a:pPr>
            <a:r>
              <a:rPr lang="en-US" sz="1100" b="1" spc="100" kern="0" dirty="0">
                <a:solidFill>
                  <a:srgbClr val="16191F"/>
                </a:solidFill>
                <a:latin typeface="Arial" pitchFamily="34" charset="0"/>
                <a:ea typeface="Arial" pitchFamily="34" charset="-122"/>
                <a:cs typeface="Arial" pitchFamily="34" charset="-120"/>
              </a:rPr>
              <a:t>PRÓXIMO PASO</a:t>
            </a:r>
            <a:endParaRPr lang="en-US" sz="1100" dirty="0"/>
          </a:p>
        </p:txBody>
      </p:sp>
      <p:sp>
        <p:nvSpPr>
          <p:cNvPr id="20" name="Text 18"/>
          <p:cNvSpPr/>
          <p:nvPr/>
        </p:nvSpPr>
        <p:spPr>
          <a:xfrm>
            <a:off x="7114032" y="1719072"/>
            <a:ext cx="1563624" cy="566928"/>
          </a:xfrm>
          <a:prstGeom prst="rect">
            <a:avLst/>
          </a:prstGeom>
          <a:noFill/>
          <a:ln/>
        </p:spPr>
        <p:txBody>
          <a:bodyPr wrap="square" lIns="0" tIns="0" rIns="0" bIns="0" rtlCol="0" anchor="t"/>
          <a:lstStyle/>
          <a:p>
            <a:pPr indent="0" marL="0">
              <a:lnSpc>
                <a:spcPts val="1400"/>
              </a:lnSpc>
              <a:buNone/>
            </a:pPr>
            <a:r>
              <a:rPr lang="en-US" sz="1200" dirty="0">
                <a:solidFill>
                  <a:srgbClr val="6E7681"/>
                </a:solidFill>
                <a:latin typeface="Calibri" pitchFamily="34" charset="0"/>
                <a:ea typeface="Calibri" pitchFamily="34" charset="-122"/>
                <a:cs typeface="Calibri" pitchFamily="34" charset="-120"/>
              </a:rPr>
              <a:t>con eso decide</a:t>
            </a:r>
            <a:endParaRPr lang="en-US" sz="1200" dirty="0"/>
          </a:p>
          <a:p>
            <a:pPr indent="0" marL="0">
              <a:lnSpc>
                <a:spcPts val="1400"/>
              </a:lnSpc>
              <a:buNone/>
            </a:pPr>
            <a:r>
              <a:rPr lang="en-US" sz="1200" dirty="0">
                <a:solidFill>
                  <a:srgbClr val="6E7681"/>
                </a:solidFill>
                <a:latin typeface="Calibri" pitchFamily="34" charset="0"/>
                <a:ea typeface="Calibri" pitchFamily="34" charset="-122"/>
                <a:cs typeface="Calibri" pitchFamily="34" charset="-120"/>
              </a:rPr>
              <a:t>cómo sigue</a:t>
            </a:r>
            <a:endParaRPr lang="en-US" sz="1200" dirty="0"/>
          </a:p>
        </p:txBody>
      </p:sp>
      <p:sp>
        <p:nvSpPr>
          <p:cNvPr id="21" name="Text 19"/>
          <p:cNvSpPr/>
          <p:nvPr/>
        </p:nvSpPr>
        <p:spPr>
          <a:xfrm>
            <a:off x="502920" y="2697480"/>
            <a:ext cx="3977640" cy="256032"/>
          </a:xfrm>
          <a:prstGeom prst="rect">
            <a:avLst/>
          </a:prstGeom>
          <a:noFill/>
          <a:ln/>
        </p:spPr>
        <p:txBody>
          <a:bodyPr wrap="square" lIns="0" tIns="0" rIns="0" bIns="0" rtlCol="0" anchor="ctr"/>
          <a:lstStyle/>
          <a:p>
            <a:pPr indent="0" marL="0">
              <a:buNone/>
            </a:pPr>
            <a:r>
              <a:rPr lang="en-US" sz="1300" b="1" dirty="0">
                <a:solidFill>
                  <a:srgbClr val="16191F"/>
                </a:solidFill>
                <a:latin typeface="Courier New" pitchFamily="34" charset="0"/>
                <a:ea typeface="Courier New" pitchFamily="34" charset="-122"/>
                <a:cs typeface="Courier New" pitchFamily="34" charset="-120"/>
              </a:rPr>
              <a:t>search_web</a:t>
            </a:r>
            <a:endParaRPr lang="en-US" sz="1300" dirty="0"/>
          </a:p>
        </p:txBody>
      </p:sp>
      <p:sp>
        <p:nvSpPr>
          <p:cNvPr id="22" name="Shape 20"/>
          <p:cNvSpPr/>
          <p:nvPr/>
        </p:nvSpPr>
        <p:spPr>
          <a:xfrm>
            <a:off x="502920" y="2999232"/>
            <a:ext cx="3977640" cy="868680"/>
          </a:xfrm>
          <a:prstGeom prst="rect">
            <a:avLst/>
          </a:prstGeom>
          <a:solidFill>
            <a:srgbClr val="F1F2F4"/>
          </a:solidFill>
          <a:ln/>
        </p:spPr>
      </p:sp>
      <p:sp>
        <p:nvSpPr>
          <p:cNvPr id="23" name="Text 21"/>
          <p:cNvSpPr/>
          <p:nvPr/>
        </p:nvSpPr>
        <p:spPr>
          <a:xfrm>
            <a:off x="630936" y="3099816"/>
            <a:ext cx="3721608" cy="667512"/>
          </a:xfrm>
          <a:prstGeom prst="rect">
            <a:avLst/>
          </a:prstGeom>
          <a:noFill/>
          <a:ln/>
        </p:spPr>
        <p:txBody>
          <a:bodyPr wrap="square" lIns="0" tIns="0" rIns="0" bIns="0" rtlCol="0" anchor="t"/>
          <a:lstStyle/>
          <a:p>
            <a:pPr indent="0" marL="0">
              <a:lnSpc>
                <a:spcPts val="1300"/>
              </a:lnSpc>
              <a:buNone/>
            </a:pPr>
            <a:r>
              <a:rPr lang="en-US" sz="950" dirty="0">
                <a:solidFill>
                  <a:srgbClr val="2A2E36"/>
                </a:solidFill>
                <a:latin typeface="Courier New" pitchFamily="34" charset="0"/>
                <a:ea typeface="Courier New" pitchFamily="34" charset="-122"/>
                <a:cs typeface="Courier New" pitchFamily="34" charset="-120"/>
              </a:rPr>
              <a:t>“Buscá en la web qué recomienda</a:t>
            </a:r>
            <a:endParaRPr lang="en-US" sz="950" dirty="0"/>
          </a:p>
          <a:p>
            <a:pPr indent="0" marL="0">
              <a:lnSpc>
                <a:spcPts val="1300"/>
              </a:lnSpc>
              <a:buNone/>
            </a:pPr>
            <a:r>
              <a:rPr lang="en-US" sz="950" dirty="0">
                <a:solidFill>
                  <a:srgbClr val="2A2E36"/>
                </a:solidFill>
                <a:latin typeface="Courier New" pitchFamily="34" charset="0"/>
                <a:ea typeface="Courier New" pitchFamily="34" charset="-122"/>
                <a:cs typeface="Courier New" pitchFamily="34" charset="-120"/>
              </a:rPr>
              <a:t>Anthropic para diseñar tools</a:t>
            </a:r>
            <a:endParaRPr lang="en-US" sz="950" dirty="0"/>
          </a:p>
          <a:p>
            <a:pPr indent="0" marL="0">
              <a:lnSpc>
                <a:spcPts val="1300"/>
              </a:lnSpc>
              <a:buNone/>
            </a:pPr>
            <a:r>
              <a:rPr lang="en-US" sz="950" dirty="0">
                <a:solidFill>
                  <a:srgbClr val="2A2E36"/>
                </a:solidFill>
                <a:latin typeface="Courier New" pitchFamily="34" charset="0"/>
                <a:ea typeface="Courier New" pitchFamily="34" charset="-122"/>
                <a:cs typeface="Courier New" pitchFamily="34" charset="-120"/>
              </a:rPr>
              <a:t>confiables. Citá dos fuentes.”</a:t>
            </a:r>
            <a:endParaRPr lang="en-US" sz="950" dirty="0"/>
          </a:p>
        </p:txBody>
      </p:sp>
      <p:sp>
        <p:nvSpPr>
          <p:cNvPr id="24" name="Text 22"/>
          <p:cNvSpPr/>
          <p:nvPr/>
        </p:nvSpPr>
        <p:spPr>
          <a:xfrm>
            <a:off x="4663440" y="2697480"/>
            <a:ext cx="3977640" cy="256032"/>
          </a:xfrm>
          <a:prstGeom prst="rect">
            <a:avLst/>
          </a:prstGeom>
          <a:noFill/>
          <a:ln/>
        </p:spPr>
        <p:txBody>
          <a:bodyPr wrap="square" lIns="0" tIns="0" rIns="0" bIns="0" rtlCol="0" anchor="ctr"/>
          <a:lstStyle/>
          <a:p>
            <a:pPr indent="0" marL="0">
              <a:buNone/>
            </a:pPr>
            <a:r>
              <a:rPr lang="en-US" sz="1300" b="1" dirty="0">
                <a:solidFill>
                  <a:srgbClr val="16191F"/>
                </a:solidFill>
                <a:latin typeface="Courier New" pitchFamily="34" charset="0"/>
                <a:ea typeface="Courier New" pitchFamily="34" charset="-122"/>
                <a:cs typeface="Courier New" pitchFamily="34" charset="-120"/>
              </a:rPr>
              <a:t>notes</a:t>
            </a:r>
            <a:endParaRPr lang="en-US" sz="1300" dirty="0"/>
          </a:p>
        </p:txBody>
      </p:sp>
      <p:sp>
        <p:nvSpPr>
          <p:cNvPr id="25" name="Shape 23"/>
          <p:cNvSpPr/>
          <p:nvPr/>
        </p:nvSpPr>
        <p:spPr>
          <a:xfrm>
            <a:off x="4663440" y="2999232"/>
            <a:ext cx="3977640" cy="868680"/>
          </a:xfrm>
          <a:prstGeom prst="rect">
            <a:avLst/>
          </a:prstGeom>
          <a:solidFill>
            <a:srgbClr val="F1F2F4"/>
          </a:solidFill>
          <a:ln/>
        </p:spPr>
      </p:sp>
      <p:sp>
        <p:nvSpPr>
          <p:cNvPr id="26" name="Text 24"/>
          <p:cNvSpPr/>
          <p:nvPr/>
        </p:nvSpPr>
        <p:spPr>
          <a:xfrm>
            <a:off x="4791456" y="3099816"/>
            <a:ext cx="3721608" cy="667512"/>
          </a:xfrm>
          <a:prstGeom prst="rect">
            <a:avLst/>
          </a:prstGeom>
          <a:noFill/>
          <a:ln/>
        </p:spPr>
        <p:txBody>
          <a:bodyPr wrap="square" lIns="0" tIns="0" rIns="0" bIns="0" rtlCol="0" anchor="t"/>
          <a:lstStyle/>
          <a:p>
            <a:pPr indent="0" marL="0">
              <a:lnSpc>
                <a:spcPts val="1300"/>
              </a:lnSpc>
              <a:buNone/>
            </a:pPr>
            <a:r>
              <a:rPr lang="en-US" sz="950" dirty="0">
                <a:solidFill>
                  <a:srgbClr val="2A2E36"/>
                </a:solidFill>
                <a:latin typeface="Courier New" pitchFamily="34" charset="0"/>
                <a:ea typeface="Courier New" pitchFamily="34" charset="-122"/>
                <a:cs typeface="Courier New" pitchFamily="34" charset="-120"/>
              </a:rPr>
              <a:t>“Anotá: llevar un adaptador HDMI</a:t>
            </a:r>
            <a:endParaRPr lang="en-US" sz="950" dirty="0"/>
          </a:p>
          <a:p>
            <a:pPr indent="0" marL="0">
              <a:lnSpc>
                <a:spcPts val="1300"/>
              </a:lnSpc>
              <a:buNone/>
            </a:pPr>
            <a:r>
              <a:rPr lang="en-US" sz="950" dirty="0">
                <a:solidFill>
                  <a:srgbClr val="2A2E36"/>
                </a:solidFill>
                <a:latin typeface="Courier New" pitchFamily="34" charset="0"/>
                <a:ea typeface="Courier New" pitchFamily="34" charset="-122"/>
                <a:cs typeface="Courier New" pitchFamily="34" charset="-120"/>
              </a:rPr>
              <a:t>al workshop.”</a:t>
            </a:r>
            <a:endParaRPr lang="en-US" sz="950" dirty="0"/>
          </a:p>
          <a:p>
            <a:pPr indent="0" marL="0">
              <a:lnSpc>
                <a:spcPts val="1300"/>
              </a:lnSpc>
              <a:buNone/>
            </a:pPr>
            <a:r>
              <a:rPr lang="en-US" sz="950" dirty="0">
                <a:solidFill>
                  <a:srgbClr val="2A2E36"/>
                </a:solidFill>
                <a:latin typeface="Courier New" pitchFamily="34" charset="0"/>
                <a:ea typeface="Courier New" pitchFamily="34" charset="-122"/>
                <a:cs typeface="Courier New" pitchFamily="34" charset="-120"/>
              </a:rPr>
              <a:t>“¿Qué notas tengo sobre el workshop?”</a:t>
            </a:r>
            <a:endParaRPr lang="en-US" sz="950" dirty="0"/>
          </a:p>
        </p:txBody>
      </p:sp>
      <p:sp>
        <p:nvSpPr>
          <p:cNvPr id="27" name="Text 25"/>
          <p:cNvSpPr/>
          <p:nvPr/>
        </p:nvSpPr>
        <p:spPr>
          <a:xfrm>
            <a:off x="502920" y="4069080"/>
            <a:ext cx="8138160" cy="27432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Una sola tool notes con cuatro acciones: save · list · search · delete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4" name="Text 2"/>
          <p:cNvSpPr/>
          <p:nvPr/>
        </p:nvSpPr>
        <p:spPr>
          <a:xfrm>
            <a:off x="978408" y="329184"/>
            <a:ext cx="7662672" cy="420624"/>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El retorno del error</a:t>
            </a:r>
            <a:endParaRPr lang="en-US" sz="2700" dirty="0"/>
          </a:p>
        </p:txBody>
      </p:sp>
      <p:sp>
        <p:nvSpPr>
          <p:cNvPr id="5" name="Text 3"/>
          <p:cNvSpPr/>
          <p:nvPr/>
        </p:nvSpPr>
        <p:spPr>
          <a:xfrm>
            <a:off x="978408" y="786384"/>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Mismo modelo, mismo prompt, mismo schema, mismo estado, mismo pedido</a:t>
            </a:r>
            <a:endParaRPr lang="en-US" sz="1300" dirty="0"/>
          </a:p>
        </p:txBody>
      </p:sp>
      <p:sp>
        <p:nvSpPr>
          <p:cNvPr id="6" name="Shape 4"/>
          <p:cNvSpPr/>
          <p:nvPr/>
        </p:nvSpPr>
        <p:spPr>
          <a:xfrm>
            <a:off x="502920" y="1298448"/>
            <a:ext cx="8138160" cy="457200"/>
          </a:xfrm>
          <a:prstGeom prst="rect">
            <a:avLst/>
          </a:prstGeom>
          <a:solidFill>
            <a:srgbClr val="F1F2F4"/>
          </a:solidFill>
          <a:ln/>
        </p:spPr>
      </p:sp>
      <p:sp>
        <p:nvSpPr>
          <p:cNvPr id="7" name="Text 5"/>
          <p:cNvSpPr/>
          <p:nvPr/>
        </p:nvSpPr>
        <p:spPr>
          <a:xfrm>
            <a:off x="649224" y="1298448"/>
            <a:ext cx="7845552" cy="457200"/>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Escenario  </a:t>
            </a:r>
            <a:pPr indent="0" marL="0">
              <a:buNone/>
            </a:pPr>
            <a:r>
              <a:rPr lang="en-US" sz="1250" dirty="0">
                <a:solidFill>
                  <a:srgbClr val="2A2E36"/>
                </a:solidFill>
                <a:latin typeface="Calibri" pitchFamily="34" charset="0"/>
                <a:ea typeface="Calibri" pitchFamily="34" charset="-122"/>
                <a:cs typeface="Calibri" pitchFamily="34" charset="-120"/>
              </a:rPr>
              <a:t>existe la nota “Ensayo del workshop”  ·  el usuario pide borrarla con  </a:t>
            </a:r>
            <a:pPr indent="0" marL="0">
              <a:buNone/>
            </a:pPr>
            <a:r>
              <a:rPr lang="en-US" sz="1250" dirty="0">
                <a:solidFill>
                  <a:srgbClr val="E4572E"/>
                </a:solidFill>
                <a:latin typeface="Courier New" pitchFamily="34" charset="0"/>
                <a:ea typeface="Courier New" pitchFamily="34" charset="-122"/>
                <a:cs typeface="Courier New" pitchFamily="34" charset="-120"/>
              </a:rPr>
              <a:t>n-demo-viejo</a:t>
            </a:r>
            <a:pPr indent="0" marL="0">
              <a:buNone/>
            </a:pPr>
            <a:r>
              <a:rPr lang="en-US" sz="1250" dirty="0">
                <a:solidFill>
                  <a:srgbClr val="2A2E36"/>
                </a:solidFill>
                <a:latin typeface="Calibri" pitchFamily="34" charset="0"/>
                <a:ea typeface="Calibri" pitchFamily="34" charset="-122"/>
                <a:cs typeface="Calibri" pitchFamily="34" charset="-120"/>
              </a:rPr>
              <a:t>  ·  ese id venció</a:t>
            </a:r>
            <a:endParaRPr lang="en-US" sz="1250" dirty="0"/>
          </a:p>
        </p:txBody>
      </p:sp>
      <p:sp>
        <p:nvSpPr>
          <p:cNvPr id="8" name="Text 6"/>
          <p:cNvSpPr/>
          <p:nvPr/>
        </p:nvSpPr>
        <p:spPr>
          <a:xfrm>
            <a:off x="502920" y="1883664"/>
            <a:ext cx="3977640" cy="256032"/>
          </a:xfrm>
          <a:prstGeom prst="rect">
            <a:avLst/>
          </a:prstGeom>
          <a:noFill/>
          <a:ln/>
        </p:spPr>
        <p:txBody>
          <a:bodyPr wrap="square" lIns="0" tIns="0" rIns="0" bIns="0" rtlCol="0" anchor="ctr"/>
          <a:lstStyle/>
          <a:p>
            <a:pPr indent="0" marL="0">
              <a:buNone/>
            </a:pPr>
            <a:r>
              <a:rPr lang="en-US" sz="1200" b="1" spc="150" kern="0" dirty="0">
                <a:solidFill>
                  <a:srgbClr val="A4232B"/>
                </a:solidFill>
                <a:latin typeface="Arial" pitchFamily="34" charset="0"/>
                <a:ea typeface="Arial" pitchFamily="34" charset="-122"/>
                <a:cs typeface="Arial" pitchFamily="34" charset="-120"/>
              </a:rPr>
              <a:t>RETORNO OPACO</a:t>
            </a:r>
            <a:endParaRPr lang="en-US" sz="1200" dirty="0"/>
          </a:p>
        </p:txBody>
      </p:sp>
      <p:sp>
        <p:nvSpPr>
          <p:cNvPr id="9" name="Shape 7"/>
          <p:cNvSpPr/>
          <p:nvPr/>
        </p:nvSpPr>
        <p:spPr>
          <a:xfrm>
            <a:off x="502920" y="2194560"/>
            <a:ext cx="3977640" cy="1572768"/>
          </a:xfrm>
          <a:prstGeom prst="rect">
            <a:avLst/>
          </a:prstGeom>
          <a:solidFill>
            <a:srgbClr val="F1F2F4"/>
          </a:solidFill>
          <a:ln/>
        </p:spPr>
      </p:sp>
      <p:sp>
        <p:nvSpPr>
          <p:cNvPr id="10" name="Text 8"/>
          <p:cNvSpPr/>
          <p:nvPr/>
        </p:nvSpPr>
        <p:spPr>
          <a:xfrm>
            <a:off x="630936" y="2295144"/>
            <a:ext cx="3721608" cy="1371600"/>
          </a:xfrm>
          <a:prstGeom prst="rect">
            <a:avLst/>
          </a:prstGeom>
          <a:noFill/>
          <a:ln/>
        </p:spPr>
        <p:txBody>
          <a:bodyPr wrap="square" lIns="0" tIns="0" rIns="0" bIns="0" rtlCol="0" anchor="t"/>
          <a:lstStyle/>
          <a:p>
            <a:pPr indent="0" marL="0">
              <a:lnSpc>
                <a:spcPts val="1700"/>
              </a:lnSpc>
              <a:buNone/>
            </a:pPr>
            <a:r>
              <a:rPr lang="en-US" sz="1200" dirty="0">
                <a:solidFill>
                  <a:srgbClr val="2A2E36"/>
                </a:solidFill>
                <a:latin typeface="Courier New" pitchFamily="34" charset="0"/>
                <a:ea typeface="Courier New" pitchFamily="34" charset="-122"/>
                <a:cs typeface="Courier New" pitchFamily="34" charset="-120"/>
              </a:rPr>
              <a:t>{</a:t>
            </a:r>
            <a:endParaRPr lang="en-US" sz="1200" dirty="0"/>
          </a:p>
          <a:p>
            <a:pPr indent="0" marL="0">
              <a:lnSpc>
                <a:spcPts val="1700"/>
              </a:lnSpc>
              <a:buNone/>
            </a:pPr>
            <a:r>
              <a:rPr lang="en-US" sz="1200" dirty="0">
                <a:solidFill>
                  <a:srgbClr val="2A2E36"/>
                </a:solidFill>
                <a:latin typeface="Courier New" pitchFamily="34" charset="0"/>
                <a:ea typeface="Courier New" pitchFamily="34" charset="-122"/>
                <a:cs typeface="Courier New" pitchFamily="34" charset="-120"/>
              </a:rPr>
              <a:t>  "error": "failed"</a:t>
            </a:r>
            <a:endParaRPr lang="en-US" sz="1200" dirty="0"/>
          </a:p>
          <a:p>
            <a:pPr indent="0" marL="0">
              <a:lnSpc>
                <a:spcPts val="1700"/>
              </a:lnSpc>
              <a:buNone/>
            </a:pPr>
            <a:r>
              <a:rPr lang="en-US" sz="1200" dirty="0">
                <a:solidFill>
                  <a:srgbClr val="2A2E36"/>
                </a:solidFill>
                <a:latin typeface="Courier New" pitchFamily="34" charset="0"/>
                <a:ea typeface="Courier New" pitchFamily="34" charset="-122"/>
                <a:cs typeface="Courier New" pitchFamily="34" charset="-120"/>
              </a:rPr>
              <a:t>}</a:t>
            </a:r>
            <a:endParaRPr lang="en-US" sz="1200" dirty="0"/>
          </a:p>
        </p:txBody>
      </p:sp>
      <p:sp>
        <p:nvSpPr>
          <p:cNvPr id="11" name="Text 9"/>
          <p:cNvSpPr/>
          <p:nvPr/>
        </p:nvSpPr>
        <p:spPr>
          <a:xfrm>
            <a:off x="502920" y="3840480"/>
            <a:ext cx="3977640" cy="502920"/>
          </a:xfrm>
          <a:prstGeom prst="rect">
            <a:avLst/>
          </a:prstGeom>
          <a:noFill/>
          <a:ln/>
        </p:spPr>
        <p:txBody>
          <a:bodyPr wrap="square" lIns="0" tIns="0" rIns="0" bIns="0" rtlCol="0" anchor="ctr"/>
          <a:lstStyle/>
          <a:p>
            <a:pPr indent="0" marL="0">
              <a:lnSpc>
                <a:spcPts val="1500"/>
              </a:lnSpc>
              <a:buNone/>
            </a:pPr>
            <a:r>
              <a:rPr lang="en-US" sz="1200" dirty="0">
                <a:solidFill>
                  <a:srgbClr val="6E7681"/>
                </a:solidFill>
                <a:latin typeface="Calibri" pitchFamily="34" charset="0"/>
                <a:ea typeface="Calibri" pitchFamily="34" charset="-122"/>
                <a:cs typeface="Calibri" pitchFamily="34" charset="-120"/>
              </a:rPr>
              <a:t>No dice qué falló, ni por qué,</a:t>
            </a:r>
            <a:endParaRPr lang="en-US" sz="1200" dirty="0"/>
          </a:p>
          <a:p>
            <a:pPr indent="0" marL="0">
              <a:lnSpc>
                <a:spcPts val="1500"/>
              </a:lnSpc>
              <a:buNone/>
            </a:pPr>
            <a:r>
              <a:rPr lang="en-US" sz="1200" dirty="0">
                <a:solidFill>
                  <a:srgbClr val="6E7681"/>
                </a:solidFill>
                <a:latin typeface="Calibri" pitchFamily="34" charset="0"/>
                <a:ea typeface="Calibri" pitchFamily="34" charset="-122"/>
                <a:cs typeface="Calibri" pitchFamily="34" charset="-120"/>
              </a:rPr>
              <a:t>ni cuál sería la próxima llamada segura.</a:t>
            </a:r>
            <a:endParaRPr lang="en-US" sz="1200" dirty="0"/>
          </a:p>
        </p:txBody>
      </p:sp>
      <p:sp>
        <p:nvSpPr>
          <p:cNvPr id="12" name="Text 10"/>
          <p:cNvSpPr/>
          <p:nvPr/>
        </p:nvSpPr>
        <p:spPr>
          <a:xfrm>
            <a:off x="4663440" y="1883664"/>
            <a:ext cx="3977640" cy="256032"/>
          </a:xfrm>
          <a:prstGeom prst="rect">
            <a:avLst/>
          </a:prstGeom>
          <a:noFill/>
          <a:ln/>
        </p:spPr>
        <p:txBody>
          <a:bodyPr wrap="square" lIns="0" tIns="0" rIns="0" bIns="0" rtlCol="0" anchor="ctr"/>
          <a:lstStyle/>
          <a:p>
            <a:pPr indent="0" marL="0">
              <a:buNone/>
            </a:pPr>
            <a:r>
              <a:rPr lang="en-US" sz="1200" b="1" spc="150" kern="0" dirty="0">
                <a:solidFill>
                  <a:srgbClr val="12715B"/>
                </a:solidFill>
                <a:latin typeface="Arial" pitchFamily="34" charset="0"/>
                <a:ea typeface="Arial" pitchFamily="34" charset="-122"/>
                <a:cs typeface="Arial" pitchFamily="34" charset="-120"/>
              </a:rPr>
              <a:t>RETORNO ACCIONABLE</a:t>
            </a:r>
            <a:endParaRPr lang="en-US" sz="1200" dirty="0"/>
          </a:p>
        </p:txBody>
      </p:sp>
      <p:sp>
        <p:nvSpPr>
          <p:cNvPr id="13" name="Shape 11"/>
          <p:cNvSpPr/>
          <p:nvPr/>
        </p:nvSpPr>
        <p:spPr>
          <a:xfrm>
            <a:off x="4663440" y="2194560"/>
            <a:ext cx="3977640" cy="1572768"/>
          </a:xfrm>
          <a:prstGeom prst="rect">
            <a:avLst/>
          </a:prstGeom>
          <a:solidFill>
            <a:srgbClr val="F1F2F4"/>
          </a:solidFill>
          <a:ln/>
        </p:spPr>
      </p:sp>
      <p:sp>
        <p:nvSpPr>
          <p:cNvPr id="14" name="Text 12"/>
          <p:cNvSpPr/>
          <p:nvPr/>
        </p:nvSpPr>
        <p:spPr>
          <a:xfrm>
            <a:off x="4791456" y="2295144"/>
            <a:ext cx="3721608" cy="1371600"/>
          </a:xfrm>
          <a:prstGeom prst="rect">
            <a:avLst/>
          </a:prstGeom>
          <a:noFill/>
          <a:ln/>
        </p:spPr>
        <p:txBody>
          <a:bodyPr wrap="square" lIns="0" tIns="0" rIns="0" bIns="0" rtlCol="0" anchor="t"/>
          <a:lstStyle/>
          <a:p>
            <a:pPr indent="0" marL="0">
              <a:lnSpc>
                <a:spcPts val="1350"/>
              </a:lnSpc>
              <a:buNone/>
            </a:pPr>
            <a:r>
              <a:rPr lang="en-US" sz="1000" dirty="0">
                <a:solidFill>
                  <a:srgbClr val="2A2E36"/>
                </a:solidFill>
                <a:latin typeface="Courier New" pitchFamily="34" charset="0"/>
                <a:ea typeface="Courier New" pitchFamily="34" charset="-122"/>
                <a:cs typeface="Courier New" pitchFamily="34" charset="-120"/>
              </a:rPr>
              <a:t>{</a:t>
            </a:r>
            <a:endParaRPr lang="en-US" sz="1000" dirty="0"/>
          </a:p>
          <a:p>
            <a:pPr indent="0" marL="0">
              <a:lnSpc>
                <a:spcPts val="1350"/>
              </a:lnSpc>
              <a:buNone/>
            </a:pPr>
            <a:r>
              <a:rPr lang="en-US" sz="1000" dirty="0">
                <a:solidFill>
                  <a:srgbClr val="2A2E36"/>
                </a:solidFill>
                <a:latin typeface="Courier New" pitchFamily="34" charset="0"/>
                <a:ea typeface="Courier New" pitchFamily="34" charset="-122"/>
                <a:cs typeface="Courier New" pitchFamily="34" charset="-120"/>
              </a:rPr>
              <a:t>  error:  no existe note_id</a:t>
            </a:r>
            <a:endParaRPr lang="en-US" sz="1000" dirty="0"/>
          </a:p>
          <a:p>
            <a:pPr indent="0" marL="0">
              <a:lnSpc>
                <a:spcPts val="1350"/>
              </a:lnSpc>
              <a:buNone/>
            </a:pPr>
            <a:r>
              <a:rPr lang="en-US" sz="1000" dirty="0">
                <a:solidFill>
                  <a:srgbClr val="2A2E36"/>
                </a:solidFill>
                <a:latin typeface="Courier New" pitchFamily="34" charset="0"/>
                <a:ea typeface="Courier New" pitchFamily="34" charset="-122"/>
                <a:cs typeface="Courier New" pitchFamily="34" charset="-120"/>
              </a:rPr>
              <a:t>  why:    el id venció</a:t>
            </a:r>
            <a:endParaRPr lang="en-US" sz="1000" dirty="0"/>
          </a:p>
          <a:p>
            <a:pPr indent="0" marL="0">
              <a:lnSpc>
                <a:spcPts val="1350"/>
              </a:lnSpc>
              <a:buNone/>
            </a:pPr>
            <a:r>
              <a:rPr lang="en-US" sz="1000" dirty="0">
                <a:solidFill>
                  <a:srgbClr val="2A2E36"/>
                </a:solidFill>
                <a:latin typeface="Courier New" pitchFamily="34" charset="0"/>
                <a:ea typeface="Courier New" pitchFamily="34" charset="-122"/>
                <a:cs typeface="Courier New" pitchFamily="34" charset="-120"/>
              </a:rPr>
              <a:t>  hint:   buscá 'ensayo' y reintentá</a:t>
            </a:r>
            <a:endParaRPr lang="en-US" sz="1000" dirty="0"/>
          </a:p>
          <a:p>
            <a:pPr indent="0" marL="0">
              <a:lnSpc>
                <a:spcPts val="1350"/>
              </a:lnSpc>
              <a:buNone/>
            </a:pPr>
            <a:r>
              <a:rPr lang="en-US" sz="1000" dirty="0">
                <a:solidFill>
                  <a:srgbClr val="2A2E36"/>
                </a:solidFill>
                <a:latin typeface="Courier New" pitchFamily="34" charset="0"/>
                <a:ea typeface="Courier New" pitchFamily="34" charset="-122"/>
                <a:cs typeface="Courier New" pitchFamily="34" charset="-120"/>
              </a:rPr>
              <a:t>  available_options: [...]</a:t>
            </a:r>
            <a:endParaRPr lang="en-US" sz="1000" dirty="0"/>
          </a:p>
          <a:p>
            <a:pPr indent="0" marL="0">
              <a:lnSpc>
                <a:spcPts val="1350"/>
              </a:lnSpc>
              <a:buNone/>
            </a:pPr>
            <a:r>
              <a:rPr lang="en-US" sz="1000" dirty="0">
                <a:solidFill>
                  <a:srgbClr val="2A2E36"/>
                </a:solidFill>
                <a:latin typeface="Courier New" pitchFamily="34" charset="0"/>
                <a:ea typeface="Courier New" pitchFamily="34" charset="-122"/>
                <a:cs typeface="Courier New" pitchFamily="34" charset="-120"/>
              </a:rPr>
              <a:t>  suggested_call: { search }</a:t>
            </a:r>
            <a:endParaRPr lang="en-US" sz="1000" dirty="0"/>
          </a:p>
          <a:p>
            <a:pPr indent="0" marL="0">
              <a:lnSpc>
                <a:spcPts val="1350"/>
              </a:lnSpc>
              <a:buNone/>
            </a:pPr>
            <a:r>
              <a:rPr lang="en-US" sz="1000" dirty="0">
                <a:solidFill>
                  <a:srgbClr val="2A2E36"/>
                </a:solidFill>
                <a:latin typeface="Courier New" pitchFamily="34" charset="0"/>
                <a:ea typeface="Courier New" pitchFamily="34" charset="-122"/>
                <a:cs typeface="Courier New" pitchFamily="34" charset="-120"/>
              </a:rPr>
              <a:t>}</a:t>
            </a:r>
            <a:endParaRPr lang="en-US" sz="1000" dirty="0"/>
          </a:p>
        </p:txBody>
      </p:sp>
      <p:sp>
        <p:nvSpPr>
          <p:cNvPr id="15" name="Text 13"/>
          <p:cNvSpPr/>
          <p:nvPr/>
        </p:nvSpPr>
        <p:spPr>
          <a:xfrm>
            <a:off x="4663440" y="3840480"/>
            <a:ext cx="3977640" cy="502920"/>
          </a:xfrm>
          <a:prstGeom prst="rect">
            <a:avLst/>
          </a:prstGeom>
          <a:noFill/>
          <a:ln/>
        </p:spPr>
        <p:txBody>
          <a:bodyPr wrap="square" lIns="0" tIns="0" rIns="0" bIns="0" rtlCol="0" anchor="ctr"/>
          <a:lstStyle/>
          <a:p>
            <a:pPr indent="0" marL="0">
              <a:lnSpc>
                <a:spcPts val="1500"/>
              </a:lnSpc>
              <a:buNone/>
            </a:pPr>
            <a:r>
              <a:rPr lang="en-US" sz="1200" dirty="0">
                <a:solidFill>
                  <a:srgbClr val="6E7681"/>
                </a:solidFill>
                <a:latin typeface="Calibri" pitchFamily="34" charset="0"/>
                <a:ea typeface="Calibri" pitchFamily="34" charset="-122"/>
                <a:cs typeface="Calibri" pitchFamily="34" charset="-120"/>
              </a:rPr>
              <a:t>El mismo fallo, pero devuelve estado operativo</a:t>
            </a:r>
            <a:endParaRPr lang="en-US" sz="1200" dirty="0"/>
          </a:p>
          <a:p>
            <a:pPr indent="0" marL="0">
              <a:lnSpc>
                <a:spcPts val="1500"/>
              </a:lnSpc>
              <a:buNone/>
            </a:pPr>
            <a:r>
              <a:rPr lang="en-US" sz="1200" dirty="0">
                <a:solidFill>
                  <a:srgbClr val="6E7681"/>
                </a:solidFill>
                <a:latin typeface="Calibri" pitchFamily="34" charset="0"/>
                <a:ea typeface="Calibri" pitchFamily="34" charset="-122"/>
                <a:cs typeface="Calibri" pitchFamily="34" charset="-120"/>
              </a:rPr>
              <a:t>que el modelo puede usar para replanificar.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191F"/>
          </a:solidFill>
          <a:ln/>
        </p:spPr>
      </p:sp>
      <p:sp>
        <p:nvSpPr>
          <p:cNvPr id="3" name="Text 1"/>
          <p:cNvSpPr/>
          <p:nvPr/>
        </p:nvSpPr>
        <p:spPr>
          <a:xfrm>
            <a:off x="502920" y="457200"/>
            <a:ext cx="8138160" cy="45720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Cambió la conducta, no el modelo</a:t>
            </a:r>
            <a:endParaRPr lang="en-US" sz="2700" dirty="0"/>
          </a:p>
        </p:txBody>
      </p:sp>
      <p:sp>
        <p:nvSpPr>
          <p:cNvPr id="4" name="Text 2"/>
          <p:cNvSpPr/>
          <p:nvPr/>
        </p:nvSpPr>
        <p:spPr>
          <a:xfrm>
            <a:off x="502920" y="914400"/>
            <a:ext cx="8138160" cy="256032"/>
          </a:xfrm>
          <a:prstGeom prst="rect">
            <a:avLst/>
          </a:prstGeom>
          <a:noFill/>
          <a:ln/>
        </p:spPr>
        <p:txBody>
          <a:bodyPr wrap="square" lIns="0" tIns="0" rIns="0" bIns="0" rtlCol="0" anchor="ctr"/>
          <a:lstStyle/>
          <a:p>
            <a:pPr indent="0" marL="0">
              <a:buNone/>
            </a:pPr>
            <a:r>
              <a:rPr lang="en-US" sz="1100" dirty="0">
                <a:solidFill>
                  <a:srgbClr val="6E7681"/>
                </a:solidFill>
                <a:latin typeface="Courier New" pitchFamily="34" charset="0"/>
                <a:ea typeface="Courier New" pitchFamily="34" charset="-122"/>
                <a:cs typeface="Courier New" pitchFamily="34" charset="-120"/>
              </a:rPr>
              <a:t>npm test -- tool-design-comparison   ·   tres corridas, mismo resultado</a:t>
            </a:r>
            <a:endParaRPr lang="en-US" sz="1100" dirty="0"/>
          </a:p>
        </p:txBody>
      </p:sp>
      <p:sp>
        <p:nvSpPr>
          <p:cNvPr id="5" name="Shape 3"/>
          <p:cNvSpPr/>
          <p:nvPr/>
        </p:nvSpPr>
        <p:spPr>
          <a:xfrm>
            <a:off x="502920" y="1463040"/>
            <a:ext cx="3977640" cy="2194560"/>
          </a:xfrm>
          <a:prstGeom prst="rect">
            <a:avLst/>
          </a:prstGeom>
          <a:solidFill>
            <a:srgbClr val="2A2E36"/>
          </a:solidFill>
          <a:ln/>
        </p:spPr>
      </p:sp>
      <p:sp>
        <p:nvSpPr>
          <p:cNvPr id="6" name="Shape 4"/>
          <p:cNvSpPr/>
          <p:nvPr/>
        </p:nvSpPr>
        <p:spPr>
          <a:xfrm>
            <a:off x="502920" y="1463040"/>
            <a:ext cx="3977640" cy="347472"/>
          </a:xfrm>
          <a:prstGeom prst="rect">
            <a:avLst/>
          </a:prstGeom>
          <a:solidFill>
            <a:srgbClr val="A4232B"/>
          </a:solidFill>
          <a:ln/>
        </p:spPr>
      </p:sp>
      <p:sp>
        <p:nvSpPr>
          <p:cNvPr id="7" name="Text 5"/>
          <p:cNvSpPr/>
          <p:nvPr/>
        </p:nvSpPr>
        <p:spPr>
          <a:xfrm>
            <a:off x="649224" y="1463040"/>
            <a:ext cx="3685032" cy="347472"/>
          </a:xfrm>
          <a:prstGeom prst="rect">
            <a:avLst/>
          </a:prstGeom>
          <a:noFill/>
          <a:ln/>
        </p:spPr>
        <p:txBody>
          <a:bodyPr wrap="square" lIns="0" tIns="0" rIns="0" bIns="0" rtlCol="0" anchor="ctr"/>
          <a:lstStyle/>
          <a:p>
            <a:pPr indent="0" marL="0">
              <a:buNone/>
            </a:pPr>
            <a:r>
              <a:rPr lang="en-US" sz="1100" b="1" spc="150" kern="0" dirty="0">
                <a:solidFill>
                  <a:srgbClr val="FFFFFF"/>
                </a:solidFill>
                <a:latin typeface="Arial" pitchFamily="34" charset="0"/>
                <a:ea typeface="Arial" pitchFamily="34" charset="-122"/>
                <a:cs typeface="Arial" pitchFamily="34" charset="-120"/>
              </a:rPr>
              <a:t>OPACO</a:t>
            </a:r>
            <a:endParaRPr lang="en-US" sz="1100" dirty="0"/>
          </a:p>
        </p:txBody>
      </p:sp>
      <p:sp>
        <p:nvSpPr>
          <p:cNvPr id="8" name="Text 6"/>
          <p:cNvSpPr/>
          <p:nvPr/>
        </p:nvSpPr>
        <p:spPr>
          <a:xfrm>
            <a:off x="649224" y="1901952"/>
            <a:ext cx="822960" cy="86868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1</a:t>
            </a:r>
            <a:endParaRPr lang="en-US" sz="5200" dirty="0"/>
          </a:p>
        </p:txBody>
      </p:sp>
      <p:sp>
        <p:nvSpPr>
          <p:cNvPr id="9" name="Text 7"/>
          <p:cNvSpPr/>
          <p:nvPr/>
        </p:nvSpPr>
        <p:spPr>
          <a:xfrm>
            <a:off x="1490472" y="1901952"/>
            <a:ext cx="2843784" cy="868680"/>
          </a:xfrm>
          <a:prstGeom prst="rect">
            <a:avLst/>
          </a:prstGeom>
          <a:noFill/>
          <a:ln/>
        </p:spPr>
        <p:txBody>
          <a:bodyPr wrap="square" lIns="0" tIns="0" rIns="0" bIns="0" rtlCol="0" anchor="ctr"/>
          <a:lstStyle/>
          <a:p>
            <a:pPr indent="0" marL="0">
              <a:buNone/>
            </a:pPr>
            <a:r>
              <a:rPr lang="en-US" sz="1500" dirty="0">
                <a:solidFill>
                  <a:srgbClr val="C9CCD3"/>
                </a:solidFill>
                <a:latin typeface="Calibri" pitchFamily="34" charset="0"/>
                <a:ea typeface="Calibri" pitchFamily="34" charset="-122"/>
                <a:cs typeface="Calibri" pitchFamily="34" charset="-120"/>
              </a:rPr>
              <a:t>llamada</a:t>
            </a:r>
            <a:endParaRPr lang="en-US" sz="1500" dirty="0"/>
          </a:p>
        </p:txBody>
      </p:sp>
      <p:sp>
        <p:nvSpPr>
          <p:cNvPr id="10" name="Text 8"/>
          <p:cNvSpPr/>
          <p:nvPr/>
        </p:nvSpPr>
        <p:spPr>
          <a:xfrm>
            <a:off x="649224" y="2852928"/>
            <a:ext cx="3685032" cy="274320"/>
          </a:xfrm>
          <a:prstGeom prst="rect">
            <a:avLst/>
          </a:prstGeom>
          <a:noFill/>
          <a:ln/>
        </p:spPr>
        <p:txBody>
          <a:bodyPr wrap="square" lIns="0" tIns="0" rIns="0" bIns="0" rtlCol="0" anchor="ctr"/>
          <a:lstStyle/>
          <a:p>
            <a:pPr indent="0" marL="0">
              <a:buNone/>
            </a:pPr>
            <a:r>
              <a:rPr lang="en-US" sz="1100" dirty="0">
                <a:solidFill>
                  <a:srgbClr val="C9CCD3"/>
                </a:solidFill>
                <a:latin typeface="Courier New" pitchFamily="34" charset="0"/>
                <a:ea typeface="Courier New" pitchFamily="34" charset="-122"/>
                <a:cs typeface="Courier New" pitchFamily="34" charset="-120"/>
              </a:rPr>
              <a:t>delete  →  se detiene</a:t>
            </a:r>
            <a:endParaRPr lang="en-US" sz="1100" dirty="0"/>
          </a:p>
        </p:txBody>
      </p:sp>
      <p:sp>
        <p:nvSpPr>
          <p:cNvPr id="11" name="Text 9"/>
          <p:cNvSpPr/>
          <p:nvPr/>
        </p:nvSpPr>
        <p:spPr>
          <a:xfrm>
            <a:off x="649224" y="3182112"/>
            <a:ext cx="3685032" cy="310896"/>
          </a:xfrm>
          <a:prstGeom prst="rect">
            <a:avLst/>
          </a:prstGeom>
          <a:noFill/>
          <a:ln/>
        </p:spPr>
        <p:txBody>
          <a:bodyPr wrap="square" lIns="0" tIns="0" rIns="0" bIns="0" rtlCol="0" anchor="ctr"/>
          <a:lstStyle/>
          <a:p>
            <a:pPr indent="0" marL="0">
              <a:buNone/>
            </a:pPr>
            <a:r>
              <a:rPr lang="en-US" sz="1300" b="1" dirty="0">
                <a:solidFill>
                  <a:srgbClr val="E8867F"/>
                </a:solidFill>
                <a:latin typeface="Courier New" pitchFamily="34" charset="0"/>
                <a:ea typeface="Courier New" pitchFamily="34" charset="-122"/>
                <a:cs typeface="Courier New" pitchFamily="34" charset="-120"/>
              </a:rPr>
              <a:t>deleted = false</a:t>
            </a:r>
            <a:endParaRPr lang="en-US" sz="1300" dirty="0"/>
          </a:p>
        </p:txBody>
      </p:sp>
      <p:sp>
        <p:nvSpPr>
          <p:cNvPr id="12" name="Shape 10"/>
          <p:cNvSpPr/>
          <p:nvPr/>
        </p:nvSpPr>
        <p:spPr>
          <a:xfrm>
            <a:off x="4663440" y="1463040"/>
            <a:ext cx="3977640" cy="2194560"/>
          </a:xfrm>
          <a:prstGeom prst="rect">
            <a:avLst/>
          </a:prstGeom>
          <a:solidFill>
            <a:srgbClr val="2A2E36"/>
          </a:solidFill>
          <a:ln/>
        </p:spPr>
      </p:sp>
      <p:sp>
        <p:nvSpPr>
          <p:cNvPr id="13" name="Shape 11"/>
          <p:cNvSpPr/>
          <p:nvPr/>
        </p:nvSpPr>
        <p:spPr>
          <a:xfrm>
            <a:off x="4663440" y="1463040"/>
            <a:ext cx="3977640" cy="347472"/>
          </a:xfrm>
          <a:prstGeom prst="rect">
            <a:avLst/>
          </a:prstGeom>
          <a:solidFill>
            <a:srgbClr val="12715B"/>
          </a:solidFill>
          <a:ln/>
        </p:spPr>
      </p:sp>
      <p:sp>
        <p:nvSpPr>
          <p:cNvPr id="14" name="Text 12"/>
          <p:cNvSpPr/>
          <p:nvPr/>
        </p:nvSpPr>
        <p:spPr>
          <a:xfrm>
            <a:off x="4809744" y="1463040"/>
            <a:ext cx="3685032" cy="347472"/>
          </a:xfrm>
          <a:prstGeom prst="rect">
            <a:avLst/>
          </a:prstGeom>
          <a:noFill/>
          <a:ln/>
        </p:spPr>
        <p:txBody>
          <a:bodyPr wrap="square" lIns="0" tIns="0" rIns="0" bIns="0" rtlCol="0" anchor="ctr"/>
          <a:lstStyle/>
          <a:p>
            <a:pPr indent="0" marL="0">
              <a:buNone/>
            </a:pPr>
            <a:r>
              <a:rPr lang="en-US" sz="1100" b="1" spc="150" kern="0" dirty="0">
                <a:solidFill>
                  <a:srgbClr val="FFFFFF"/>
                </a:solidFill>
                <a:latin typeface="Arial" pitchFamily="34" charset="0"/>
                <a:ea typeface="Arial" pitchFamily="34" charset="-122"/>
                <a:cs typeface="Arial" pitchFamily="34" charset="-120"/>
              </a:rPr>
              <a:t>ACCIONABLE</a:t>
            </a:r>
            <a:endParaRPr lang="en-US" sz="1100" dirty="0"/>
          </a:p>
        </p:txBody>
      </p:sp>
      <p:sp>
        <p:nvSpPr>
          <p:cNvPr id="15" name="Text 13"/>
          <p:cNvSpPr/>
          <p:nvPr/>
        </p:nvSpPr>
        <p:spPr>
          <a:xfrm>
            <a:off x="4809744" y="1901952"/>
            <a:ext cx="822960" cy="86868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3</a:t>
            </a:r>
            <a:endParaRPr lang="en-US" sz="5200" dirty="0"/>
          </a:p>
        </p:txBody>
      </p:sp>
      <p:sp>
        <p:nvSpPr>
          <p:cNvPr id="16" name="Text 14"/>
          <p:cNvSpPr/>
          <p:nvPr/>
        </p:nvSpPr>
        <p:spPr>
          <a:xfrm>
            <a:off x="5650992" y="1901952"/>
            <a:ext cx="2843784" cy="868680"/>
          </a:xfrm>
          <a:prstGeom prst="rect">
            <a:avLst/>
          </a:prstGeom>
          <a:noFill/>
          <a:ln/>
        </p:spPr>
        <p:txBody>
          <a:bodyPr wrap="square" lIns="0" tIns="0" rIns="0" bIns="0" rtlCol="0" anchor="ctr"/>
          <a:lstStyle/>
          <a:p>
            <a:pPr indent="0" marL="0">
              <a:buNone/>
            </a:pPr>
            <a:r>
              <a:rPr lang="en-US" sz="1500" dirty="0">
                <a:solidFill>
                  <a:srgbClr val="C9CCD3"/>
                </a:solidFill>
                <a:latin typeface="Calibri" pitchFamily="34" charset="0"/>
                <a:ea typeface="Calibri" pitchFamily="34" charset="-122"/>
                <a:cs typeface="Calibri" pitchFamily="34" charset="-120"/>
              </a:rPr>
              <a:t>llamadas</a:t>
            </a:r>
            <a:endParaRPr lang="en-US" sz="1500" dirty="0"/>
          </a:p>
        </p:txBody>
      </p:sp>
      <p:sp>
        <p:nvSpPr>
          <p:cNvPr id="17" name="Text 15"/>
          <p:cNvSpPr/>
          <p:nvPr/>
        </p:nvSpPr>
        <p:spPr>
          <a:xfrm>
            <a:off x="4809744" y="2852928"/>
            <a:ext cx="3685032" cy="274320"/>
          </a:xfrm>
          <a:prstGeom prst="rect">
            <a:avLst/>
          </a:prstGeom>
          <a:noFill/>
          <a:ln/>
        </p:spPr>
        <p:txBody>
          <a:bodyPr wrap="square" lIns="0" tIns="0" rIns="0" bIns="0" rtlCol="0" anchor="ctr"/>
          <a:lstStyle/>
          <a:p>
            <a:pPr indent="0" marL="0">
              <a:buNone/>
            </a:pPr>
            <a:r>
              <a:rPr lang="en-US" sz="1100" dirty="0">
                <a:solidFill>
                  <a:srgbClr val="C9CCD3"/>
                </a:solidFill>
                <a:latin typeface="Courier New" pitchFamily="34" charset="0"/>
                <a:ea typeface="Courier New" pitchFamily="34" charset="-122"/>
                <a:cs typeface="Courier New" pitchFamily="34" charset="-120"/>
              </a:rPr>
              <a:t>delete → search → delete</a:t>
            </a:r>
            <a:endParaRPr lang="en-US" sz="1100" dirty="0"/>
          </a:p>
        </p:txBody>
      </p:sp>
      <p:sp>
        <p:nvSpPr>
          <p:cNvPr id="18" name="Text 16"/>
          <p:cNvSpPr/>
          <p:nvPr/>
        </p:nvSpPr>
        <p:spPr>
          <a:xfrm>
            <a:off x="4809744" y="3182112"/>
            <a:ext cx="3685032" cy="310896"/>
          </a:xfrm>
          <a:prstGeom prst="rect">
            <a:avLst/>
          </a:prstGeom>
          <a:noFill/>
          <a:ln/>
        </p:spPr>
        <p:txBody>
          <a:bodyPr wrap="square" lIns="0" tIns="0" rIns="0" bIns="0" rtlCol="0" anchor="ctr"/>
          <a:lstStyle/>
          <a:p>
            <a:pPr indent="0" marL="0">
              <a:buNone/>
            </a:pPr>
            <a:r>
              <a:rPr lang="en-US" sz="1300" b="1" dirty="0">
                <a:solidFill>
                  <a:srgbClr val="5FBFA4"/>
                </a:solidFill>
                <a:latin typeface="Courier New" pitchFamily="34" charset="0"/>
                <a:ea typeface="Courier New" pitchFamily="34" charset="-122"/>
                <a:cs typeface="Courier New" pitchFamily="34" charset="-120"/>
              </a:rPr>
              <a:t>deleted = true</a:t>
            </a:r>
            <a:endParaRPr lang="en-US" sz="1300" dirty="0"/>
          </a:p>
        </p:txBody>
      </p:sp>
      <p:sp>
        <p:nvSpPr>
          <p:cNvPr id="19" name="Shape 17"/>
          <p:cNvSpPr/>
          <p:nvPr/>
        </p:nvSpPr>
        <p:spPr>
          <a:xfrm>
            <a:off x="502920" y="3977640"/>
            <a:ext cx="64008" cy="502920"/>
          </a:xfrm>
          <a:prstGeom prst="rect">
            <a:avLst/>
          </a:prstGeom>
          <a:solidFill>
            <a:srgbClr val="E4572E"/>
          </a:solidFill>
          <a:ln/>
        </p:spPr>
      </p:sp>
      <p:sp>
        <p:nvSpPr>
          <p:cNvPr id="20" name="Text 18"/>
          <p:cNvSpPr/>
          <p:nvPr/>
        </p:nvSpPr>
        <p:spPr>
          <a:xfrm>
            <a:off x="704088" y="3977640"/>
            <a:ext cx="7936992" cy="50292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No lo hicimos más inteligente: le dimos el contexto que le faltaba para saber qué hacer.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4" name="Text 2"/>
          <p:cNvSpPr/>
          <p:nvPr/>
        </p:nvSpPr>
        <p:spPr>
          <a:xfrm>
            <a:off x="978408" y="329184"/>
            <a:ext cx="7662672" cy="420624"/>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Cuatro errores más, bien retornados</a:t>
            </a:r>
            <a:endParaRPr lang="en-US" sz="2700" dirty="0"/>
          </a:p>
        </p:txBody>
      </p:sp>
      <p:sp>
        <p:nvSpPr>
          <p:cNvPr id="5" name="Text 3"/>
          <p:cNvSpPr/>
          <p:nvPr/>
        </p:nvSpPr>
        <p:spPr>
          <a:xfrm>
            <a:off x="978408" y="786384"/>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El mismo patrón aplicado a cuatro tipos de fallo distintos</a:t>
            </a:r>
            <a:endParaRPr lang="en-US" sz="1300" dirty="0"/>
          </a:p>
        </p:txBody>
      </p:sp>
      <p:sp>
        <p:nvSpPr>
          <p:cNvPr id="6" name="Shape 4"/>
          <p:cNvSpPr/>
          <p:nvPr/>
        </p:nvSpPr>
        <p:spPr>
          <a:xfrm>
            <a:off x="502920" y="1207008"/>
            <a:ext cx="8138160" cy="274320"/>
          </a:xfrm>
          <a:prstGeom prst="rect">
            <a:avLst/>
          </a:prstGeom>
          <a:solidFill>
            <a:srgbClr val="2A2E36"/>
          </a:solidFill>
          <a:ln/>
        </p:spPr>
      </p:sp>
      <p:sp>
        <p:nvSpPr>
          <p:cNvPr id="7" name="Text 5"/>
          <p:cNvSpPr/>
          <p:nvPr/>
        </p:nvSpPr>
        <p:spPr>
          <a:xfrm>
            <a:off x="630936" y="1207008"/>
            <a:ext cx="1600200" cy="274320"/>
          </a:xfrm>
          <a:prstGeom prst="rect">
            <a:avLst/>
          </a:prstGeom>
          <a:noFill/>
          <a:ln/>
        </p:spPr>
        <p:txBody>
          <a:bodyPr wrap="square" lIns="0" tIns="0" rIns="0" bIns="0" rtlCol="0" anchor="ctr"/>
          <a:lstStyle/>
          <a:p>
            <a:pPr indent="0" marL="0">
              <a:buNone/>
            </a:pPr>
            <a:r>
              <a:rPr lang="en-US" sz="950" b="1" spc="120" kern="0" dirty="0">
                <a:solidFill>
                  <a:srgbClr val="FFFFFF"/>
                </a:solidFill>
                <a:latin typeface="Arial" pitchFamily="34" charset="0"/>
                <a:ea typeface="Arial" pitchFamily="34" charset="-122"/>
                <a:cs typeface="Arial" pitchFamily="34" charset="-120"/>
              </a:rPr>
              <a:t>CASO</a:t>
            </a:r>
            <a:endParaRPr lang="en-US" sz="950" dirty="0"/>
          </a:p>
        </p:txBody>
      </p:sp>
      <p:sp>
        <p:nvSpPr>
          <p:cNvPr id="8" name="Text 6"/>
          <p:cNvSpPr/>
          <p:nvPr/>
        </p:nvSpPr>
        <p:spPr>
          <a:xfrm>
            <a:off x="2194560" y="1207008"/>
            <a:ext cx="2103120" cy="274320"/>
          </a:xfrm>
          <a:prstGeom prst="rect">
            <a:avLst/>
          </a:prstGeom>
          <a:noFill/>
          <a:ln/>
        </p:spPr>
        <p:txBody>
          <a:bodyPr wrap="square" lIns="0" tIns="0" rIns="0" bIns="0" rtlCol="0" anchor="ctr"/>
          <a:lstStyle/>
          <a:p>
            <a:pPr indent="0" marL="0">
              <a:buNone/>
            </a:pPr>
            <a:r>
              <a:rPr lang="en-US" sz="950" b="1" spc="120" kern="0" dirty="0">
                <a:solidFill>
                  <a:srgbClr val="E8867F"/>
                </a:solidFill>
                <a:latin typeface="Arial" pitchFamily="34" charset="0"/>
                <a:ea typeface="Arial" pitchFamily="34" charset="-122"/>
                <a:cs typeface="Arial" pitchFamily="34" charset="-120"/>
              </a:rPr>
              <a:t>RETORNO OPACO</a:t>
            </a:r>
            <a:endParaRPr lang="en-US" sz="950" dirty="0"/>
          </a:p>
        </p:txBody>
      </p:sp>
      <p:sp>
        <p:nvSpPr>
          <p:cNvPr id="9" name="Text 7"/>
          <p:cNvSpPr/>
          <p:nvPr/>
        </p:nvSpPr>
        <p:spPr>
          <a:xfrm>
            <a:off x="4389120" y="1207008"/>
            <a:ext cx="4251960" cy="274320"/>
          </a:xfrm>
          <a:prstGeom prst="rect">
            <a:avLst/>
          </a:prstGeom>
          <a:noFill/>
          <a:ln/>
        </p:spPr>
        <p:txBody>
          <a:bodyPr wrap="square" lIns="0" tIns="0" rIns="0" bIns="0" rtlCol="0" anchor="ctr"/>
          <a:lstStyle/>
          <a:p>
            <a:pPr indent="0" marL="0">
              <a:buNone/>
            </a:pPr>
            <a:r>
              <a:rPr lang="en-US" sz="950" b="1" spc="120" kern="0" dirty="0">
                <a:solidFill>
                  <a:srgbClr val="5FBFA4"/>
                </a:solidFill>
                <a:latin typeface="Arial" pitchFamily="34" charset="0"/>
                <a:ea typeface="Arial" pitchFamily="34" charset="-122"/>
                <a:cs typeface="Arial" pitchFamily="34" charset="-120"/>
              </a:rPr>
              <a:t>RETORNO ACCIONABLE</a:t>
            </a:r>
            <a:endParaRPr lang="en-US" sz="950" dirty="0"/>
          </a:p>
        </p:txBody>
      </p:sp>
      <p:sp>
        <p:nvSpPr>
          <p:cNvPr id="10" name="Shape 8"/>
          <p:cNvSpPr/>
          <p:nvPr/>
        </p:nvSpPr>
        <p:spPr>
          <a:xfrm>
            <a:off x="502920" y="1481328"/>
            <a:ext cx="8138160" cy="658368"/>
          </a:xfrm>
          <a:prstGeom prst="rect">
            <a:avLst/>
          </a:prstGeom>
          <a:solidFill>
            <a:srgbClr val="F1F2F4"/>
          </a:solidFill>
          <a:ln/>
        </p:spPr>
      </p:sp>
      <p:sp>
        <p:nvSpPr>
          <p:cNvPr id="11" name="Text 9"/>
          <p:cNvSpPr/>
          <p:nvPr/>
        </p:nvSpPr>
        <p:spPr>
          <a:xfrm>
            <a:off x="630936" y="1545336"/>
            <a:ext cx="1472184" cy="201168"/>
          </a:xfrm>
          <a:prstGeom prst="rect">
            <a:avLst/>
          </a:prstGeom>
          <a:noFill/>
          <a:ln/>
        </p:spPr>
        <p:txBody>
          <a:bodyPr wrap="square" lIns="0" tIns="0" rIns="0" bIns="0" rtlCol="0" anchor="ctr"/>
          <a:lstStyle/>
          <a:p>
            <a:pPr indent="0" marL="0">
              <a:buNone/>
            </a:pPr>
            <a:r>
              <a:rPr lang="en-US" sz="1050" b="1" dirty="0">
                <a:solidFill>
                  <a:srgbClr val="16191F"/>
                </a:solidFill>
                <a:latin typeface="Arial" pitchFamily="34" charset="0"/>
                <a:ea typeface="Arial" pitchFamily="34" charset="-122"/>
                <a:cs typeface="Arial" pitchFamily="34" charset="-120"/>
              </a:rPr>
              <a:t>LÍMITE EXCEDIDO</a:t>
            </a:r>
            <a:endParaRPr lang="en-US" sz="1050" dirty="0"/>
          </a:p>
        </p:txBody>
      </p:sp>
      <p:sp>
        <p:nvSpPr>
          <p:cNvPr id="12" name="Text 10"/>
          <p:cNvSpPr/>
          <p:nvPr/>
        </p:nvSpPr>
        <p:spPr>
          <a:xfrm>
            <a:off x="630936" y="1746504"/>
            <a:ext cx="1472184" cy="329184"/>
          </a:xfrm>
          <a:prstGeom prst="rect">
            <a:avLst/>
          </a:prstGeom>
          <a:noFill/>
          <a:ln/>
        </p:spPr>
        <p:txBody>
          <a:bodyPr wrap="square" lIns="0" tIns="0" rIns="0" bIns="0" rtlCol="0" anchor="t"/>
          <a:lstStyle/>
          <a:p>
            <a:pPr indent="0" marL="0">
              <a:lnSpc>
                <a:spcPts val="1100"/>
              </a:lnSpc>
              <a:buNone/>
            </a:pPr>
            <a:r>
              <a:rPr lang="en-US" sz="950" dirty="0">
                <a:solidFill>
                  <a:srgbClr val="6E7681"/>
                </a:solidFill>
                <a:latin typeface="Calibri" pitchFamily="34" charset="0"/>
                <a:ea typeface="Calibri" pitchFamily="34" charset="-122"/>
                <a:cs typeface="Calibri" pitchFamily="34" charset="-120"/>
              </a:rPr>
              <a:t>Decí el máximo y cómo partir la llamada.</a:t>
            </a:r>
            <a:endParaRPr lang="en-US" sz="950" dirty="0"/>
          </a:p>
        </p:txBody>
      </p:sp>
      <p:sp>
        <p:nvSpPr>
          <p:cNvPr id="13" name="Text 11"/>
          <p:cNvSpPr/>
          <p:nvPr/>
        </p:nvSpPr>
        <p:spPr>
          <a:xfrm>
            <a:off x="2194560" y="1481328"/>
            <a:ext cx="2011680" cy="658368"/>
          </a:xfrm>
          <a:prstGeom prst="rect">
            <a:avLst/>
          </a:prstGeom>
          <a:noFill/>
          <a:ln/>
        </p:spPr>
        <p:txBody>
          <a:bodyPr wrap="square" lIns="0" tIns="0" rIns="0" bIns="0" rtlCol="0" anchor="ctr"/>
          <a:lstStyle/>
          <a:p>
            <a:pPr indent="0" marL="0">
              <a:buNone/>
            </a:pPr>
            <a:r>
              <a:rPr lang="en-US" sz="900" dirty="0">
                <a:solidFill>
                  <a:srgbClr val="A4232B"/>
                </a:solidFill>
                <a:latin typeface="Courier New" pitchFamily="34" charset="0"/>
                <a:ea typeface="Courier New" pitchFamily="34" charset="-122"/>
                <a:cs typeface="Courier New" pitchFamily="34" charset="-120"/>
              </a:rPr>
              <a:t>"error": "Invalid request"</a:t>
            </a:r>
            <a:endParaRPr lang="en-US" sz="900" dirty="0"/>
          </a:p>
        </p:txBody>
      </p:sp>
      <p:sp>
        <p:nvSpPr>
          <p:cNvPr id="14" name="Text 12"/>
          <p:cNvSpPr/>
          <p:nvPr/>
        </p:nvSpPr>
        <p:spPr>
          <a:xfrm>
            <a:off x="4389120" y="1481328"/>
            <a:ext cx="4251960" cy="658368"/>
          </a:xfrm>
          <a:prstGeom prst="rect">
            <a:avLst/>
          </a:prstGeom>
          <a:noFill/>
          <a:ln/>
        </p:spPr>
        <p:txBody>
          <a:bodyPr wrap="square" lIns="0" tIns="0" rIns="0" bIns="0" rtlCol="0" anchor="ctr"/>
          <a:lstStyle/>
          <a:p>
            <a:pPr indent="0" marL="0">
              <a:lnSpc>
                <a:spcPts val="1200"/>
              </a:lnSpc>
              <a:buNone/>
            </a:pPr>
            <a:r>
              <a:rPr lang="en-US" sz="850" dirty="0">
                <a:solidFill>
                  <a:srgbClr val="2A2E36"/>
                </a:solidFill>
                <a:latin typeface="Courier New" pitchFamily="34" charset="0"/>
                <a:ea typeface="Courier New" pitchFamily="34" charset="-122"/>
                <a:cs typeface="Courier New" pitchFamily="34" charset="-120"/>
              </a:rPr>
              <a:t>error: "Ventana muy grande: 45s. El máximo es 1s."</a:t>
            </a:r>
            <a:endParaRPr lang="en-US" sz="850" dirty="0"/>
          </a:p>
          <a:p>
            <a:pPr indent="0" marL="0">
              <a:lnSpc>
                <a:spcPts val="1200"/>
              </a:lnSpc>
              <a:buNone/>
            </a:pPr>
            <a:r>
              <a:rPr lang="en-US" sz="850" dirty="0">
                <a:solidFill>
                  <a:srgbClr val="2A2E36"/>
                </a:solidFill>
                <a:latin typeface="Courier New" pitchFamily="34" charset="0"/>
                <a:ea typeface="Courier New" pitchFamily="34" charset="-122"/>
                <a:cs typeface="Courier New" pitchFamily="34" charset="-120"/>
              </a:rPr>
              <a:t>hint:  "Partí el rango en varias llamadas de 1 segundo."</a:t>
            </a:r>
            <a:endParaRPr lang="en-US" sz="850" dirty="0"/>
          </a:p>
        </p:txBody>
      </p:sp>
      <p:sp>
        <p:nvSpPr>
          <p:cNvPr id="15" name="Text 13"/>
          <p:cNvSpPr/>
          <p:nvPr/>
        </p:nvSpPr>
        <p:spPr>
          <a:xfrm>
            <a:off x="630936" y="2203704"/>
            <a:ext cx="1472184" cy="201168"/>
          </a:xfrm>
          <a:prstGeom prst="rect">
            <a:avLst/>
          </a:prstGeom>
          <a:noFill/>
          <a:ln/>
        </p:spPr>
        <p:txBody>
          <a:bodyPr wrap="square" lIns="0" tIns="0" rIns="0" bIns="0" rtlCol="0" anchor="ctr"/>
          <a:lstStyle/>
          <a:p>
            <a:pPr indent="0" marL="0">
              <a:buNone/>
            </a:pPr>
            <a:r>
              <a:rPr lang="en-US" sz="1050" b="1" dirty="0">
                <a:solidFill>
                  <a:srgbClr val="16191F"/>
                </a:solidFill>
                <a:latin typeface="Arial" pitchFamily="34" charset="0"/>
                <a:ea typeface="Arial" pitchFamily="34" charset="-122"/>
                <a:cs typeface="Arial" pitchFamily="34" charset="-120"/>
              </a:rPr>
              <a:t>SIN DATOS</a:t>
            </a:r>
            <a:endParaRPr lang="en-US" sz="1050" dirty="0"/>
          </a:p>
        </p:txBody>
      </p:sp>
      <p:sp>
        <p:nvSpPr>
          <p:cNvPr id="16" name="Text 14"/>
          <p:cNvSpPr/>
          <p:nvPr/>
        </p:nvSpPr>
        <p:spPr>
          <a:xfrm>
            <a:off x="630936" y="2404872"/>
            <a:ext cx="1472184" cy="329184"/>
          </a:xfrm>
          <a:prstGeom prst="rect">
            <a:avLst/>
          </a:prstGeom>
          <a:noFill/>
          <a:ln/>
        </p:spPr>
        <p:txBody>
          <a:bodyPr wrap="square" lIns="0" tIns="0" rIns="0" bIns="0" rtlCol="0" anchor="t"/>
          <a:lstStyle/>
          <a:p>
            <a:pPr indent="0" marL="0">
              <a:lnSpc>
                <a:spcPts val="1100"/>
              </a:lnSpc>
              <a:buNone/>
            </a:pPr>
            <a:r>
              <a:rPr lang="en-US" sz="950" dirty="0">
                <a:solidFill>
                  <a:srgbClr val="6E7681"/>
                </a:solidFill>
                <a:latin typeface="Calibri" pitchFamily="34" charset="0"/>
                <a:ea typeface="Calibri" pitchFamily="34" charset="-122"/>
                <a:cs typeface="Calibri" pitchFamily="34" charset="-120"/>
              </a:rPr>
              <a:t>Vacío no es un error: nombralo aparte.</a:t>
            </a:r>
            <a:endParaRPr lang="en-US" sz="950" dirty="0"/>
          </a:p>
        </p:txBody>
      </p:sp>
      <p:sp>
        <p:nvSpPr>
          <p:cNvPr id="17" name="Text 15"/>
          <p:cNvSpPr/>
          <p:nvPr/>
        </p:nvSpPr>
        <p:spPr>
          <a:xfrm>
            <a:off x="2194560" y="2139696"/>
            <a:ext cx="2011680" cy="658368"/>
          </a:xfrm>
          <a:prstGeom prst="rect">
            <a:avLst/>
          </a:prstGeom>
          <a:noFill/>
          <a:ln/>
        </p:spPr>
        <p:txBody>
          <a:bodyPr wrap="square" lIns="0" tIns="0" rIns="0" bIns="0" rtlCol="0" anchor="ctr"/>
          <a:lstStyle/>
          <a:p>
            <a:pPr indent="0" marL="0">
              <a:buNone/>
            </a:pPr>
            <a:r>
              <a:rPr lang="en-US" sz="900" dirty="0">
                <a:solidFill>
                  <a:srgbClr val="A4232B"/>
                </a:solidFill>
                <a:latin typeface="Courier New" pitchFamily="34" charset="0"/>
                <a:ea typeface="Courier New" pitchFamily="34" charset="-122"/>
                <a:cs typeface="Courier New" pitchFamily="34" charset="-120"/>
              </a:rPr>
              <a:t>[ ]</a:t>
            </a:r>
            <a:endParaRPr lang="en-US" sz="900" dirty="0"/>
          </a:p>
        </p:txBody>
      </p:sp>
      <p:sp>
        <p:nvSpPr>
          <p:cNvPr id="18" name="Text 16"/>
          <p:cNvSpPr/>
          <p:nvPr/>
        </p:nvSpPr>
        <p:spPr>
          <a:xfrm>
            <a:off x="4389120" y="2139696"/>
            <a:ext cx="4251960" cy="658368"/>
          </a:xfrm>
          <a:prstGeom prst="rect">
            <a:avLst/>
          </a:prstGeom>
          <a:noFill/>
          <a:ln/>
        </p:spPr>
        <p:txBody>
          <a:bodyPr wrap="square" lIns="0" tIns="0" rIns="0" bIns="0" rtlCol="0" anchor="ctr"/>
          <a:lstStyle/>
          <a:p>
            <a:pPr indent="0" marL="0">
              <a:lnSpc>
                <a:spcPts val="1200"/>
              </a:lnSpc>
              <a:buNone/>
            </a:pPr>
            <a:r>
              <a:rPr lang="en-US" sz="850" dirty="0">
                <a:solidFill>
                  <a:srgbClr val="2A2E36"/>
                </a:solidFill>
                <a:latin typeface="Courier New" pitchFamily="34" charset="0"/>
                <a:ea typeface="Courier New" pitchFamily="34" charset="-122"/>
                <a:cs typeface="Courier New" pitchFamily="34" charset="-120"/>
              </a:rPr>
              <a:t>status: "no_data_in_range"</a:t>
            </a:r>
            <a:endParaRPr lang="en-US" sz="850" dirty="0"/>
          </a:p>
          <a:p>
            <a:pPr indent="0" marL="0">
              <a:lnSpc>
                <a:spcPts val="1200"/>
              </a:lnSpc>
              <a:buNone/>
            </a:pPr>
            <a:r>
              <a:rPr lang="en-US" sz="850" dirty="0">
                <a:solidFill>
                  <a:srgbClr val="2A2E36"/>
                </a:solidFill>
                <a:latin typeface="Courier New" pitchFamily="34" charset="0"/>
                <a:ea typeface="Courier New" pitchFamily="34" charset="-122"/>
                <a:cs typeface="Courier New" pitchFamily="34" charset="-120"/>
              </a:rPr>
              <a:t>searched_range: "12:50 → 12:53"</a:t>
            </a:r>
            <a:endParaRPr lang="en-US" sz="850" dirty="0"/>
          </a:p>
          <a:p>
            <a:pPr indent="0" marL="0">
              <a:lnSpc>
                <a:spcPts val="1200"/>
              </a:lnSpc>
              <a:buNone/>
            </a:pPr>
            <a:r>
              <a:rPr lang="en-US" sz="850" dirty="0">
                <a:solidFill>
                  <a:srgbClr val="2A2E36"/>
                </a:solidFill>
                <a:latin typeface="Courier New" pitchFamily="34" charset="0"/>
                <a:ea typeface="Courier New" pitchFamily="34" charset="-122"/>
                <a:cs typeface="Courier New" pitchFamily="34" charset="-120"/>
              </a:rPr>
              <a:t>hint: "Ampliá la ventana o probá períodos vecinos."</a:t>
            </a:r>
            <a:endParaRPr lang="en-US" sz="850" dirty="0"/>
          </a:p>
        </p:txBody>
      </p:sp>
      <p:sp>
        <p:nvSpPr>
          <p:cNvPr id="19" name="Shape 17"/>
          <p:cNvSpPr/>
          <p:nvPr/>
        </p:nvSpPr>
        <p:spPr>
          <a:xfrm>
            <a:off x="502920" y="2798064"/>
            <a:ext cx="8138160" cy="658368"/>
          </a:xfrm>
          <a:prstGeom prst="rect">
            <a:avLst/>
          </a:prstGeom>
          <a:solidFill>
            <a:srgbClr val="F1F2F4"/>
          </a:solidFill>
          <a:ln/>
        </p:spPr>
      </p:sp>
      <p:sp>
        <p:nvSpPr>
          <p:cNvPr id="20" name="Text 18"/>
          <p:cNvSpPr/>
          <p:nvPr/>
        </p:nvSpPr>
        <p:spPr>
          <a:xfrm>
            <a:off x="630936" y="2862072"/>
            <a:ext cx="1472184" cy="201168"/>
          </a:xfrm>
          <a:prstGeom prst="rect">
            <a:avLst/>
          </a:prstGeom>
          <a:noFill/>
          <a:ln/>
        </p:spPr>
        <p:txBody>
          <a:bodyPr wrap="square" lIns="0" tIns="0" rIns="0" bIns="0" rtlCol="0" anchor="ctr"/>
          <a:lstStyle/>
          <a:p>
            <a:pPr indent="0" marL="0">
              <a:buNone/>
            </a:pPr>
            <a:r>
              <a:rPr lang="en-US" sz="1050" b="1" dirty="0">
                <a:solidFill>
                  <a:srgbClr val="16191F"/>
                </a:solidFill>
                <a:latin typeface="Arial" pitchFamily="34" charset="0"/>
                <a:ea typeface="Arial" pitchFamily="34" charset="-122"/>
                <a:cs typeface="Arial" pitchFamily="34" charset="-120"/>
              </a:rPr>
              <a:t>NO EXISTE</a:t>
            </a:r>
            <a:endParaRPr lang="en-US" sz="1050" dirty="0"/>
          </a:p>
        </p:txBody>
      </p:sp>
      <p:sp>
        <p:nvSpPr>
          <p:cNvPr id="21" name="Text 19"/>
          <p:cNvSpPr/>
          <p:nvPr/>
        </p:nvSpPr>
        <p:spPr>
          <a:xfrm>
            <a:off x="630936" y="3063240"/>
            <a:ext cx="1472184" cy="329184"/>
          </a:xfrm>
          <a:prstGeom prst="rect">
            <a:avLst/>
          </a:prstGeom>
          <a:noFill/>
          <a:ln/>
        </p:spPr>
        <p:txBody>
          <a:bodyPr wrap="square" lIns="0" tIns="0" rIns="0" bIns="0" rtlCol="0" anchor="t"/>
          <a:lstStyle/>
          <a:p>
            <a:pPr indent="0" marL="0">
              <a:lnSpc>
                <a:spcPts val="1100"/>
              </a:lnSpc>
              <a:buNone/>
            </a:pPr>
            <a:r>
              <a:rPr lang="en-US" sz="950" dirty="0">
                <a:solidFill>
                  <a:srgbClr val="6E7681"/>
                </a:solidFill>
                <a:latin typeface="Calibri" pitchFamily="34" charset="0"/>
                <a:ea typeface="Calibri" pitchFamily="34" charset="-122"/>
                <a:cs typeface="Calibri" pitchFamily="34" charset="-120"/>
              </a:rPr>
              <a:t>Devolvé el catálogo de valores válidos.</a:t>
            </a:r>
            <a:endParaRPr lang="en-US" sz="950" dirty="0"/>
          </a:p>
        </p:txBody>
      </p:sp>
      <p:sp>
        <p:nvSpPr>
          <p:cNvPr id="22" name="Text 20"/>
          <p:cNvSpPr/>
          <p:nvPr/>
        </p:nvSpPr>
        <p:spPr>
          <a:xfrm>
            <a:off x="2194560" y="2798064"/>
            <a:ext cx="2011680" cy="658368"/>
          </a:xfrm>
          <a:prstGeom prst="rect">
            <a:avLst/>
          </a:prstGeom>
          <a:noFill/>
          <a:ln/>
        </p:spPr>
        <p:txBody>
          <a:bodyPr wrap="square" lIns="0" tIns="0" rIns="0" bIns="0" rtlCol="0" anchor="ctr"/>
          <a:lstStyle/>
          <a:p>
            <a:pPr indent="0" marL="0">
              <a:buNone/>
            </a:pPr>
            <a:r>
              <a:rPr lang="en-US" sz="900" dirty="0">
                <a:solidFill>
                  <a:srgbClr val="A4232B"/>
                </a:solidFill>
                <a:latin typeface="Courier New" pitchFamily="34" charset="0"/>
                <a:ea typeface="Courier New" pitchFamily="34" charset="-122"/>
                <a:cs typeface="Courier New" pitchFamily="34" charset="-120"/>
              </a:rPr>
              <a:t>null</a:t>
            </a:r>
            <a:endParaRPr lang="en-US" sz="900" dirty="0"/>
          </a:p>
        </p:txBody>
      </p:sp>
      <p:sp>
        <p:nvSpPr>
          <p:cNvPr id="23" name="Text 21"/>
          <p:cNvSpPr/>
          <p:nvPr/>
        </p:nvSpPr>
        <p:spPr>
          <a:xfrm>
            <a:off x="4389120" y="2798064"/>
            <a:ext cx="4251960" cy="658368"/>
          </a:xfrm>
          <a:prstGeom prst="rect">
            <a:avLst/>
          </a:prstGeom>
          <a:noFill/>
          <a:ln/>
        </p:spPr>
        <p:txBody>
          <a:bodyPr wrap="square" lIns="0" tIns="0" rIns="0" bIns="0" rtlCol="0" anchor="ctr"/>
          <a:lstStyle/>
          <a:p>
            <a:pPr indent="0" marL="0">
              <a:lnSpc>
                <a:spcPts val="1200"/>
              </a:lnSpc>
              <a:buNone/>
            </a:pPr>
            <a:r>
              <a:rPr lang="en-US" sz="850" dirty="0">
                <a:solidFill>
                  <a:srgbClr val="2A2E36"/>
                </a:solidFill>
                <a:latin typeface="Courier New" pitchFamily="34" charset="0"/>
                <a:ea typeface="Courier New" pitchFamily="34" charset="-122"/>
                <a:cs typeface="Courier New" pitchFamily="34" charset="-120"/>
              </a:rPr>
              <a:t>error: "No hay guía para la falla 'BearingTemp'."</a:t>
            </a:r>
            <a:endParaRPr lang="en-US" sz="850" dirty="0"/>
          </a:p>
          <a:p>
            <a:pPr indent="0" marL="0">
              <a:lnSpc>
                <a:spcPts val="1200"/>
              </a:lnSpc>
              <a:buNone/>
            </a:pPr>
            <a:r>
              <a:rPr lang="en-US" sz="850" dirty="0">
                <a:solidFill>
                  <a:srgbClr val="2A2E36"/>
                </a:solidFill>
                <a:latin typeface="Courier New" pitchFamily="34" charset="0"/>
                <a:ea typeface="Courier New" pitchFamily="34" charset="-122"/>
                <a:cs typeface="Courier New" pitchFamily="34" charset="-120"/>
              </a:rPr>
              <a:t>hint:  "Revisá el nombre o probá una categoría más amplia."</a:t>
            </a:r>
            <a:endParaRPr lang="en-US" sz="850" dirty="0"/>
          </a:p>
          <a:p>
            <a:pPr indent="0" marL="0">
              <a:lnSpc>
                <a:spcPts val="1200"/>
              </a:lnSpc>
              <a:buNone/>
            </a:pPr>
            <a:r>
              <a:rPr lang="en-US" sz="850" dirty="0">
                <a:solidFill>
                  <a:srgbClr val="2A2E36"/>
                </a:solidFill>
                <a:latin typeface="Courier New" pitchFamily="34" charset="0"/>
                <a:ea typeface="Courier New" pitchFamily="34" charset="-122"/>
                <a:cs typeface="Courier New" pitchFamily="34" charset="-120"/>
              </a:rPr>
              <a:t>available_faults: [ ...catálogo completo... ]</a:t>
            </a:r>
            <a:endParaRPr lang="en-US" sz="850" dirty="0"/>
          </a:p>
        </p:txBody>
      </p:sp>
      <p:sp>
        <p:nvSpPr>
          <p:cNvPr id="24" name="Text 22"/>
          <p:cNvSpPr/>
          <p:nvPr/>
        </p:nvSpPr>
        <p:spPr>
          <a:xfrm>
            <a:off x="630936" y="3520440"/>
            <a:ext cx="1472184" cy="201168"/>
          </a:xfrm>
          <a:prstGeom prst="rect">
            <a:avLst/>
          </a:prstGeom>
          <a:noFill/>
          <a:ln/>
        </p:spPr>
        <p:txBody>
          <a:bodyPr wrap="square" lIns="0" tIns="0" rIns="0" bIns="0" rtlCol="0" anchor="ctr"/>
          <a:lstStyle/>
          <a:p>
            <a:pPr indent="0" marL="0">
              <a:buNone/>
            </a:pPr>
            <a:r>
              <a:rPr lang="en-US" sz="1050" b="1" dirty="0">
                <a:solidFill>
                  <a:srgbClr val="16191F"/>
                </a:solidFill>
                <a:latin typeface="Arial" pitchFamily="34" charset="0"/>
                <a:ea typeface="Arial" pitchFamily="34" charset="-122"/>
                <a:cs typeface="Arial" pitchFamily="34" charset="-120"/>
              </a:rPr>
              <a:t>BÚSQUEDA VACÍA</a:t>
            </a:r>
            <a:endParaRPr lang="en-US" sz="1050" dirty="0"/>
          </a:p>
        </p:txBody>
      </p:sp>
      <p:sp>
        <p:nvSpPr>
          <p:cNvPr id="25" name="Text 23"/>
          <p:cNvSpPr/>
          <p:nvPr/>
        </p:nvSpPr>
        <p:spPr>
          <a:xfrm>
            <a:off x="630936" y="3721608"/>
            <a:ext cx="1472184" cy="329184"/>
          </a:xfrm>
          <a:prstGeom prst="rect">
            <a:avLst/>
          </a:prstGeom>
          <a:noFill/>
          <a:ln/>
        </p:spPr>
        <p:txBody>
          <a:bodyPr wrap="square" lIns="0" tIns="0" rIns="0" bIns="0" rtlCol="0" anchor="t"/>
          <a:lstStyle/>
          <a:p>
            <a:pPr indent="0" marL="0">
              <a:lnSpc>
                <a:spcPts val="1100"/>
              </a:lnSpc>
              <a:buNone/>
            </a:pPr>
            <a:r>
              <a:rPr lang="en-US" sz="950" dirty="0">
                <a:solidFill>
                  <a:srgbClr val="6E7681"/>
                </a:solidFill>
                <a:latin typeface="Calibri" pitchFamily="34" charset="0"/>
                <a:ea typeface="Calibri" pitchFamily="34" charset="-122"/>
                <a:cs typeface="Calibri" pitchFamily="34" charset="-120"/>
              </a:rPr>
              <a:t>Sugerí la próxima estrategia de búsqueda.</a:t>
            </a:r>
            <a:endParaRPr lang="en-US" sz="950" dirty="0"/>
          </a:p>
        </p:txBody>
      </p:sp>
      <p:sp>
        <p:nvSpPr>
          <p:cNvPr id="26" name="Text 24"/>
          <p:cNvSpPr/>
          <p:nvPr/>
        </p:nvSpPr>
        <p:spPr>
          <a:xfrm>
            <a:off x="2194560" y="3456432"/>
            <a:ext cx="2011680" cy="658368"/>
          </a:xfrm>
          <a:prstGeom prst="rect">
            <a:avLst/>
          </a:prstGeom>
          <a:noFill/>
          <a:ln/>
        </p:spPr>
        <p:txBody>
          <a:bodyPr wrap="square" lIns="0" tIns="0" rIns="0" bIns="0" rtlCol="0" anchor="ctr"/>
          <a:lstStyle/>
          <a:p>
            <a:pPr indent="0" marL="0">
              <a:buNone/>
            </a:pPr>
            <a:r>
              <a:rPr lang="en-US" sz="900" dirty="0">
                <a:solidFill>
                  <a:srgbClr val="A4232B"/>
                </a:solidFill>
                <a:latin typeface="Courier New" pitchFamily="34" charset="0"/>
                <a:ea typeface="Courier New" pitchFamily="34" charset="-122"/>
                <a:cs typeface="Courier New" pitchFamily="34" charset="-120"/>
              </a:rPr>
              <a:t>{ "status": "error" }</a:t>
            </a:r>
            <a:endParaRPr lang="en-US" sz="900" dirty="0"/>
          </a:p>
        </p:txBody>
      </p:sp>
      <p:sp>
        <p:nvSpPr>
          <p:cNvPr id="27" name="Text 25"/>
          <p:cNvSpPr/>
          <p:nvPr/>
        </p:nvSpPr>
        <p:spPr>
          <a:xfrm>
            <a:off x="4389120" y="3456432"/>
            <a:ext cx="4251960" cy="658368"/>
          </a:xfrm>
          <a:prstGeom prst="rect">
            <a:avLst/>
          </a:prstGeom>
          <a:noFill/>
          <a:ln/>
        </p:spPr>
        <p:txBody>
          <a:bodyPr wrap="square" lIns="0" tIns="0" rIns="0" bIns="0" rtlCol="0" anchor="ctr"/>
          <a:lstStyle/>
          <a:p>
            <a:pPr indent="0" marL="0">
              <a:lnSpc>
                <a:spcPts val="1200"/>
              </a:lnSpc>
              <a:buNone/>
            </a:pPr>
            <a:r>
              <a:rPr lang="en-US" sz="850" dirty="0">
                <a:solidFill>
                  <a:srgbClr val="2A2E36"/>
                </a:solidFill>
                <a:latin typeface="Courier New" pitchFamily="34" charset="0"/>
                <a:ea typeface="Courier New" pitchFamily="34" charset="-122"/>
                <a:cs typeface="Courier New" pitchFamily="34" charset="-120"/>
              </a:rPr>
              <a:t>status: "no_results"</a:t>
            </a:r>
            <a:endParaRPr lang="en-US" sz="850" dirty="0"/>
          </a:p>
          <a:p>
            <a:pPr indent="0" marL="0">
              <a:lnSpc>
                <a:spcPts val="1200"/>
              </a:lnSpc>
              <a:buNone/>
            </a:pPr>
            <a:r>
              <a:rPr lang="en-US" sz="850" dirty="0">
                <a:solidFill>
                  <a:srgbClr val="2A2E36"/>
                </a:solidFill>
                <a:latin typeface="Courier New" pitchFamily="34" charset="0"/>
                <a:ea typeface="Courier New" pitchFamily="34" charset="-122"/>
                <a:cs typeface="Courier New" pitchFamily="34" charset="-120"/>
              </a:rPr>
              <a:t>hint: "Términos más amplios: sacá el código de falla,</a:t>
            </a:r>
            <a:endParaRPr lang="en-US" sz="850" dirty="0"/>
          </a:p>
          <a:p>
            <a:pPr indent="0" marL="0">
              <a:lnSpc>
                <a:spcPts val="1200"/>
              </a:lnSpc>
              <a:buNone/>
            </a:pPr>
            <a:r>
              <a:rPr lang="en-US" sz="850" dirty="0">
                <a:solidFill>
                  <a:srgbClr val="2A2E36"/>
                </a:solidFill>
                <a:latin typeface="Courier New" pitchFamily="34" charset="0"/>
                <a:ea typeface="Courier New" pitchFamily="34" charset="-122"/>
                <a:cs typeface="Courier New" pitchFamily="34" charset="-120"/>
              </a:rPr>
              <a:t>       buscá sólo por generator ID."</a:t>
            </a:r>
            <a:endParaRPr lang="en-US" sz="850" dirty="0"/>
          </a:p>
        </p:txBody>
      </p:sp>
      <p:sp>
        <p:nvSpPr>
          <p:cNvPr id="28" name="Shape 26"/>
          <p:cNvSpPr/>
          <p:nvPr/>
        </p:nvSpPr>
        <p:spPr>
          <a:xfrm>
            <a:off x="502920" y="4206240"/>
            <a:ext cx="64008" cy="475488"/>
          </a:xfrm>
          <a:prstGeom prst="rect">
            <a:avLst/>
          </a:prstGeom>
          <a:solidFill>
            <a:srgbClr val="E4572E"/>
          </a:solidFill>
          <a:ln/>
        </p:spPr>
      </p:sp>
      <p:sp>
        <p:nvSpPr>
          <p:cNvPr id="29" name="Text 27"/>
          <p:cNvSpPr/>
          <p:nvPr/>
        </p:nvSpPr>
        <p:spPr>
          <a:xfrm>
            <a:off x="704088" y="4206240"/>
            <a:ext cx="7936992" cy="237744"/>
          </a:xfrm>
          <a:prstGeom prst="rect">
            <a:avLst/>
          </a:prstGeom>
          <a:noFill/>
          <a:ln/>
        </p:spPr>
        <p:txBody>
          <a:bodyPr wrap="square" lIns="0" tIns="0" rIns="0" bIns="0" rtlCol="0" anchor="ctr"/>
          <a:lstStyle/>
          <a:p>
            <a:pPr indent="0" marL="0">
              <a:buNone/>
            </a:pPr>
            <a:r>
              <a:rPr lang="en-US" sz="1300" b="1" dirty="0">
                <a:solidFill>
                  <a:srgbClr val="16191F"/>
                </a:solidFill>
                <a:latin typeface="Calibri" pitchFamily="34" charset="0"/>
                <a:ea typeface="Calibri" pitchFamily="34" charset="-122"/>
                <a:cs typeface="Calibri" pitchFamily="34" charset="-120"/>
              </a:rPr>
              <a:t>El objetivo: que el agente nunca quede trabado sin saber qué probar.</a:t>
            </a:r>
            <a:endParaRPr lang="en-US" sz="1300" dirty="0"/>
          </a:p>
        </p:txBody>
      </p:sp>
      <p:sp>
        <p:nvSpPr>
          <p:cNvPr id="30" name="Text 28"/>
          <p:cNvSpPr/>
          <p:nvPr/>
        </p:nvSpPr>
        <p:spPr>
          <a:xfrm>
            <a:off x="704088" y="4443984"/>
            <a:ext cx="7936992" cy="219456"/>
          </a:xfrm>
          <a:prstGeom prst="rect">
            <a:avLst/>
          </a:prstGeom>
          <a:noFill/>
          <a:ln/>
        </p:spPr>
        <p:txBody>
          <a:bodyPr wrap="square" lIns="0" tIns="0" rIns="0" bIns="0" rtlCol="0" anchor="ctr"/>
          <a:lstStyle/>
          <a:p>
            <a:pPr indent="0" marL="0">
              <a:buNone/>
            </a:pPr>
            <a:r>
              <a:rPr lang="en-US" sz="1000" dirty="0">
                <a:solidFill>
                  <a:srgbClr val="6E7681"/>
                </a:solidFill>
                <a:latin typeface="Courier New" pitchFamily="34" charset="0"/>
                <a:ea typeface="Courier New" pitchFamily="34" charset="-122"/>
                <a:cs typeface="Courier New" pitchFamily="34" charset="-120"/>
              </a:rPr>
              <a:t>error  ·  why  ·  hint  ·  available_options  ·  searched_range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4" name="Text 2"/>
          <p:cNvSpPr/>
          <p:nvPr/>
        </p:nvSpPr>
        <p:spPr>
          <a:xfrm>
            <a:off x="978408" y="329184"/>
            <a:ext cx="7662672" cy="420624"/>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Empecé con 9 tools</a:t>
            </a:r>
            <a:endParaRPr lang="en-US" sz="2700" dirty="0"/>
          </a:p>
        </p:txBody>
      </p:sp>
      <p:sp>
        <p:nvSpPr>
          <p:cNvPr id="5" name="Text 3"/>
          <p:cNvSpPr/>
          <p:nvPr/>
        </p:nvSpPr>
        <p:spPr>
          <a:xfrm>
            <a:off x="978408" y="786384"/>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Agente de Three.js: el primer diseño le dio una tool a cada paso del workflow</a:t>
            </a:r>
            <a:endParaRPr lang="en-US" sz="1300" dirty="0"/>
          </a:p>
        </p:txBody>
      </p:sp>
      <p:sp>
        <p:nvSpPr>
          <p:cNvPr id="6" name="Shape 4"/>
          <p:cNvSpPr/>
          <p:nvPr/>
        </p:nvSpPr>
        <p:spPr>
          <a:xfrm>
            <a:off x="502920" y="1207008"/>
            <a:ext cx="8138160" cy="274320"/>
          </a:xfrm>
          <a:prstGeom prst="rect">
            <a:avLst/>
          </a:prstGeom>
          <a:solidFill>
            <a:srgbClr val="2A2E36"/>
          </a:solidFill>
          <a:ln/>
        </p:spPr>
      </p:sp>
      <p:sp>
        <p:nvSpPr>
          <p:cNvPr id="7" name="Text 5"/>
          <p:cNvSpPr/>
          <p:nvPr/>
        </p:nvSpPr>
        <p:spPr>
          <a:xfrm>
            <a:off x="630936" y="1207008"/>
            <a:ext cx="1828800" cy="274320"/>
          </a:xfrm>
          <a:prstGeom prst="rect">
            <a:avLst/>
          </a:prstGeom>
          <a:noFill/>
          <a:ln/>
        </p:spPr>
        <p:txBody>
          <a:bodyPr wrap="square" lIns="0" tIns="0" rIns="0" bIns="0" rtlCol="0" anchor="ctr"/>
          <a:lstStyle/>
          <a:p>
            <a:pPr indent="0" marL="0">
              <a:buNone/>
            </a:pPr>
            <a:r>
              <a:rPr lang="en-US" sz="950" b="1" spc="120" kern="0" dirty="0">
                <a:solidFill>
                  <a:srgbClr val="FFFFFF"/>
                </a:solidFill>
                <a:latin typeface="Arial" pitchFamily="34" charset="0"/>
                <a:ea typeface="Arial" pitchFamily="34" charset="-122"/>
                <a:cs typeface="Arial" pitchFamily="34" charset="-120"/>
              </a:rPr>
              <a:t>TOOL</a:t>
            </a:r>
            <a:endParaRPr lang="en-US" sz="950" dirty="0"/>
          </a:p>
        </p:txBody>
      </p:sp>
      <p:sp>
        <p:nvSpPr>
          <p:cNvPr id="8" name="Text 6"/>
          <p:cNvSpPr/>
          <p:nvPr/>
        </p:nvSpPr>
        <p:spPr>
          <a:xfrm>
            <a:off x="2514600" y="1207008"/>
            <a:ext cx="548640" cy="274320"/>
          </a:xfrm>
          <a:prstGeom prst="rect">
            <a:avLst/>
          </a:prstGeom>
          <a:noFill/>
          <a:ln/>
        </p:spPr>
        <p:txBody>
          <a:bodyPr wrap="square" lIns="0" tIns="0" rIns="0" bIns="0" rtlCol="0" anchor="ctr"/>
          <a:lstStyle/>
          <a:p>
            <a:pPr indent="0" marL="0">
              <a:buNone/>
            </a:pPr>
            <a:r>
              <a:rPr lang="en-US" sz="950" b="1" spc="120" kern="0" dirty="0">
                <a:solidFill>
                  <a:srgbClr val="FFFFFF"/>
                </a:solidFill>
                <a:latin typeface="Arial" pitchFamily="34" charset="0"/>
                <a:ea typeface="Arial" pitchFamily="34" charset="-122"/>
                <a:cs typeface="Arial" pitchFamily="34" charset="-120"/>
              </a:rPr>
              <a:t>¿VA?</a:t>
            </a:r>
            <a:endParaRPr lang="en-US" sz="950" dirty="0"/>
          </a:p>
        </p:txBody>
      </p:sp>
      <p:sp>
        <p:nvSpPr>
          <p:cNvPr id="9" name="Text 7"/>
          <p:cNvSpPr/>
          <p:nvPr/>
        </p:nvSpPr>
        <p:spPr>
          <a:xfrm>
            <a:off x="3200400" y="1207008"/>
            <a:ext cx="3657600" cy="274320"/>
          </a:xfrm>
          <a:prstGeom prst="rect">
            <a:avLst/>
          </a:prstGeom>
          <a:noFill/>
          <a:ln/>
        </p:spPr>
        <p:txBody>
          <a:bodyPr wrap="square" lIns="0" tIns="0" rIns="0" bIns="0" rtlCol="0" anchor="ctr"/>
          <a:lstStyle/>
          <a:p>
            <a:pPr indent="0" marL="0">
              <a:buNone/>
            </a:pPr>
            <a:r>
              <a:rPr lang="en-US" sz="950" b="1" spc="120" kern="0" dirty="0">
                <a:solidFill>
                  <a:srgbClr val="FFFFFF"/>
                </a:solidFill>
                <a:latin typeface="Arial" pitchFamily="34" charset="0"/>
                <a:ea typeface="Arial" pitchFamily="34" charset="-122"/>
                <a:cs typeface="Arial" pitchFamily="34" charset="-120"/>
              </a:rPr>
              <a:t>POR QUÉ</a:t>
            </a:r>
            <a:endParaRPr lang="en-US" sz="950" dirty="0"/>
          </a:p>
        </p:txBody>
      </p:sp>
      <p:sp>
        <p:nvSpPr>
          <p:cNvPr id="10" name="Shape 8"/>
          <p:cNvSpPr/>
          <p:nvPr/>
        </p:nvSpPr>
        <p:spPr>
          <a:xfrm>
            <a:off x="502920" y="1481328"/>
            <a:ext cx="8138160" cy="274320"/>
          </a:xfrm>
          <a:prstGeom prst="rect">
            <a:avLst/>
          </a:prstGeom>
          <a:solidFill>
            <a:srgbClr val="F1F2F4"/>
          </a:solidFill>
          <a:ln/>
        </p:spPr>
      </p:sp>
      <p:sp>
        <p:nvSpPr>
          <p:cNvPr id="11" name="Text 9"/>
          <p:cNvSpPr/>
          <p:nvPr/>
        </p:nvSpPr>
        <p:spPr>
          <a:xfrm>
            <a:off x="630936" y="1481328"/>
            <a:ext cx="1828800" cy="274320"/>
          </a:xfrm>
          <a:prstGeom prst="rect">
            <a:avLst/>
          </a:prstGeom>
          <a:noFill/>
          <a:ln/>
        </p:spPr>
        <p:txBody>
          <a:bodyPr wrap="square" lIns="0" tIns="0" rIns="0" bIns="0" rtlCol="0" anchor="ctr"/>
          <a:lstStyle/>
          <a:p>
            <a:pPr indent="0" marL="0">
              <a:buNone/>
            </a:pPr>
            <a:r>
              <a:rPr lang="en-US" sz="1000" strike="sngStrike" dirty="0">
                <a:solidFill>
                  <a:srgbClr val="6E7681"/>
                </a:solidFill>
                <a:latin typeface="Courier New" pitchFamily="34" charset="0"/>
                <a:ea typeface="Courier New" pitchFamily="34" charset="-122"/>
                <a:cs typeface="Courier New" pitchFamily="34" charset="-120"/>
              </a:rPr>
              <a:t>research_3d_references</a:t>
            </a:r>
            <a:endParaRPr lang="en-US" sz="1000" dirty="0"/>
          </a:p>
        </p:txBody>
      </p:sp>
      <p:sp>
        <p:nvSpPr>
          <p:cNvPr id="12" name="Text 10"/>
          <p:cNvSpPr/>
          <p:nvPr/>
        </p:nvSpPr>
        <p:spPr>
          <a:xfrm>
            <a:off x="2514600" y="1481328"/>
            <a:ext cx="548640" cy="274320"/>
          </a:xfrm>
          <a:prstGeom prst="rect">
            <a:avLst/>
          </a:prstGeom>
          <a:noFill/>
          <a:ln/>
        </p:spPr>
        <p:txBody>
          <a:bodyPr wrap="square" lIns="0" tIns="0" rIns="0" bIns="0" rtlCol="0" anchor="ctr"/>
          <a:lstStyle/>
          <a:p>
            <a:pPr indent="0" marL="0">
              <a:buNone/>
            </a:pPr>
            <a:r>
              <a:rPr lang="en-US" sz="1100" b="1" dirty="0">
                <a:solidFill>
                  <a:srgbClr val="A4232B"/>
                </a:solidFill>
                <a:latin typeface="Calibri" pitchFamily="34" charset="0"/>
                <a:ea typeface="Calibri" pitchFamily="34" charset="-122"/>
                <a:cs typeface="Calibri" pitchFamily="34" charset="-120"/>
              </a:rPr>
              <a:t>No</a:t>
            </a:r>
            <a:endParaRPr lang="en-US" sz="1100" dirty="0"/>
          </a:p>
        </p:txBody>
      </p:sp>
      <p:sp>
        <p:nvSpPr>
          <p:cNvPr id="13" name="Text 11"/>
          <p:cNvSpPr/>
          <p:nvPr/>
        </p:nvSpPr>
        <p:spPr>
          <a:xfrm>
            <a:off x="3200400" y="1481328"/>
            <a:ext cx="5349240" cy="274320"/>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Buscar referencias y datos ya lo hacía web search.</a:t>
            </a:r>
            <a:endParaRPr lang="en-US" sz="1100" dirty="0"/>
          </a:p>
        </p:txBody>
      </p:sp>
      <p:sp>
        <p:nvSpPr>
          <p:cNvPr id="14" name="Text 12"/>
          <p:cNvSpPr/>
          <p:nvPr/>
        </p:nvSpPr>
        <p:spPr>
          <a:xfrm>
            <a:off x="630936" y="1755648"/>
            <a:ext cx="1828800" cy="274320"/>
          </a:xfrm>
          <a:prstGeom prst="rect">
            <a:avLst/>
          </a:prstGeom>
          <a:noFill/>
          <a:ln/>
        </p:spPr>
        <p:txBody>
          <a:bodyPr wrap="square" lIns="0" tIns="0" rIns="0" bIns="0" rtlCol="0" anchor="ctr"/>
          <a:lstStyle/>
          <a:p>
            <a:pPr indent="0" marL="0">
              <a:buNone/>
            </a:pPr>
            <a:r>
              <a:rPr lang="en-US" sz="1000" strike="sngStrike" dirty="0">
                <a:solidFill>
                  <a:srgbClr val="6E7681"/>
                </a:solidFill>
                <a:latin typeface="Courier New" pitchFamily="34" charset="0"/>
                <a:ea typeface="Courier New" pitchFamily="34" charset="-122"/>
                <a:cs typeface="Courier New" pitchFamily="34" charset="-120"/>
              </a:rPr>
              <a:t>create_3d_scene</a:t>
            </a:r>
            <a:endParaRPr lang="en-US" sz="1000" dirty="0"/>
          </a:p>
        </p:txBody>
      </p:sp>
      <p:sp>
        <p:nvSpPr>
          <p:cNvPr id="15" name="Text 13"/>
          <p:cNvSpPr/>
          <p:nvPr/>
        </p:nvSpPr>
        <p:spPr>
          <a:xfrm>
            <a:off x="2514600" y="1755648"/>
            <a:ext cx="548640" cy="274320"/>
          </a:xfrm>
          <a:prstGeom prst="rect">
            <a:avLst/>
          </a:prstGeom>
          <a:noFill/>
          <a:ln/>
        </p:spPr>
        <p:txBody>
          <a:bodyPr wrap="square" lIns="0" tIns="0" rIns="0" bIns="0" rtlCol="0" anchor="ctr"/>
          <a:lstStyle/>
          <a:p>
            <a:pPr indent="0" marL="0">
              <a:buNone/>
            </a:pPr>
            <a:r>
              <a:rPr lang="en-US" sz="1100" b="1" dirty="0">
                <a:solidFill>
                  <a:srgbClr val="A4232B"/>
                </a:solidFill>
                <a:latin typeface="Calibri" pitchFamily="34" charset="0"/>
                <a:ea typeface="Calibri" pitchFamily="34" charset="-122"/>
                <a:cs typeface="Calibri" pitchFamily="34" charset="-120"/>
              </a:rPr>
              <a:t>No</a:t>
            </a:r>
            <a:endParaRPr lang="en-US" sz="1100" dirty="0"/>
          </a:p>
        </p:txBody>
      </p:sp>
      <p:sp>
        <p:nvSpPr>
          <p:cNvPr id="16" name="Text 14"/>
          <p:cNvSpPr/>
          <p:nvPr/>
        </p:nvSpPr>
        <p:spPr>
          <a:xfrm>
            <a:off x="3200400" y="1755648"/>
            <a:ext cx="5349240" cy="274320"/>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Crear la escena es escribir código Three.js, y eso lo hace el modelo.</a:t>
            </a:r>
            <a:endParaRPr lang="en-US" sz="1100" dirty="0"/>
          </a:p>
        </p:txBody>
      </p:sp>
      <p:sp>
        <p:nvSpPr>
          <p:cNvPr id="17" name="Shape 15"/>
          <p:cNvSpPr/>
          <p:nvPr/>
        </p:nvSpPr>
        <p:spPr>
          <a:xfrm>
            <a:off x="502920" y="2029968"/>
            <a:ext cx="8138160" cy="274320"/>
          </a:xfrm>
          <a:prstGeom prst="rect">
            <a:avLst/>
          </a:prstGeom>
          <a:solidFill>
            <a:srgbClr val="F1F2F4"/>
          </a:solidFill>
          <a:ln/>
        </p:spPr>
      </p:sp>
      <p:sp>
        <p:nvSpPr>
          <p:cNvPr id="18" name="Text 16"/>
          <p:cNvSpPr/>
          <p:nvPr/>
        </p:nvSpPr>
        <p:spPr>
          <a:xfrm>
            <a:off x="630936" y="2029968"/>
            <a:ext cx="1828800" cy="274320"/>
          </a:xfrm>
          <a:prstGeom prst="rect">
            <a:avLst/>
          </a:prstGeom>
          <a:noFill/>
          <a:ln/>
        </p:spPr>
        <p:txBody>
          <a:bodyPr wrap="square" lIns="0" tIns="0" rIns="0" bIns="0" rtlCol="0" anchor="ctr"/>
          <a:lstStyle/>
          <a:p>
            <a:pPr indent="0" marL="0">
              <a:buNone/>
            </a:pPr>
            <a:r>
              <a:rPr lang="en-US" sz="1000" strike="sngStrike" dirty="0">
                <a:solidFill>
                  <a:srgbClr val="6E7681"/>
                </a:solidFill>
                <a:latin typeface="Courier New" pitchFamily="34" charset="0"/>
                <a:ea typeface="Courier New" pitchFamily="34" charset="-122"/>
                <a:cs typeface="Courier New" pitchFamily="34" charset="-120"/>
              </a:rPr>
              <a:t>import_3d_asset</a:t>
            </a:r>
            <a:endParaRPr lang="en-US" sz="1000" dirty="0"/>
          </a:p>
        </p:txBody>
      </p:sp>
      <p:sp>
        <p:nvSpPr>
          <p:cNvPr id="19" name="Text 17"/>
          <p:cNvSpPr/>
          <p:nvPr/>
        </p:nvSpPr>
        <p:spPr>
          <a:xfrm>
            <a:off x="2514600" y="2029968"/>
            <a:ext cx="548640" cy="274320"/>
          </a:xfrm>
          <a:prstGeom prst="rect">
            <a:avLst/>
          </a:prstGeom>
          <a:noFill/>
          <a:ln/>
        </p:spPr>
        <p:txBody>
          <a:bodyPr wrap="square" lIns="0" tIns="0" rIns="0" bIns="0" rtlCol="0" anchor="ctr"/>
          <a:lstStyle/>
          <a:p>
            <a:pPr indent="0" marL="0">
              <a:buNone/>
            </a:pPr>
            <a:r>
              <a:rPr lang="en-US" sz="1100" b="1" dirty="0">
                <a:solidFill>
                  <a:srgbClr val="A4232B"/>
                </a:solidFill>
                <a:latin typeface="Calibri" pitchFamily="34" charset="0"/>
                <a:ea typeface="Calibri" pitchFamily="34" charset="-122"/>
                <a:cs typeface="Calibri" pitchFamily="34" charset="-120"/>
              </a:rPr>
              <a:t>No</a:t>
            </a:r>
            <a:endParaRPr lang="en-US" sz="1100" dirty="0"/>
          </a:p>
        </p:txBody>
      </p:sp>
      <p:sp>
        <p:nvSpPr>
          <p:cNvPr id="20" name="Text 18"/>
          <p:cNvSpPr/>
          <p:nvPr/>
        </p:nvSpPr>
        <p:spPr>
          <a:xfrm>
            <a:off x="3200400" y="2029968"/>
            <a:ext cx="5349240" cy="274320"/>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No se importa un asset: el modelo entrega el código Three.js completo.</a:t>
            </a:r>
            <a:endParaRPr lang="en-US" sz="1100" dirty="0"/>
          </a:p>
        </p:txBody>
      </p:sp>
      <p:sp>
        <p:nvSpPr>
          <p:cNvPr id="21" name="Text 19"/>
          <p:cNvSpPr/>
          <p:nvPr/>
        </p:nvSpPr>
        <p:spPr>
          <a:xfrm>
            <a:off x="630936" y="2304288"/>
            <a:ext cx="1828800" cy="274320"/>
          </a:xfrm>
          <a:prstGeom prst="rect">
            <a:avLst/>
          </a:prstGeom>
          <a:noFill/>
          <a:ln/>
        </p:spPr>
        <p:txBody>
          <a:bodyPr wrap="square" lIns="0" tIns="0" rIns="0" bIns="0" rtlCol="0" anchor="ctr"/>
          <a:lstStyle/>
          <a:p>
            <a:pPr indent="0" marL="0">
              <a:buNone/>
            </a:pPr>
            <a:r>
              <a:rPr lang="en-US" sz="1000" strike="sngStrike" dirty="0">
                <a:solidFill>
                  <a:srgbClr val="6E7681"/>
                </a:solidFill>
                <a:latin typeface="Courier New" pitchFamily="34" charset="0"/>
                <a:ea typeface="Courier New" pitchFamily="34" charset="-122"/>
                <a:cs typeface="Courier New" pitchFamily="34" charset="-120"/>
              </a:rPr>
              <a:t>edit_3d_scene</a:t>
            </a:r>
            <a:endParaRPr lang="en-US" sz="1000" dirty="0"/>
          </a:p>
        </p:txBody>
      </p:sp>
      <p:sp>
        <p:nvSpPr>
          <p:cNvPr id="22" name="Text 20"/>
          <p:cNvSpPr/>
          <p:nvPr/>
        </p:nvSpPr>
        <p:spPr>
          <a:xfrm>
            <a:off x="2514600" y="2304288"/>
            <a:ext cx="548640" cy="274320"/>
          </a:xfrm>
          <a:prstGeom prst="rect">
            <a:avLst/>
          </a:prstGeom>
          <a:noFill/>
          <a:ln/>
        </p:spPr>
        <p:txBody>
          <a:bodyPr wrap="square" lIns="0" tIns="0" rIns="0" bIns="0" rtlCol="0" anchor="ctr"/>
          <a:lstStyle/>
          <a:p>
            <a:pPr indent="0" marL="0">
              <a:buNone/>
            </a:pPr>
            <a:r>
              <a:rPr lang="en-US" sz="1100" b="1" dirty="0">
                <a:solidFill>
                  <a:srgbClr val="A4232B"/>
                </a:solidFill>
                <a:latin typeface="Calibri" pitchFamily="34" charset="0"/>
                <a:ea typeface="Calibri" pitchFamily="34" charset="-122"/>
                <a:cs typeface="Calibri" pitchFamily="34" charset="-120"/>
              </a:rPr>
              <a:t>No</a:t>
            </a:r>
            <a:endParaRPr lang="en-US" sz="1100" dirty="0"/>
          </a:p>
        </p:txBody>
      </p:sp>
      <p:sp>
        <p:nvSpPr>
          <p:cNvPr id="23" name="Text 21"/>
          <p:cNvSpPr/>
          <p:nvPr/>
        </p:nvSpPr>
        <p:spPr>
          <a:xfrm>
            <a:off x="3200400" y="2304288"/>
            <a:ext cx="5349240" cy="274320"/>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Editar es reescribir el código y volver a renderizar.</a:t>
            </a:r>
            <a:endParaRPr lang="en-US" sz="1100" dirty="0"/>
          </a:p>
        </p:txBody>
      </p:sp>
      <p:sp>
        <p:nvSpPr>
          <p:cNvPr id="24" name="Shape 22"/>
          <p:cNvSpPr/>
          <p:nvPr/>
        </p:nvSpPr>
        <p:spPr>
          <a:xfrm>
            <a:off x="502920" y="2578608"/>
            <a:ext cx="8138160" cy="274320"/>
          </a:xfrm>
          <a:prstGeom prst="rect">
            <a:avLst/>
          </a:prstGeom>
          <a:solidFill>
            <a:srgbClr val="F1F2F4"/>
          </a:solidFill>
          <a:ln/>
        </p:spPr>
      </p:sp>
      <p:sp>
        <p:nvSpPr>
          <p:cNvPr id="25" name="Text 23"/>
          <p:cNvSpPr/>
          <p:nvPr/>
        </p:nvSpPr>
        <p:spPr>
          <a:xfrm>
            <a:off x="630936" y="2578608"/>
            <a:ext cx="1828800" cy="274320"/>
          </a:xfrm>
          <a:prstGeom prst="rect">
            <a:avLst/>
          </a:prstGeom>
          <a:noFill/>
          <a:ln/>
        </p:spPr>
        <p:txBody>
          <a:bodyPr wrap="square" lIns="0" tIns="0" rIns="0" bIns="0" rtlCol="0" anchor="ctr"/>
          <a:lstStyle/>
          <a:p>
            <a:pPr indent="0" marL="0">
              <a:buNone/>
            </a:pPr>
            <a:r>
              <a:rPr lang="en-US" sz="1000" strike="sngStrike" dirty="0">
                <a:solidFill>
                  <a:srgbClr val="6E7681"/>
                </a:solidFill>
                <a:latin typeface="Courier New" pitchFamily="34" charset="0"/>
                <a:ea typeface="Courier New" pitchFamily="34" charset="-122"/>
                <a:cs typeface="Courier New" pitchFamily="34" charset="-120"/>
              </a:rPr>
              <a:t>compose_3d_scene</a:t>
            </a:r>
            <a:endParaRPr lang="en-US" sz="1000" dirty="0"/>
          </a:p>
        </p:txBody>
      </p:sp>
      <p:sp>
        <p:nvSpPr>
          <p:cNvPr id="26" name="Text 24"/>
          <p:cNvSpPr/>
          <p:nvPr/>
        </p:nvSpPr>
        <p:spPr>
          <a:xfrm>
            <a:off x="2514600" y="2578608"/>
            <a:ext cx="548640" cy="274320"/>
          </a:xfrm>
          <a:prstGeom prst="rect">
            <a:avLst/>
          </a:prstGeom>
          <a:noFill/>
          <a:ln/>
        </p:spPr>
        <p:txBody>
          <a:bodyPr wrap="square" lIns="0" tIns="0" rIns="0" bIns="0" rtlCol="0" anchor="ctr"/>
          <a:lstStyle/>
          <a:p>
            <a:pPr indent="0" marL="0">
              <a:buNone/>
            </a:pPr>
            <a:r>
              <a:rPr lang="en-US" sz="1100" b="1" dirty="0">
                <a:solidFill>
                  <a:srgbClr val="A4232B"/>
                </a:solidFill>
                <a:latin typeface="Calibri" pitchFamily="34" charset="0"/>
                <a:ea typeface="Calibri" pitchFamily="34" charset="-122"/>
                <a:cs typeface="Calibri" pitchFamily="34" charset="-120"/>
              </a:rPr>
              <a:t>No</a:t>
            </a:r>
            <a:endParaRPr lang="en-US" sz="1100" dirty="0"/>
          </a:p>
        </p:txBody>
      </p:sp>
      <p:sp>
        <p:nvSpPr>
          <p:cNvPr id="27" name="Text 25"/>
          <p:cNvSpPr/>
          <p:nvPr/>
        </p:nvSpPr>
        <p:spPr>
          <a:xfrm>
            <a:off x="3200400" y="2578608"/>
            <a:ext cx="5349240" cy="274320"/>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Componer es una decisión del modelo, no una acción externa.</a:t>
            </a:r>
            <a:endParaRPr lang="en-US" sz="1100" dirty="0"/>
          </a:p>
        </p:txBody>
      </p:sp>
      <p:sp>
        <p:nvSpPr>
          <p:cNvPr id="28" name="Text 26"/>
          <p:cNvSpPr/>
          <p:nvPr/>
        </p:nvSpPr>
        <p:spPr>
          <a:xfrm>
            <a:off x="630936" y="2852928"/>
            <a:ext cx="1828800" cy="274320"/>
          </a:xfrm>
          <a:prstGeom prst="rect">
            <a:avLst/>
          </a:prstGeom>
          <a:noFill/>
          <a:ln/>
        </p:spPr>
        <p:txBody>
          <a:bodyPr wrap="square" lIns="0" tIns="0" rIns="0" bIns="0" rtlCol="0" anchor="ctr"/>
          <a:lstStyle/>
          <a:p>
            <a:pPr indent="0" marL="0">
              <a:buNone/>
            </a:pPr>
            <a:r>
              <a:rPr lang="en-US" sz="1000" b="1" dirty="0">
                <a:solidFill>
                  <a:srgbClr val="12715B"/>
                </a:solidFill>
                <a:latin typeface="Courier New" pitchFamily="34" charset="0"/>
                <a:ea typeface="Courier New" pitchFamily="34" charset="-122"/>
                <a:cs typeface="Courier New" pitchFamily="34" charset="-120"/>
              </a:rPr>
              <a:t>render_3d_preview</a:t>
            </a:r>
            <a:endParaRPr lang="en-US" sz="1000" dirty="0"/>
          </a:p>
        </p:txBody>
      </p:sp>
      <p:sp>
        <p:nvSpPr>
          <p:cNvPr id="29" name="Text 27"/>
          <p:cNvSpPr/>
          <p:nvPr/>
        </p:nvSpPr>
        <p:spPr>
          <a:xfrm>
            <a:off x="2514600" y="2852928"/>
            <a:ext cx="548640" cy="274320"/>
          </a:xfrm>
          <a:prstGeom prst="rect">
            <a:avLst/>
          </a:prstGeom>
          <a:noFill/>
          <a:ln/>
        </p:spPr>
        <p:txBody>
          <a:bodyPr wrap="square" lIns="0" tIns="0" rIns="0" bIns="0" rtlCol="0" anchor="ctr"/>
          <a:lstStyle/>
          <a:p>
            <a:pPr indent="0" marL="0">
              <a:buNone/>
            </a:pPr>
            <a:r>
              <a:rPr lang="en-US" sz="1100" b="1" dirty="0">
                <a:solidFill>
                  <a:srgbClr val="12715B"/>
                </a:solidFill>
                <a:latin typeface="Calibri" pitchFamily="34" charset="0"/>
                <a:ea typeface="Calibri" pitchFamily="34" charset="-122"/>
                <a:cs typeface="Calibri" pitchFamily="34" charset="-120"/>
              </a:rPr>
              <a:t>Sí</a:t>
            </a:r>
            <a:endParaRPr lang="en-US" sz="1100" dirty="0"/>
          </a:p>
        </p:txBody>
      </p:sp>
      <p:sp>
        <p:nvSpPr>
          <p:cNvPr id="30" name="Text 28"/>
          <p:cNvSpPr/>
          <p:nvPr/>
        </p:nvSpPr>
        <p:spPr>
          <a:xfrm>
            <a:off x="3200400" y="2852928"/>
            <a:ext cx="5349240" cy="274320"/>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Ejecutar WebGL necesita un runtime que el modelo no tiene.</a:t>
            </a:r>
            <a:endParaRPr lang="en-US" sz="1100" dirty="0"/>
          </a:p>
        </p:txBody>
      </p:sp>
      <p:sp>
        <p:nvSpPr>
          <p:cNvPr id="31" name="Shape 29"/>
          <p:cNvSpPr/>
          <p:nvPr/>
        </p:nvSpPr>
        <p:spPr>
          <a:xfrm>
            <a:off x="502920" y="3127248"/>
            <a:ext cx="8138160" cy="274320"/>
          </a:xfrm>
          <a:prstGeom prst="rect">
            <a:avLst/>
          </a:prstGeom>
          <a:solidFill>
            <a:srgbClr val="F1F2F4"/>
          </a:solidFill>
          <a:ln/>
        </p:spPr>
      </p:sp>
      <p:sp>
        <p:nvSpPr>
          <p:cNvPr id="32" name="Text 30"/>
          <p:cNvSpPr/>
          <p:nvPr/>
        </p:nvSpPr>
        <p:spPr>
          <a:xfrm>
            <a:off x="630936" y="3127248"/>
            <a:ext cx="1828800" cy="274320"/>
          </a:xfrm>
          <a:prstGeom prst="rect">
            <a:avLst/>
          </a:prstGeom>
          <a:noFill/>
          <a:ln/>
        </p:spPr>
        <p:txBody>
          <a:bodyPr wrap="square" lIns="0" tIns="0" rIns="0" bIns="0" rtlCol="0" anchor="ctr"/>
          <a:lstStyle/>
          <a:p>
            <a:pPr indent="0" marL="0">
              <a:buNone/>
            </a:pPr>
            <a:r>
              <a:rPr lang="en-US" sz="1000" b="1" dirty="0">
                <a:solidFill>
                  <a:srgbClr val="12715B"/>
                </a:solidFill>
                <a:latin typeface="Courier New" pitchFamily="34" charset="0"/>
                <a:ea typeface="Courier New" pitchFamily="34" charset="-122"/>
                <a:cs typeface="Courier New" pitchFamily="34" charset="-120"/>
              </a:rPr>
              <a:t>capture_3d_scene</a:t>
            </a:r>
            <a:endParaRPr lang="en-US" sz="1000" dirty="0"/>
          </a:p>
        </p:txBody>
      </p:sp>
      <p:sp>
        <p:nvSpPr>
          <p:cNvPr id="33" name="Text 31"/>
          <p:cNvSpPr/>
          <p:nvPr/>
        </p:nvSpPr>
        <p:spPr>
          <a:xfrm>
            <a:off x="2514600" y="3127248"/>
            <a:ext cx="548640" cy="274320"/>
          </a:xfrm>
          <a:prstGeom prst="rect">
            <a:avLst/>
          </a:prstGeom>
          <a:noFill/>
          <a:ln/>
        </p:spPr>
        <p:txBody>
          <a:bodyPr wrap="square" lIns="0" tIns="0" rIns="0" bIns="0" rtlCol="0" anchor="ctr"/>
          <a:lstStyle/>
          <a:p>
            <a:pPr indent="0" marL="0">
              <a:buNone/>
            </a:pPr>
            <a:r>
              <a:rPr lang="en-US" sz="1100" b="1" dirty="0">
                <a:solidFill>
                  <a:srgbClr val="12715B"/>
                </a:solidFill>
                <a:latin typeface="Calibri" pitchFamily="34" charset="0"/>
                <a:ea typeface="Calibri" pitchFamily="34" charset="-122"/>
                <a:cs typeface="Calibri" pitchFamily="34" charset="-120"/>
              </a:rPr>
              <a:t>Sí</a:t>
            </a:r>
            <a:endParaRPr lang="en-US" sz="1100" dirty="0"/>
          </a:p>
        </p:txBody>
      </p:sp>
      <p:sp>
        <p:nvSpPr>
          <p:cNvPr id="34" name="Text 32"/>
          <p:cNvSpPr/>
          <p:nvPr/>
        </p:nvSpPr>
        <p:spPr>
          <a:xfrm>
            <a:off x="3200400" y="3127248"/>
            <a:ext cx="5349240" cy="274320"/>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Sacarle fotos al render sí requiere una capacidad externa.</a:t>
            </a:r>
            <a:endParaRPr lang="en-US" sz="1100" dirty="0"/>
          </a:p>
        </p:txBody>
      </p:sp>
      <p:sp>
        <p:nvSpPr>
          <p:cNvPr id="35" name="Text 33"/>
          <p:cNvSpPr/>
          <p:nvPr/>
        </p:nvSpPr>
        <p:spPr>
          <a:xfrm>
            <a:off x="630936" y="3401568"/>
            <a:ext cx="1828800" cy="274320"/>
          </a:xfrm>
          <a:prstGeom prst="rect">
            <a:avLst/>
          </a:prstGeom>
          <a:noFill/>
          <a:ln/>
        </p:spPr>
        <p:txBody>
          <a:bodyPr wrap="square" lIns="0" tIns="0" rIns="0" bIns="0" rtlCol="0" anchor="ctr"/>
          <a:lstStyle/>
          <a:p>
            <a:pPr indent="0" marL="0">
              <a:buNone/>
            </a:pPr>
            <a:r>
              <a:rPr lang="en-US" sz="1000" strike="sngStrike" dirty="0">
                <a:solidFill>
                  <a:srgbClr val="6E7681"/>
                </a:solidFill>
                <a:latin typeface="Courier New" pitchFamily="34" charset="0"/>
                <a:ea typeface="Courier New" pitchFamily="34" charset="-122"/>
                <a:cs typeface="Courier New" pitchFamily="34" charset="-120"/>
              </a:rPr>
              <a:t>inspect_3d_render</a:t>
            </a:r>
            <a:endParaRPr lang="en-US" sz="1000" dirty="0"/>
          </a:p>
        </p:txBody>
      </p:sp>
      <p:sp>
        <p:nvSpPr>
          <p:cNvPr id="36" name="Text 34"/>
          <p:cNvSpPr/>
          <p:nvPr/>
        </p:nvSpPr>
        <p:spPr>
          <a:xfrm>
            <a:off x="2514600" y="3401568"/>
            <a:ext cx="548640" cy="274320"/>
          </a:xfrm>
          <a:prstGeom prst="rect">
            <a:avLst/>
          </a:prstGeom>
          <a:noFill/>
          <a:ln/>
        </p:spPr>
        <p:txBody>
          <a:bodyPr wrap="square" lIns="0" tIns="0" rIns="0" bIns="0" rtlCol="0" anchor="ctr"/>
          <a:lstStyle/>
          <a:p>
            <a:pPr indent="0" marL="0">
              <a:buNone/>
            </a:pPr>
            <a:r>
              <a:rPr lang="en-US" sz="1100" b="1" dirty="0">
                <a:solidFill>
                  <a:srgbClr val="A4232B"/>
                </a:solidFill>
                <a:latin typeface="Calibri" pitchFamily="34" charset="0"/>
                <a:ea typeface="Calibri" pitchFamily="34" charset="-122"/>
                <a:cs typeface="Calibri" pitchFamily="34" charset="-120"/>
              </a:rPr>
              <a:t>No</a:t>
            </a:r>
            <a:endParaRPr lang="en-US" sz="1100" dirty="0"/>
          </a:p>
        </p:txBody>
      </p:sp>
      <p:sp>
        <p:nvSpPr>
          <p:cNvPr id="37" name="Text 35"/>
          <p:cNvSpPr/>
          <p:nvPr/>
        </p:nvSpPr>
        <p:spPr>
          <a:xfrm>
            <a:off x="3200400" y="3401568"/>
            <a:ext cx="5349240" cy="274320"/>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El modelo ya analiza la imagen que recibe; no hay que pedírsela a una tool.</a:t>
            </a:r>
            <a:endParaRPr lang="en-US" sz="1100" dirty="0"/>
          </a:p>
        </p:txBody>
      </p:sp>
      <p:sp>
        <p:nvSpPr>
          <p:cNvPr id="38" name="Shape 36"/>
          <p:cNvSpPr/>
          <p:nvPr/>
        </p:nvSpPr>
        <p:spPr>
          <a:xfrm>
            <a:off x="502920" y="3675888"/>
            <a:ext cx="8138160" cy="274320"/>
          </a:xfrm>
          <a:prstGeom prst="rect">
            <a:avLst/>
          </a:prstGeom>
          <a:solidFill>
            <a:srgbClr val="F1F2F4"/>
          </a:solidFill>
          <a:ln/>
        </p:spPr>
      </p:sp>
      <p:sp>
        <p:nvSpPr>
          <p:cNvPr id="39" name="Text 37"/>
          <p:cNvSpPr/>
          <p:nvPr/>
        </p:nvSpPr>
        <p:spPr>
          <a:xfrm>
            <a:off x="630936" y="3675888"/>
            <a:ext cx="1828800" cy="274320"/>
          </a:xfrm>
          <a:prstGeom prst="rect">
            <a:avLst/>
          </a:prstGeom>
          <a:noFill/>
          <a:ln/>
        </p:spPr>
        <p:txBody>
          <a:bodyPr wrap="square" lIns="0" tIns="0" rIns="0" bIns="0" rtlCol="0" anchor="ctr"/>
          <a:lstStyle/>
          <a:p>
            <a:pPr indent="0" marL="0">
              <a:buNone/>
            </a:pPr>
            <a:r>
              <a:rPr lang="en-US" sz="1000" b="1" dirty="0">
                <a:solidFill>
                  <a:srgbClr val="12715B"/>
                </a:solidFill>
                <a:latin typeface="Courier New" pitchFamily="34" charset="0"/>
                <a:ea typeface="Courier New" pitchFamily="34" charset="-122"/>
                <a:cs typeface="Courier New" pitchFamily="34" charset="-120"/>
              </a:rPr>
              <a:t>publish_3d_scene</a:t>
            </a:r>
            <a:endParaRPr lang="en-US" sz="1000" dirty="0"/>
          </a:p>
        </p:txBody>
      </p:sp>
      <p:sp>
        <p:nvSpPr>
          <p:cNvPr id="40" name="Text 38"/>
          <p:cNvSpPr/>
          <p:nvPr/>
        </p:nvSpPr>
        <p:spPr>
          <a:xfrm>
            <a:off x="2514600" y="3675888"/>
            <a:ext cx="548640" cy="274320"/>
          </a:xfrm>
          <a:prstGeom prst="rect">
            <a:avLst/>
          </a:prstGeom>
          <a:noFill/>
          <a:ln/>
        </p:spPr>
        <p:txBody>
          <a:bodyPr wrap="square" lIns="0" tIns="0" rIns="0" bIns="0" rtlCol="0" anchor="ctr"/>
          <a:lstStyle/>
          <a:p>
            <a:pPr indent="0" marL="0">
              <a:buNone/>
            </a:pPr>
            <a:r>
              <a:rPr lang="en-US" sz="1100" b="1" dirty="0">
                <a:solidFill>
                  <a:srgbClr val="12715B"/>
                </a:solidFill>
                <a:latin typeface="Calibri" pitchFamily="34" charset="0"/>
                <a:ea typeface="Calibri" pitchFamily="34" charset="-122"/>
                <a:cs typeface="Calibri" pitchFamily="34" charset="-120"/>
              </a:rPr>
              <a:t>Sí</a:t>
            </a:r>
            <a:endParaRPr lang="en-US" sz="1100" dirty="0"/>
          </a:p>
        </p:txBody>
      </p:sp>
      <p:sp>
        <p:nvSpPr>
          <p:cNvPr id="41" name="Text 39"/>
          <p:cNvSpPr/>
          <p:nvPr/>
        </p:nvSpPr>
        <p:spPr>
          <a:xfrm>
            <a:off x="3200400" y="3675888"/>
            <a:ext cx="5349240" cy="274320"/>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Publicar cambia estado y le entrega el resultado al usuario.</a:t>
            </a:r>
            <a:endParaRPr lang="en-US" sz="1100" dirty="0"/>
          </a:p>
        </p:txBody>
      </p:sp>
      <p:sp>
        <p:nvSpPr>
          <p:cNvPr id="42" name="Shape 40"/>
          <p:cNvSpPr/>
          <p:nvPr/>
        </p:nvSpPr>
        <p:spPr>
          <a:xfrm>
            <a:off x="502920" y="4114800"/>
            <a:ext cx="64008" cy="457200"/>
          </a:xfrm>
          <a:prstGeom prst="rect">
            <a:avLst/>
          </a:prstGeom>
          <a:solidFill>
            <a:srgbClr val="E4572E"/>
          </a:solidFill>
          <a:ln/>
        </p:spPr>
      </p:sp>
      <p:sp>
        <p:nvSpPr>
          <p:cNvPr id="43" name="Text 41"/>
          <p:cNvSpPr/>
          <p:nvPr/>
        </p:nvSpPr>
        <p:spPr>
          <a:xfrm>
            <a:off x="704088" y="4114800"/>
            <a:ext cx="7936992" cy="457200"/>
          </a:xfrm>
          <a:prstGeom prst="rect">
            <a:avLst/>
          </a:prstGeom>
          <a:noFill/>
          <a:ln/>
        </p:spPr>
        <p:txBody>
          <a:bodyPr wrap="square" lIns="0" tIns="0" rIns="0" bIns="0" rtlCol="0" anchor="ctr"/>
          <a:lstStyle/>
          <a:p>
            <a:pPr indent="0" marL="0">
              <a:buNone/>
            </a:pPr>
            <a:r>
              <a:rPr lang="en-US" sz="1300" b="1" dirty="0">
                <a:solidFill>
                  <a:srgbClr val="16191F"/>
                </a:solidFill>
                <a:latin typeface="Calibri" pitchFamily="34" charset="0"/>
                <a:ea typeface="Calibri" pitchFamily="34" charset="-122"/>
                <a:cs typeface="Calibri" pitchFamily="34" charset="-120"/>
              </a:rPr>
              <a:t>Las 6 descartadas no estaban rotas: convertían en tool algo que el modelo ya resolvía solo.</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4" name="Text 2"/>
          <p:cNvSpPr/>
          <p:nvPr/>
        </p:nvSpPr>
        <p:spPr>
          <a:xfrm>
            <a:off x="978408" y="329184"/>
            <a:ext cx="7662672" cy="420624"/>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Terminé con 3</a:t>
            </a:r>
            <a:endParaRPr lang="en-US" sz="2700" dirty="0"/>
          </a:p>
        </p:txBody>
      </p:sp>
      <p:sp>
        <p:nvSpPr>
          <p:cNvPr id="5" name="Text 3"/>
          <p:cNvSpPr/>
          <p:nvPr/>
        </p:nvSpPr>
        <p:spPr>
          <a:xfrm>
            <a:off x="978408" y="786384"/>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Cada una produce un efecto externo distinto y verificable</a:t>
            </a:r>
            <a:endParaRPr lang="en-US" sz="1300" dirty="0"/>
          </a:p>
        </p:txBody>
      </p:sp>
      <p:sp>
        <p:nvSpPr>
          <p:cNvPr id="6" name="Shape 4"/>
          <p:cNvSpPr/>
          <p:nvPr/>
        </p:nvSpPr>
        <p:spPr>
          <a:xfrm>
            <a:off x="502920" y="1188720"/>
            <a:ext cx="8138160" cy="841248"/>
          </a:xfrm>
          <a:prstGeom prst="rect">
            <a:avLst/>
          </a:prstGeom>
          <a:solidFill>
            <a:srgbClr val="F1F2F4"/>
          </a:solidFill>
          <a:ln/>
        </p:spPr>
      </p:sp>
      <p:sp>
        <p:nvSpPr>
          <p:cNvPr id="7" name="Shape 5"/>
          <p:cNvSpPr/>
          <p:nvPr/>
        </p:nvSpPr>
        <p:spPr>
          <a:xfrm>
            <a:off x="502920" y="1188720"/>
            <a:ext cx="54864" cy="841248"/>
          </a:xfrm>
          <a:prstGeom prst="rect">
            <a:avLst/>
          </a:prstGeom>
          <a:solidFill>
            <a:srgbClr val="12715B"/>
          </a:solidFill>
          <a:ln/>
        </p:spPr>
      </p:sp>
      <p:sp>
        <p:nvSpPr>
          <p:cNvPr id="8" name="Text 6"/>
          <p:cNvSpPr/>
          <p:nvPr/>
        </p:nvSpPr>
        <p:spPr>
          <a:xfrm>
            <a:off x="704088" y="1234440"/>
            <a:ext cx="7772400" cy="237744"/>
          </a:xfrm>
          <a:prstGeom prst="rect">
            <a:avLst/>
          </a:prstGeom>
          <a:noFill/>
          <a:ln/>
        </p:spPr>
        <p:txBody>
          <a:bodyPr wrap="square" lIns="0" tIns="0" rIns="0" bIns="0" rtlCol="0" anchor="ctr"/>
          <a:lstStyle/>
          <a:p>
            <a:pPr indent="0" marL="0">
              <a:buNone/>
            </a:pPr>
            <a:r>
              <a:rPr lang="en-US" sz="1200" b="1" dirty="0">
                <a:solidFill>
                  <a:srgbClr val="16191F"/>
                </a:solidFill>
                <a:latin typeface="Courier New" pitchFamily="34" charset="0"/>
                <a:ea typeface="Courier New" pitchFamily="34" charset="-122"/>
                <a:cs typeface="Courier New" pitchFamily="34" charset="-120"/>
              </a:rPr>
              <a:t>render_threejs_scene</a:t>
            </a:r>
            <a:endParaRPr lang="en-US" sz="1200" dirty="0"/>
          </a:p>
        </p:txBody>
      </p:sp>
      <p:sp>
        <p:nvSpPr>
          <p:cNvPr id="9" name="Text 7"/>
          <p:cNvSpPr/>
          <p:nvPr/>
        </p:nvSpPr>
        <p:spPr>
          <a:xfrm>
            <a:off x="704088" y="1472184"/>
            <a:ext cx="7772400" cy="237744"/>
          </a:xfrm>
          <a:prstGeom prst="rect">
            <a:avLst/>
          </a:prstGeom>
          <a:noFill/>
          <a:ln/>
        </p:spPr>
        <p:txBody>
          <a:bodyPr wrap="square" lIns="0" tIns="0" rIns="0" bIns="0" rtlCol="0" anchor="ctr"/>
          <a:lstStyle/>
          <a:p>
            <a:pPr indent="0" marL="0">
              <a:buNone/>
            </a:pPr>
            <a:r>
              <a:rPr lang="en-US" sz="1200" dirty="0">
                <a:solidFill>
                  <a:srgbClr val="2A2E36"/>
                </a:solidFill>
                <a:latin typeface="Calibri" pitchFamily="34" charset="0"/>
                <a:ea typeface="Calibri" pitchFamily="34" charset="-122"/>
                <a:cs typeface="Calibri" pitchFamily="34" charset="-120"/>
              </a:rPr>
              <a:t>Ejecuta el código Three.js en PuKi y devuelve la escena renderizada, los errores y las métricas.</a:t>
            </a:r>
            <a:endParaRPr lang="en-US" sz="1200" dirty="0"/>
          </a:p>
        </p:txBody>
      </p:sp>
      <p:sp>
        <p:nvSpPr>
          <p:cNvPr id="10" name="Text 8"/>
          <p:cNvSpPr/>
          <p:nvPr/>
        </p:nvSpPr>
        <p:spPr>
          <a:xfrm>
            <a:off x="704088" y="1719072"/>
            <a:ext cx="7772400" cy="237744"/>
          </a:xfrm>
          <a:prstGeom prst="rect">
            <a:avLst/>
          </a:prstGeom>
          <a:noFill/>
          <a:ln/>
        </p:spPr>
        <p:txBody>
          <a:bodyPr wrap="square" lIns="0" tIns="0" rIns="0" bIns="0" rtlCol="0" anchor="ctr"/>
          <a:lstStyle/>
          <a:p>
            <a:pPr indent="0" marL="0">
              <a:buNone/>
            </a:pPr>
            <a:r>
              <a:rPr lang="en-US" sz="1100" i="1" dirty="0">
                <a:solidFill>
                  <a:srgbClr val="6E7681"/>
                </a:solidFill>
                <a:latin typeface="Calibri" pitchFamily="34" charset="0"/>
                <a:ea typeface="Calibri" pitchFamily="34" charset="-122"/>
                <a:cs typeface="Calibri" pitchFamily="34" charset="-120"/>
              </a:rPr>
              <a:t>El modelo no puede ejecutar WebGL solo. Absorbe crear, importar, componer y editar: siempre van juntos.</a:t>
            </a:r>
            <a:endParaRPr lang="en-US" sz="1100" dirty="0"/>
          </a:p>
        </p:txBody>
      </p:sp>
      <p:sp>
        <p:nvSpPr>
          <p:cNvPr id="11" name="Shape 9"/>
          <p:cNvSpPr/>
          <p:nvPr/>
        </p:nvSpPr>
        <p:spPr>
          <a:xfrm>
            <a:off x="502920" y="2157984"/>
            <a:ext cx="8138160" cy="841248"/>
          </a:xfrm>
          <a:prstGeom prst="rect">
            <a:avLst/>
          </a:prstGeom>
          <a:solidFill>
            <a:srgbClr val="F1F2F4"/>
          </a:solidFill>
          <a:ln/>
        </p:spPr>
      </p:sp>
      <p:sp>
        <p:nvSpPr>
          <p:cNvPr id="12" name="Shape 10"/>
          <p:cNvSpPr/>
          <p:nvPr/>
        </p:nvSpPr>
        <p:spPr>
          <a:xfrm>
            <a:off x="502920" y="2157984"/>
            <a:ext cx="54864" cy="841248"/>
          </a:xfrm>
          <a:prstGeom prst="rect">
            <a:avLst/>
          </a:prstGeom>
          <a:solidFill>
            <a:srgbClr val="12715B"/>
          </a:solidFill>
          <a:ln/>
        </p:spPr>
      </p:sp>
      <p:sp>
        <p:nvSpPr>
          <p:cNvPr id="13" name="Text 11"/>
          <p:cNvSpPr/>
          <p:nvPr/>
        </p:nvSpPr>
        <p:spPr>
          <a:xfrm>
            <a:off x="704088" y="2203704"/>
            <a:ext cx="7772400" cy="237744"/>
          </a:xfrm>
          <a:prstGeom prst="rect">
            <a:avLst/>
          </a:prstGeom>
          <a:noFill/>
          <a:ln/>
        </p:spPr>
        <p:txBody>
          <a:bodyPr wrap="square" lIns="0" tIns="0" rIns="0" bIns="0" rtlCol="0" anchor="ctr"/>
          <a:lstStyle/>
          <a:p>
            <a:pPr indent="0" marL="0">
              <a:buNone/>
            </a:pPr>
            <a:r>
              <a:rPr lang="en-US" sz="1200" b="1" dirty="0">
                <a:solidFill>
                  <a:srgbClr val="16191F"/>
                </a:solidFill>
                <a:latin typeface="Courier New" pitchFamily="34" charset="0"/>
                <a:ea typeface="Courier New" pitchFamily="34" charset="-122"/>
                <a:cs typeface="Courier New" pitchFamily="34" charset="-120"/>
              </a:rPr>
              <a:t>capture_threejs_scene</a:t>
            </a:r>
            <a:endParaRPr lang="en-US" sz="1200" dirty="0"/>
          </a:p>
        </p:txBody>
      </p:sp>
      <p:sp>
        <p:nvSpPr>
          <p:cNvPr id="14" name="Text 12"/>
          <p:cNvSpPr/>
          <p:nvPr/>
        </p:nvSpPr>
        <p:spPr>
          <a:xfrm>
            <a:off x="704088" y="2441448"/>
            <a:ext cx="7772400" cy="237744"/>
          </a:xfrm>
          <a:prstGeom prst="rect">
            <a:avLst/>
          </a:prstGeom>
          <a:noFill/>
          <a:ln/>
        </p:spPr>
        <p:txBody>
          <a:bodyPr wrap="square" lIns="0" tIns="0" rIns="0" bIns="0" rtlCol="0" anchor="ctr"/>
          <a:lstStyle/>
          <a:p>
            <a:pPr indent="0" marL="0">
              <a:buNone/>
            </a:pPr>
            <a:r>
              <a:rPr lang="en-US" sz="1200" dirty="0">
                <a:solidFill>
                  <a:srgbClr val="2A2E36"/>
                </a:solidFill>
                <a:latin typeface="Calibri" pitchFamily="34" charset="0"/>
                <a:ea typeface="Calibri" pitchFamily="34" charset="-122"/>
                <a:cs typeface="Calibri" pitchFamily="34" charset="-120"/>
              </a:rPr>
              <a:t>Le saca fotos a la escena ya renderizada, desde los ángulos que el modelo pida.</a:t>
            </a:r>
            <a:endParaRPr lang="en-US" sz="1200" dirty="0"/>
          </a:p>
        </p:txBody>
      </p:sp>
      <p:sp>
        <p:nvSpPr>
          <p:cNvPr id="15" name="Text 13"/>
          <p:cNvSpPr/>
          <p:nvPr/>
        </p:nvSpPr>
        <p:spPr>
          <a:xfrm>
            <a:off x="704088" y="2688336"/>
            <a:ext cx="7772400" cy="237744"/>
          </a:xfrm>
          <a:prstGeom prst="rect">
            <a:avLst/>
          </a:prstGeom>
          <a:noFill/>
          <a:ln/>
        </p:spPr>
        <p:txBody>
          <a:bodyPr wrap="square" lIns="0" tIns="0" rIns="0" bIns="0" rtlCol="0" anchor="ctr"/>
          <a:lstStyle/>
          <a:p>
            <a:pPr indent="0" marL="0">
              <a:buNone/>
            </a:pPr>
            <a:r>
              <a:rPr lang="en-US" sz="1100" i="1" dirty="0">
                <a:solidFill>
                  <a:srgbClr val="6E7681"/>
                </a:solidFill>
                <a:latin typeface="Calibri" pitchFamily="34" charset="0"/>
                <a:ea typeface="Calibri" pitchFamily="34" charset="-122"/>
                <a:cs typeface="Calibri" pitchFamily="34" charset="-120"/>
              </a:rPr>
              <a:t>El código no dice si el resultado se ve bien. La foto es lo único que el modelo puede mirar.</a:t>
            </a:r>
            <a:endParaRPr lang="en-US" sz="1100" dirty="0"/>
          </a:p>
        </p:txBody>
      </p:sp>
      <p:sp>
        <p:nvSpPr>
          <p:cNvPr id="16" name="Shape 14"/>
          <p:cNvSpPr/>
          <p:nvPr/>
        </p:nvSpPr>
        <p:spPr>
          <a:xfrm>
            <a:off x="502920" y="3127248"/>
            <a:ext cx="8138160" cy="841248"/>
          </a:xfrm>
          <a:prstGeom prst="rect">
            <a:avLst/>
          </a:prstGeom>
          <a:solidFill>
            <a:srgbClr val="F1F2F4"/>
          </a:solidFill>
          <a:ln/>
        </p:spPr>
      </p:sp>
      <p:sp>
        <p:nvSpPr>
          <p:cNvPr id="17" name="Shape 15"/>
          <p:cNvSpPr/>
          <p:nvPr/>
        </p:nvSpPr>
        <p:spPr>
          <a:xfrm>
            <a:off x="502920" y="3127248"/>
            <a:ext cx="54864" cy="841248"/>
          </a:xfrm>
          <a:prstGeom prst="rect">
            <a:avLst/>
          </a:prstGeom>
          <a:solidFill>
            <a:srgbClr val="12715B"/>
          </a:solidFill>
          <a:ln/>
        </p:spPr>
      </p:sp>
      <p:sp>
        <p:nvSpPr>
          <p:cNvPr id="18" name="Text 16"/>
          <p:cNvSpPr/>
          <p:nvPr/>
        </p:nvSpPr>
        <p:spPr>
          <a:xfrm>
            <a:off x="704088" y="3172968"/>
            <a:ext cx="7772400" cy="237744"/>
          </a:xfrm>
          <a:prstGeom prst="rect">
            <a:avLst/>
          </a:prstGeom>
          <a:noFill/>
          <a:ln/>
        </p:spPr>
        <p:txBody>
          <a:bodyPr wrap="square" lIns="0" tIns="0" rIns="0" bIns="0" rtlCol="0" anchor="ctr"/>
          <a:lstStyle/>
          <a:p>
            <a:pPr indent="0" marL="0">
              <a:buNone/>
            </a:pPr>
            <a:r>
              <a:rPr lang="en-US" sz="1200" b="1" dirty="0">
                <a:solidFill>
                  <a:srgbClr val="16191F"/>
                </a:solidFill>
                <a:latin typeface="Courier New" pitchFamily="34" charset="0"/>
                <a:ea typeface="Courier New" pitchFamily="34" charset="-122"/>
                <a:cs typeface="Courier New" pitchFamily="34" charset="-120"/>
              </a:rPr>
              <a:t>publish_threejs_scene</a:t>
            </a:r>
            <a:endParaRPr lang="en-US" sz="1200" dirty="0"/>
          </a:p>
        </p:txBody>
      </p:sp>
      <p:sp>
        <p:nvSpPr>
          <p:cNvPr id="19" name="Text 17"/>
          <p:cNvSpPr/>
          <p:nvPr/>
        </p:nvSpPr>
        <p:spPr>
          <a:xfrm>
            <a:off x="704088" y="3410712"/>
            <a:ext cx="7772400" cy="237744"/>
          </a:xfrm>
          <a:prstGeom prst="rect">
            <a:avLst/>
          </a:prstGeom>
          <a:noFill/>
          <a:ln/>
        </p:spPr>
        <p:txBody>
          <a:bodyPr wrap="square" lIns="0" tIns="0" rIns="0" bIns="0" rtlCol="0" anchor="ctr"/>
          <a:lstStyle/>
          <a:p>
            <a:pPr indent="0" marL="0">
              <a:buNone/>
            </a:pPr>
            <a:r>
              <a:rPr lang="en-US" sz="1200" dirty="0">
                <a:solidFill>
                  <a:srgbClr val="2A2E36"/>
                </a:solidFill>
                <a:latin typeface="Calibri" pitchFamily="34" charset="0"/>
                <a:ea typeface="Calibri" pitchFamily="34" charset="-122"/>
                <a:cs typeface="Calibri" pitchFamily="34" charset="-120"/>
              </a:rPr>
              <a:t>Publica la versión aprobada como artefacto 3D interactivo en el chat del usuario.</a:t>
            </a:r>
            <a:endParaRPr lang="en-US" sz="1200" dirty="0"/>
          </a:p>
        </p:txBody>
      </p:sp>
      <p:sp>
        <p:nvSpPr>
          <p:cNvPr id="20" name="Text 18"/>
          <p:cNvSpPr/>
          <p:nvPr/>
        </p:nvSpPr>
        <p:spPr>
          <a:xfrm>
            <a:off x="704088" y="3657600"/>
            <a:ext cx="7772400" cy="237744"/>
          </a:xfrm>
          <a:prstGeom prst="rect">
            <a:avLst/>
          </a:prstGeom>
          <a:noFill/>
          <a:ln/>
        </p:spPr>
        <p:txBody>
          <a:bodyPr wrap="square" lIns="0" tIns="0" rIns="0" bIns="0" rtlCol="0" anchor="ctr"/>
          <a:lstStyle/>
          <a:p>
            <a:pPr indent="0" marL="0">
              <a:buNone/>
            </a:pPr>
            <a:r>
              <a:rPr lang="en-US" sz="1100" i="1" dirty="0">
                <a:solidFill>
                  <a:srgbClr val="6E7681"/>
                </a:solidFill>
                <a:latin typeface="Calibri" pitchFamily="34" charset="0"/>
                <a:ea typeface="Calibri" pitchFamily="34" charset="-122"/>
                <a:cs typeface="Calibri" pitchFamily="34" charset="-120"/>
              </a:rPr>
              <a:t>Cambia estado persistente y expone el resultado. Probarla en privado no es lo mismo que entregarla.</a:t>
            </a:r>
            <a:endParaRPr lang="en-US" sz="1100" dirty="0"/>
          </a:p>
        </p:txBody>
      </p:sp>
      <p:sp>
        <p:nvSpPr>
          <p:cNvPr id="21" name="Text 19"/>
          <p:cNvSpPr/>
          <p:nvPr/>
        </p:nvSpPr>
        <p:spPr>
          <a:xfrm>
            <a:off x="502920" y="4114800"/>
            <a:ext cx="8138160" cy="256032"/>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pide un 3D  →  web search  →  escribe el código  →  render  →  capture  →  corrige  →  publish</a:t>
            </a:r>
            <a:endParaRPr lang="en-US" sz="1250" dirty="0"/>
          </a:p>
        </p:txBody>
      </p:sp>
      <p:sp>
        <p:nvSpPr>
          <p:cNvPr id="22" name="Text 20"/>
          <p:cNvSpPr/>
          <p:nvPr/>
        </p:nvSpPr>
        <p:spPr>
          <a:xfrm>
            <a:off x="502920" y="4389120"/>
            <a:ext cx="8138160" cy="256032"/>
          </a:xfrm>
          <a:prstGeom prst="rect">
            <a:avLst/>
          </a:prstGeom>
          <a:noFill/>
          <a:ln/>
        </p:spPr>
        <p:txBody>
          <a:bodyPr wrap="square" lIns="0" tIns="0" rIns="0" bIns="0" rtlCol="0" anchor="ctr"/>
          <a:lstStyle/>
          <a:p>
            <a:pPr indent="0" marL="0">
              <a:buNone/>
            </a:pPr>
            <a:r>
              <a:rPr lang="en-US" sz="1100" dirty="0">
                <a:solidFill>
                  <a:srgbClr val="6E7681"/>
                </a:solidFill>
                <a:latin typeface="Calibri" pitchFamily="34" charset="0"/>
                <a:ea typeface="Calibri" pitchFamily="34" charset="-122"/>
                <a:cs typeface="Calibri" pitchFamily="34" charset="-120"/>
              </a:rPr>
              <a:t>PuKi es el taller privado. El chat es donde el usuario finalmente lo ve.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8</a:t>
            </a:r>
            <a:endParaRPr lang="en-US" sz="1500" dirty="0"/>
          </a:p>
        </p:txBody>
      </p:sp>
      <p:sp>
        <p:nvSpPr>
          <p:cNvPr id="4" name="Text 2"/>
          <p:cNvSpPr/>
          <p:nvPr/>
        </p:nvSpPr>
        <p:spPr>
          <a:xfrm>
            <a:off x="978408" y="329184"/>
            <a:ext cx="7662672" cy="420624"/>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Checklist para cada tool</a:t>
            </a:r>
            <a:endParaRPr lang="en-US" sz="2700" dirty="0"/>
          </a:p>
        </p:txBody>
      </p:sp>
      <p:sp>
        <p:nvSpPr>
          <p:cNvPr id="5" name="Text 3"/>
          <p:cNvSpPr/>
          <p:nvPr/>
        </p:nvSpPr>
        <p:spPr>
          <a:xfrm>
            <a:off x="978408" y="786384"/>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Ocho preguntas antes de escribir el schema</a:t>
            </a:r>
            <a:endParaRPr lang="en-US" sz="1300" dirty="0"/>
          </a:p>
        </p:txBody>
      </p:sp>
      <p:sp>
        <p:nvSpPr>
          <p:cNvPr id="6" name="Shape 4"/>
          <p:cNvSpPr/>
          <p:nvPr/>
        </p:nvSpPr>
        <p:spPr>
          <a:xfrm>
            <a:off x="502920" y="1371600"/>
            <a:ext cx="256032" cy="256032"/>
          </a:xfrm>
          <a:prstGeom prst="rect">
            <a:avLst/>
          </a:prstGeom>
          <a:solidFill>
            <a:srgbClr val="E4572E"/>
          </a:solidFill>
          <a:ln/>
        </p:spPr>
      </p:sp>
      <p:sp>
        <p:nvSpPr>
          <p:cNvPr id="7" name="Text 5"/>
          <p:cNvSpPr/>
          <p:nvPr/>
        </p:nvSpPr>
        <p:spPr>
          <a:xfrm>
            <a:off x="502920" y="137160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886968" y="1325880"/>
            <a:ext cx="3593592" cy="219456"/>
          </a:xfrm>
          <a:prstGeom prst="rect">
            <a:avLst/>
          </a:prstGeom>
          <a:noFill/>
          <a:ln/>
        </p:spPr>
        <p:txBody>
          <a:bodyPr wrap="square" lIns="0" tIns="0" rIns="0" bIns="0" rtlCol="0" anchor="ctr"/>
          <a:lstStyle/>
          <a:p>
            <a:pPr indent="0" marL="0">
              <a:buNone/>
            </a:pPr>
            <a:r>
              <a:rPr lang="en-US" sz="1250" b="1" dirty="0">
                <a:solidFill>
                  <a:srgbClr val="16191F"/>
                </a:solidFill>
                <a:latin typeface="Arial" pitchFamily="34" charset="0"/>
                <a:ea typeface="Arial" pitchFamily="34" charset="-122"/>
                <a:cs typeface="Arial" pitchFamily="34" charset="-120"/>
              </a:rPr>
              <a:t>Capacidad externa</a:t>
            </a:r>
            <a:endParaRPr lang="en-US" sz="1250" dirty="0"/>
          </a:p>
        </p:txBody>
      </p:sp>
      <p:sp>
        <p:nvSpPr>
          <p:cNvPr id="9" name="Text 7"/>
          <p:cNvSpPr/>
          <p:nvPr/>
        </p:nvSpPr>
        <p:spPr>
          <a:xfrm>
            <a:off x="886968" y="1545336"/>
            <a:ext cx="3593592" cy="219456"/>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¿el agente realmente no puede hacerlo solo?</a:t>
            </a:r>
            <a:endParaRPr lang="en-US" sz="1150" dirty="0"/>
          </a:p>
        </p:txBody>
      </p:sp>
      <p:sp>
        <p:nvSpPr>
          <p:cNvPr id="10" name="Shape 8"/>
          <p:cNvSpPr/>
          <p:nvPr/>
        </p:nvSpPr>
        <p:spPr>
          <a:xfrm>
            <a:off x="4663440" y="1371600"/>
            <a:ext cx="256032" cy="256032"/>
          </a:xfrm>
          <a:prstGeom prst="rect">
            <a:avLst/>
          </a:prstGeom>
          <a:solidFill>
            <a:srgbClr val="E4572E"/>
          </a:solidFill>
          <a:ln/>
        </p:spPr>
      </p:sp>
      <p:sp>
        <p:nvSpPr>
          <p:cNvPr id="11" name="Text 9"/>
          <p:cNvSpPr/>
          <p:nvPr/>
        </p:nvSpPr>
        <p:spPr>
          <a:xfrm>
            <a:off x="4663440" y="137160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10"/>
          <p:cNvSpPr/>
          <p:nvPr/>
        </p:nvSpPr>
        <p:spPr>
          <a:xfrm>
            <a:off x="5047488" y="1325880"/>
            <a:ext cx="3593592" cy="219456"/>
          </a:xfrm>
          <a:prstGeom prst="rect">
            <a:avLst/>
          </a:prstGeom>
          <a:noFill/>
          <a:ln/>
        </p:spPr>
        <p:txBody>
          <a:bodyPr wrap="square" lIns="0" tIns="0" rIns="0" bIns="0" rtlCol="0" anchor="ctr"/>
          <a:lstStyle/>
          <a:p>
            <a:pPr indent="0" marL="0">
              <a:buNone/>
            </a:pPr>
            <a:r>
              <a:rPr lang="en-US" sz="1250" b="1" dirty="0">
                <a:solidFill>
                  <a:srgbClr val="16191F"/>
                </a:solidFill>
                <a:latin typeface="Arial" pitchFamily="34" charset="0"/>
                <a:ea typeface="Arial" pitchFamily="34" charset="-122"/>
                <a:cs typeface="Arial" pitchFamily="34" charset="-120"/>
              </a:rPr>
              <a:t>Efecto único</a:t>
            </a:r>
            <a:endParaRPr lang="en-US" sz="1250" dirty="0"/>
          </a:p>
        </p:txBody>
      </p:sp>
      <p:sp>
        <p:nvSpPr>
          <p:cNvPr id="13" name="Text 11"/>
          <p:cNvSpPr/>
          <p:nvPr/>
        </p:nvSpPr>
        <p:spPr>
          <a:xfrm>
            <a:off x="5047488" y="1545336"/>
            <a:ext cx="3593592" cy="219456"/>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¿produce un resultado externo verificable?</a:t>
            </a:r>
            <a:endParaRPr lang="en-US" sz="1150" dirty="0"/>
          </a:p>
        </p:txBody>
      </p:sp>
      <p:sp>
        <p:nvSpPr>
          <p:cNvPr id="14" name="Shape 12"/>
          <p:cNvSpPr/>
          <p:nvPr/>
        </p:nvSpPr>
        <p:spPr>
          <a:xfrm>
            <a:off x="502920" y="1938528"/>
            <a:ext cx="256032" cy="256032"/>
          </a:xfrm>
          <a:prstGeom prst="rect">
            <a:avLst/>
          </a:prstGeom>
          <a:solidFill>
            <a:srgbClr val="E4572E"/>
          </a:solidFill>
          <a:ln/>
        </p:spPr>
      </p:sp>
      <p:sp>
        <p:nvSpPr>
          <p:cNvPr id="15" name="Text 13"/>
          <p:cNvSpPr/>
          <p:nvPr/>
        </p:nvSpPr>
        <p:spPr>
          <a:xfrm>
            <a:off x="502920" y="193852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6" name="Text 14"/>
          <p:cNvSpPr/>
          <p:nvPr/>
        </p:nvSpPr>
        <p:spPr>
          <a:xfrm>
            <a:off x="886968" y="1892808"/>
            <a:ext cx="3593592" cy="219456"/>
          </a:xfrm>
          <a:prstGeom prst="rect">
            <a:avLst/>
          </a:prstGeom>
          <a:noFill/>
          <a:ln/>
        </p:spPr>
        <p:txBody>
          <a:bodyPr wrap="square" lIns="0" tIns="0" rIns="0" bIns="0" rtlCol="0" anchor="ctr"/>
          <a:lstStyle/>
          <a:p>
            <a:pPr indent="0" marL="0">
              <a:buNone/>
            </a:pPr>
            <a:r>
              <a:rPr lang="en-US" sz="1250" b="1" dirty="0">
                <a:solidFill>
                  <a:srgbClr val="16191F"/>
                </a:solidFill>
                <a:latin typeface="Arial" pitchFamily="34" charset="0"/>
                <a:ea typeface="Arial" pitchFamily="34" charset="-122"/>
                <a:cs typeface="Arial" pitchFamily="34" charset="-120"/>
              </a:rPr>
              <a:t>Frontera natural</a:t>
            </a:r>
            <a:endParaRPr lang="en-US" sz="1250" dirty="0"/>
          </a:p>
        </p:txBody>
      </p:sp>
      <p:sp>
        <p:nvSpPr>
          <p:cNvPr id="17" name="Text 15"/>
          <p:cNvSpPr/>
          <p:nvPr/>
        </p:nvSpPr>
        <p:spPr>
          <a:xfrm>
            <a:off x="886968" y="2112264"/>
            <a:ext cx="3593592" cy="219456"/>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¿hay pasos que siempre ocurren juntos?</a:t>
            </a:r>
            <a:endParaRPr lang="en-US" sz="1150" dirty="0"/>
          </a:p>
        </p:txBody>
      </p:sp>
      <p:sp>
        <p:nvSpPr>
          <p:cNvPr id="18" name="Shape 16"/>
          <p:cNvSpPr/>
          <p:nvPr/>
        </p:nvSpPr>
        <p:spPr>
          <a:xfrm>
            <a:off x="4663440" y="1938528"/>
            <a:ext cx="256032" cy="256032"/>
          </a:xfrm>
          <a:prstGeom prst="rect">
            <a:avLst/>
          </a:prstGeom>
          <a:solidFill>
            <a:srgbClr val="E4572E"/>
          </a:solidFill>
          <a:ln/>
        </p:spPr>
      </p:sp>
      <p:sp>
        <p:nvSpPr>
          <p:cNvPr id="19" name="Text 17"/>
          <p:cNvSpPr/>
          <p:nvPr/>
        </p:nvSpPr>
        <p:spPr>
          <a:xfrm>
            <a:off x="4663440" y="193852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0" name="Text 18"/>
          <p:cNvSpPr/>
          <p:nvPr/>
        </p:nvSpPr>
        <p:spPr>
          <a:xfrm>
            <a:off x="5047488" y="1892808"/>
            <a:ext cx="3593592" cy="219456"/>
          </a:xfrm>
          <a:prstGeom prst="rect">
            <a:avLst/>
          </a:prstGeom>
          <a:noFill/>
          <a:ln/>
        </p:spPr>
        <p:txBody>
          <a:bodyPr wrap="square" lIns="0" tIns="0" rIns="0" bIns="0" rtlCol="0" anchor="ctr"/>
          <a:lstStyle/>
          <a:p>
            <a:pPr indent="0" marL="0">
              <a:buNone/>
            </a:pPr>
            <a:r>
              <a:rPr lang="en-US" sz="1250" b="1" dirty="0">
                <a:solidFill>
                  <a:srgbClr val="16191F"/>
                </a:solidFill>
                <a:latin typeface="Arial" pitchFamily="34" charset="0"/>
                <a:ea typeface="Arial" pitchFamily="34" charset="-122"/>
                <a:cs typeface="Arial" pitchFamily="34" charset="-120"/>
              </a:rPr>
              <a:t>Nombre y schema</a:t>
            </a:r>
            <a:endParaRPr lang="en-US" sz="1250" dirty="0"/>
          </a:p>
        </p:txBody>
      </p:sp>
      <p:sp>
        <p:nvSpPr>
          <p:cNvPr id="21" name="Text 19"/>
          <p:cNvSpPr/>
          <p:nvPr/>
        </p:nvSpPr>
        <p:spPr>
          <a:xfrm>
            <a:off x="5047488" y="2112264"/>
            <a:ext cx="3593592" cy="219456"/>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¿se entiende sin leer el system prompt?</a:t>
            </a:r>
            <a:endParaRPr lang="en-US" sz="1150" dirty="0"/>
          </a:p>
        </p:txBody>
      </p:sp>
      <p:sp>
        <p:nvSpPr>
          <p:cNvPr id="22" name="Shape 20"/>
          <p:cNvSpPr/>
          <p:nvPr/>
        </p:nvSpPr>
        <p:spPr>
          <a:xfrm>
            <a:off x="502920" y="2505456"/>
            <a:ext cx="256032" cy="256032"/>
          </a:xfrm>
          <a:prstGeom prst="rect">
            <a:avLst/>
          </a:prstGeom>
          <a:solidFill>
            <a:srgbClr val="E4572E"/>
          </a:solidFill>
          <a:ln/>
        </p:spPr>
      </p:sp>
      <p:sp>
        <p:nvSpPr>
          <p:cNvPr id="23" name="Text 21"/>
          <p:cNvSpPr/>
          <p:nvPr/>
        </p:nvSpPr>
        <p:spPr>
          <a:xfrm>
            <a:off x="502920" y="250545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4" name="Text 22"/>
          <p:cNvSpPr/>
          <p:nvPr/>
        </p:nvSpPr>
        <p:spPr>
          <a:xfrm>
            <a:off x="886968" y="2459736"/>
            <a:ext cx="3593592" cy="219456"/>
          </a:xfrm>
          <a:prstGeom prst="rect">
            <a:avLst/>
          </a:prstGeom>
          <a:noFill/>
          <a:ln/>
        </p:spPr>
        <p:txBody>
          <a:bodyPr wrap="square" lIns="0" tIns="0" rIns="0" bIns="0" rtlCol="0" anchor="ctr"/>
          <a:lstStyle/>
          <a:p>
            <a:pPr indent="0" marL="0">
              <a:buNone/>
            </a:pPr>
            <a:r>
              <a:rPr lang="en-US" sz="1250" b="1" dirty="0">
                <a:solidFill>
                  <a:srgbClr val="16191F"/>
                </a:solidFill>
                <a:latin typeface="Arial" pitchFamily="34" charset="0"/>
                <a:ea typeface="Arial" pitchFamily="34" charset="-122"/>
                <a:cs typeface="Arial" pitchFamily="34" charset="-120"/>
              </a:rPr>
              <a:t>Estados distintos</a:t>
            </a:r>
            <a:endParaRPr lang="en-US" sz="1250" dirty="0"/>
          </a:p>
        </p:txBody>
      </p:sp>
      <p:sp>
        <p:nvSpPr>
          <p:cNvPr id="25" name="Text 23"/>
          <p:cNvSpPr/>
          <p:nvPr/>
        </p:nvSpPr>
        <p:spPr>
          <a:xfrm>
            <a:off x="886968" y="2679192"/>
            <a:ext cx="3593592" cy="219456"/>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¿success, no-results y error diferenciados?</a:t>
            </a:r>
            <a:endParaRPr lang="en-US" sz="1150" dirty="0"/>
          </a:p>
        </p:txBody>
      </p:sp>
      <p:sp>
        <p:nvSpPr>
          <p:cNvPr id="26" name="Shape 24"/>
          <p:cNvSpPr/>
          <p:nvPr/>
        </p:nvSpPr>
        <p:spPr>
          <a:xfrm>
            <a:off x="4663440" y="2505456"/>
            <a:ext cx="256032" cy="256032"/>
          </a:xfrm>
          <a:prstGeom prst="rect">
            <a:avLst/>
          </a:prstGeom>
          <a:solidFill>
            <a:srgbClr val="E4572E"/>
          </a:solidFill>
          <a:ln/>
        </p:spPr>
      </p:sp>
      <p:sp>
        <p:nvSpPr>
          <p:cNvPr id="27" name="Text 25"/>
          <p:cNvSpPr/>
          <p:nvPr/>
        </p:nvSpPr>
        <p:spPr>
          <a:xfrm>
            <a:off x="4663440" y="250545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28" name="Text 26"/>
          <p:cNvSpPr/>
          <p:nvPr/>
        </p:nvSpPr>
        <p:spPr>
          <a:xfrm>
            <a:off x="5047488" y="2459736"/>
            <a:ext cx="3593592" cy="219456"/>
          </a:xfrm>
          <a:prstGeom prst="rect">
            <a:avLst/>
          </a:prstGeom>
          <a:noFill/>
          <a:ln/>
        </p:spPr>
        <p:txBody>
          <a:bodyPr wrap="square" lIns="0" tIns="0" rIns="0" bIns="0" rtlCol="0" anchor="ctr"/>
          <a:lstStyle/>
          <a:p>
            <a:pPr indent="0" marL="0">
              <a:buNone/>
            </a:pPr>
            <a:r>
              <a:rPr lang="en-US" sz="1250" b="1" dirty="0">
                <a:solidFill>
                  <a:srgbClr val="16191F"/>
                </a:solidFill>
                <a:latin typeface="Arial" pitchFamily="34" charset="0"/>
                <a:ea typeface="Arial" pitchFamily="34" charset="-122"/>
                <a:cs typeface="Arial" pitchFamily="34" charset="-120"/>
              </a:rPr>
              <a:t>Recuperación</a:t>
            </a:r>
            <a:endParaRPr lang="en-US" sz="1250" dirty="0"/>
          </a:p>
        </p:txBody>
      </p:sp>
      <p:sp>
        <p:nvSpPr>
          <p:cNvPr id="29" name="Text 27"/>
          <p:cNvSpPr/>
          <p:nvPr/>
        </p:nvSpPr>
        <p:spPr>
          <a:xfrm>
            <a:off x="5047488" y="2679192"/>
            <a:ext cx="3593592" cy="219456"/>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¿el error dice qué, por qué y próximo paso?</a:t>
            </a:r>
            <a:endParaRPr lang="en-US" sz="1150" dirty="0"/>
          </a:p>
        </p:txBody>
      </p:sp>
      <p:sp>
        <p:nvSpPr>
          <p:cNvPr id="30" name="Shape 28"/>
          <p:cNvSpPr/>
          <p:nvPr/>
        </p:nvSpPr>
        <p:spPr>
          <a:xfrm>
            <a:off x="502920" y="3072384"/>
            <a:ext cx="256032" cy="256032"/>
          </a:xfrm>
          <a:prstGeom prst="rect">
            <a:avLst/>
          </a:prstGeom>
          <a:solidFill>
            <a:srgbClr val="E4572E"/>
          </a:solidFill>
          <a:ln/>
        </p:spPr>
      </p:sp>
      <p:sp>
        <p:nvSpPr>
          <p:cNvPr id="31" name="Text 29"/>
          <p:cNvSpPr/>
          <p:nvPr/>
        </p:nvSpPr>
        <p:spPr>
          <a:xfrm>
            <a:off x="502920" y="307238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32" name="Text 30"/>
          <p:cNvSpPr/>
          <p:nvPr/>
        </p:nvSpPr>
        <p:spPr>
          <a:xfrm>
            <a:off x="886968" y="3026664"/>
            <a:ext cx="3593592" cy="219456"/>
          </a:xfrm>
          <a:prstGeom prst="rect">
            <a:avLst/>
          </a:prstGeom>
          <a:noFill/>
          <a:ln/>
        </p:spPr>
        <p:txBody>
          <a:bodyPr wrap="square" lIns="0" tIns="0" rIns="0" bIns="0" rtlCol="0" anchor="ctr"/>
          <a:lstStyle/>
          <a:p>
            <a:pPr indent="0" marL="0">
              <a:buNone/>
            </a:pPr>
            <a:r>
              <a:rPr lang="en-US" sz="1250" b="1" dirty="0">
                <a:solidFill>
                  <a:srgbClr val="16191F"/>
                </a:solidFill>
                <a:latin typeface="Arial" pitchFamily="34" charset="0"/>
                <a:ea typeface="Arial" pitchFamily="34" charset="-122"/>
                <a:cs typeface="Arial" pitchFamily="34" charset="-120"/>
              </a:rPr>
              <a:t>Contexto útil</a:t>
            </a:r>
            <a:endParaRPr lang="en-US" sz="1250" dirty="0"/>
          </a:p>
        </p:txBody>
      </p:sp>
      <p:sp>
        <p:nvSpPr>
          <p:cNvPr id="33" name="Text 31"/>
          <p:cNvSpPr/>
          <p:nvPr/>
        </p:nvSpPr>
        <p:spPr>
          <a:xfrm>
            <a:off x="886968" y="3246120"/>
            <a:ext cx="3593592" cy="219456"/>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¿trae lo necesario, sin ruido ni secretos?</a:t>
            </a:r>
            <a:endParaRPr lang="en-US" sz="1150" dirty="0"/>
          </a:p>
        </p:txBody>
      </p:sp>
      <p:sp>
        <p:nvSpPr>
          <p:cNvPr id="34" name="Shape 32"/>
          <p:cNvSpPr/>
          <p:nvPr/>
        </p:nvSpPr>
        <p:spPr>
          <a:xfrm>
            <a:off x="4663440" y="3072384"/>
            <a:ext cx="256032" cy="256032"/>
          </a:xfrm>
          <a:prstGeom prst="rect">
            <a:avLst/>
          </a:prstGeom>
          <a:solidFill>
            <a:srgbClr val="E4572E"/>
          </a:solidFill>
          <a:ln/>
        </p:spPr>
      </p:sp>
      <p:sp>
        <p:nvSpPr>
          <p:cNvPr id="35" name="Text 33"/>
          <p:cNvSpPr/>
          <p:nvPr/>
        </p:nvSpPr>
        <p:spPr>
          <a:xfrm>
            <a:off x="4663440" y="307238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36" name="Text 34"/>
          <p:cNvSpPr/>
          <p:nvPr/>
        </p:nvSpPr>
        <p:spPr>
          <a:xfrm>
            <a:off x="5047488" y="3026664"/>
            <a:ext cx="3593592" cy="219456"/>
          </a:xfrm>
          <a:prstGeom prst="rect">
            <a:avLst/>
          </a:prstGeom>
          <a:noFill/>
          <a:ln/>
        </p:spPr>
        <p:txBody>
          <a:bodyPr wrap="square" lIns="0" tIns="0" rIns="0" bIns="0" rtlCol="0" anchor="ctr"/>
          <a:lstStyle/>
          <a:p>
            <a:pPr indent="0" marL="0">
              <a:buNone/>
            </a:pPr>
            <a:r>
              <a:rPr lang="en-US" sz="1250" b="1" dirty="0">
                <a:solidFill>
                  <a:srgbClr val="16191F"/>
                </a:solidFill>
                <a:latin typeface="Arial" pitchFamily="34" charset="0"/>
                <a:ea typeface="Arial" pitchFamily="34" charset="-122"/>
                <a:cs typeface="Arial" pitchFamily="34" charset="-120"/>
              </a:rPr>
              <a:t>Evaluación</a:t>
            </a:r>
            <a:endParaRPr lang="en-US" sz="1250" dirty="0"/>
          </a:p>
        </p:txBody>
      </p:sp>
      <p:sp>
        <p:nvSpPr>
          <p:cNvPr id="37" name="Text 35"/>
          <p:cNvSpPr/>
          <p:nvPr/>
        </p:nvSpPr>
        <p:spPr>
          <a:xfrm>
            <a:off x="5047488" y="3246120"/>
            <a:ext cx="3593592" cy="219456"/>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¿las trazas prueban que el comportamiento mejoró?</a:t>
            </a:r>
            <a:endParaRPr lang="en-US" sz="1150" dirty="0"/>
          </a:p>
        </p:txBody>
      </p:sp>
      <p:sp>
        <p:nvSpPr>
          <p:cNvPr id="38" name="Shape 36"/>
          <p:cNvSpPr/>
          <p:nvPr/>
        </p:nvSpPr>
        <p:spPr>
          <a:xfrm>
            <a:off x="502920" y="3913632"/>
            <a:ext cx="8138160" cy="685800"/>
          </a:xfrm>
          <a:prstGeom prst="rect">
            <a:avLst/>
          </a:prstGeom>
          <a:solidFill>
            <a:srgbClr val="F1F2F4"/>
          </a:solidFill>
          <a:ln/>
        </p:spPr>
      </p:sp>
      <p:sp>
        <p:nvSpPr>
          <p:cNvPr id="39" name="Text 37"/>
          <p:cNvSpPr/>
          <p:nvPr/>
        </p:nvSpPr>
        <p:spPr>
          <a:xfrm>
            <a:off x="649224" y="3986784"/>
            <a:ext cx="1828800" cy="219456"/>
          </a:xfrm>
          <a:prstGeom prst="rect">
            <a:avLst/>
          </a:prstGeom>
          <a:noFill/>
          <a:ln/>
        </p:spPr>
        <p:txBody>
          <a:bodyPr wrap="square" lIns="0" tIns="0" rIns="0" bIns="0" rtlCol="0" anchor="ctr"/>
          <a:lstStyle/>
          <a:p>
            <a:pPr indent="0" marL="0">
              <a:buNone/>
            </a:pPr>
            <a:r>
              <a:rPr lang="en-US" sz="1050" b="1" spc="120" kern="0" dirty="0">
                <a:solidFill>
                  <a:srgbClr val="A4232B"/>
                </a:solidFill>
                <a:latin typeface="Arial" pitchFamily="34" charset="0"/>
                <a:ea typeface="Arial" pitchFamily="34" charset="-122"/>
                <a:cs typeface="Arial" pitchFamily="34" charset="-120"/>
              </a:rPr>
              <a:t>ANTI-PATRONES</a:t>
            </a:r>
            <a:endParaRPr lang="en-US" sz="1050" dirty="0"/>
          </a:p>
        </p:txBody>
      </p:sp>
      <p:sp>
        <p:nvSpPr>
          <p:cNvPr id="40" name="Text 38"/>
          <p:cNvSpPr/>
          <p:nvPr/>
        </p:nvSpPr>
        <p:spPr>
          <a:xfrm>
            <a:off x="649224" y="4206240"/>
            <a:ext cx="7845552" cy="347472"/>
          </a:xfrm>
          <a:prstGeom prst="rect">
            <a:avLst/>
          </a:prstGeom>
          <a:noFill/>
          <a:ln/>
        </p:spPr>
        <p:txBody>
          <a:bodyPr wrap="square" lIns="0" tIns="0" rIns="0" bIns="0" rtlCol="0" anchor="ctr"/>
          <a:lstStyle/>
          <a:p>
            <a:pPr indent="0" marL="0">
              <a:lnSpc>
                <a:spcPts val="1300"/>
              </a:lnSpc>
              <a:buNone/>
            </a:pPr>
            <a:r>
              <a:rPr lang="en-US" sz="1050" dirty="0">
                <a:solidFill>
                  <a:srgbClr val="2A2E36"/>
                </a:solidFill>
                <a:latin typeface="Calibri" pitchFamily="34" charset="0"/>
                <a:ea typeface="Calibri" pitchFamily="34" charset="-122"/>
                <a:cs typeface="Calibri" pitchFamily="34" charset="-120"/>
              </a:rPr>
              <a:t>Una tool por cada verbo del workflow   ·   tools que sólo le piden al modelo que piense   ·   null, [] y failed para estados distintos   ·   recuperaciones sólo documentadas en el prompt   ·   publicar mezclado con previsualizar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191F"/>
          </a:solidFill>
          <a:ln/>
        </p:spPr>
      </p:sp>
      <p:sp>
        <p:nvSpPr>
          <p:cNvPr id="3" name="Shape 1"/>
          <p:cNvSpPr/>
          <p:nvPr/>
        </p:nvSpPr>
        <p:spPr>
          <a:xfrm>
            <a:off x="502920" y="868680"/>
            <a:ext cx="457200" cy="82296"/>
          </a:xfrm>
          <a:prstGeom prst="rect">
            <a:avLst/>
          </a:prstGeom>
          <a:solidFill>
            <a:srgbClr val="E4572E"/>
          </a:solidFill>
          <a:ln/>
        </p:spPr>
      </p:sp>
      <p:sp>
        <p:nvSpPr>
          <p:cNvPr id="4" name="Text 2"/>
          <p:cNvSpPr/>
          <p:nvPr/>
        </p:nvSpPr>
        <p:spPr>
          <a:xfrm>
            <a:off x="502920" y="1188720"/>
            <a:ext cx="7772400" cy="1280160"/>
          </a:xfrm>
          <a:prstGeom prst="rect">
            <a:avLst/>
          </a:prstGeom>
          <a:noFill/>
          <a:ln/>
        </p:spPr>
        <p:txBody>
          <a:bodyPr wrap="square" lIns="0" tIns="0" rIns="0" bIns="0" rtlCol="0" anchor="ctr"/>
          <a:lstStyle/>
          <a:p>
            <a:pPr indent="0" marL="0">
              <a:lnSpc>
                <a:spcPts val="4000"/>
              </a:lnSpc>
              <a:buNone/>
            </a:pPr>
            <a:r>
              <a:rPr lang="en-US" sz="3600" b="1" dirty="0">
                <a:solidFill>
                  <a:srgbClr val="FFFFFF"/>
                </a:solidFill>
                <a:latin typeface="Arial" pitchFamily="34" charset="0"/>
                <a:ea typeface="Arial" pitchFamily="34" charset="-122"/>
                <a:cs typeface="Arial" pitchFamily="34" charset="-120"/>
              </a:rPr>
              <a:t>¿Cuántas tools</a:t>
            </a:r>
            <a:endParaRPr lang="en-US" sz="3600" dirty="0"/>
          </a:p>
          <a:p>
            <a:pPr indent="0" marL="0">
              <a:lnSpc>
                <a:spcPts val="4000"/>
              </a:lnSpc>
              <a:buNone/>
            </a:pPr>
            <a:r>
              <a:rPr lang="en-US" sz="3600" b="1" dirty="0">
                <a:solidFill>
                  <a:srgbClr val="FFFFFF"/>
                </a:solidFill>
                <a:latin typeface="Arial" pitchFamily="34" charset="0"/>
                <a:ea typeface="Arial" pitchFamily="34" charset="-122"/>
                <a:cs typeface="Arial" pitchFamily="34" charset="-120"/>
              </a:rPr>
              <a:t>necesitás realmente?</a:t>
            </a:r>
            <a:endParaRPr lang="en-US" sz="3600" dirty="0"/>
          </a:p>
        </p:txBody>
      </p:sp>
      <p:sp>
        <p:nvSpPr>
          <p:cNvPr id="5" name="Text 3"/>
          <p:cNvSpPr/>
          <p:nvPr/>
        </p:nvSpPr>
        <p:spPr>
          <a:xfrm>
            <a:off x="502920" y="2606040"/>
            <a:ext cx="7772400" cy="640080"/>
          </a:xfrm>
          <a:prstGeom prst="rect">
            <a:avLst/>
          </a:prstGeom>
          <a:noFill/>
          <a:ln/>
        </p:spPr>
        <p:txBody>
          <a:bodyPr wrap="square" lIns="0" tIns="0" rIns="0" bIns="0" rtlCol="0" anchor="ctr"/>
          <a:lstStyle/>
          <a:p>
            <a:pPr indent="0" marL="0">
              <a:lnSpc>
                <a:spcPts val="2200"/>
              </a:lnSpc>
              <a:buNone/>
            </a:pPr>
            <a:r>
              <a:rPr lang="en-US" sz="1600" dirty="0">
                <a:solidFill>
                  <a:srgbClr val="C9CCD3"/>
                </a:solidFill>
                <a:latin typeface="Calibri" pitchFamily="34" charset="0"/>
                <a:ea typeface="Calibri" pitchFamily="34" charset="-122"/>
                <a:cs typeface="Calibri" pitchFamily="34" charset="-120"/>
              </a:rPr>
              <a:t>Las mínimas que representen capacidades externas distintas,</a:t>
            </a:r>
            <a:endParaRPr lang="en-US" sz="1600" dirty="0"/>
          </a:p>
          <a:p>
            <a:pPr indent="0" marL="0">
              <a:lnSpc>
                <a:spcPts val="2200"/>
              </a:lnSpc>
              <a:buNone/>
            </a:pPr>
            <a:r>
              <a:rPr lang="en-US" sz="1600" dirty="0">
                <a:solidFill>
                  <a:srgbClr val="C9CCD3"/>
                </a:solidFill>
                <a:latin typeface="Calibri" pitchFamily="34" charset="0"/>
                <a:ea typeface="Calibri" pitchFamily="34" charset="-122"/>
                <a:cs typeface="Calibri" pitchFamily="34" charset="-120"/>
              </a:rPr>
              <a:t>con retornos suficientemente buenos para continuar.</a:t>
            </a:r>
            <a:endParaRPr lang="en-US" sz="1600" dirty="0"/>
          </a:p>
        </p:txBody>
      </p:sp>
      <p:sp>
        <p:nvSpPr>
          <p:cNvPr id="6" name="Shape 4"/>
          <p:cNvSpPr/>
          <p:nvPr/>
        </p:nvSpPr>
        <p:spPr>
          <a:xfrm>
            <a:off x="502920" y="3520440"/>
            <a:ext cx="2587752" cy="868680"/>
          </a:xfrm>
          <a:prstGeom prst="rect">
            <a:avLst/>
          </a:prstGeom>
          <a:solidFill>
            <a:srgbClr val="2A2E36"/>
          </a:solidFill>
          <a:ln/>
        </p:spPr>
      </p:sp>
      <p:sp>
        <p:nvSpPr>
          <p:cNvPr id="7" name="Text 5"/>
          <p:cNvSpPr/>
          <p:nvPr/>
        </p:nvSpPr>
        <p:spPr>
          <a:xfrm>
            <a:off x="649224" y="3611880"/>
            <a:ext cx="365760" cy="274320"/>
          </a:xfrm>
          <a:prstGeom prst="rect">
            <a:avLst/>
          </a:prstGeom>
          <a:noFill/>
          <a:ln/>
        </p:spPr>
        <p:txBody>
          <a:bodyPr wrap="square" lIns="0" tIns="0" rIns="0" bIns="0" rtlCol="0" anchor="ctr"/>
          <a:lstStyle/>
          <a:p>
            <a:pPr indent="0" marL="0">
              <a:buNone/>
            </a:pPr>
            <a:r>
              <a:rPr lang="en-US" sz="1400" b="1" dirty="0">
                <a:solidFill>
                  <a:srgbClr val="E4572E"/>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649224" y="3877056"/>
            <a:ext cx="2295144" cy="457200"/>
          </a:xfrm>
          <a:prstGeom prst="rect">
            <a:avLst/>
          </a:prstGeom>
          <a:noFill/>
          <a:ln/>
        </p:spPr>
        <p:txBody>
          <a:bodyPr wrap="square" lIns="0" tIns="0" rIns="0" bIns="0" rtlCol="0" anchor="t"/>
          <a:lstStyle/>
          <a:p>
            <a:pPr indent="0" marL="0">
              <a:lnSpc>
                <a:spcPts val="1400"/>
              </a:lnSpc>
              <a:buNone/>
            </a:pPr>
            <a:r>
              <a:rPr lang="en-US" sz="1150" dirty="0">
                <a:solidFill>
                  <a:srgbClr val="C9CCD3"/>
                </a:solidFill>
                <a:latin typeface="Calibri" pitchFamily="34" charset="0"/>
                <a:ea typeface="Calibri" pitchFamily="34" charset="-122"/>
                <a:cs typeface="Calibri" pitchFamily="34" charset="-120"/>
              </a:rPr>
              <a:t>La definición ayuda al agente a elegir una tool.</a:t>
            </a:r>
            <a:endParaRPr lang="en-US" sz="1150" dirty="0"/>
          </a:p>
        </p:txBody>
      </p:sp>
      <p:sp>
        <p:nvSpPr>
          <p:cNvPr id="9" name="Shape 7"/>
          <p:cNvSpPr/>
          <p:nvPr/>
        </p:nvSpPr>
        <p:spPr>
          <a:xfrm>
            <a:off x="3264408" y="3520440"/>
            <a:ext cx="2587752" cy="868680"/>
          </a:xfrm>
          <a:prstGeom prst="rect">
            <a:avLst/>
          </a:prstGeom>
          <a:solidFill>
            <a:srgbClr val="2A2E36"/>
          </a:solidFill>
          <a:ln/>
        </p:spPr>
      </p:sp>
      <p:sp>
        <p:nvSpPr>
          <p:cNvPr id="10" name="Text 8"/>
          <p:cNvSpPr/>
          <p:nvPr/>
        </p:nvSpPr>
        <p:spPr>
          <a:xfrm>
            <a:off x="3410712" y="3611880"/>
            <a:ext cx="365760" cy="274320"/>
          </a:xfrm>
          <a:prstGeom prst="rect">
            <a:avLst/>
          </a:prstGeom>
          <a:noFill/>
          <a:ln/>
        </p:spPr>
        <p:txBody>
          <a:bodyPr wrap="square" lIns="0" tIns="0" rIns="0" bIns="0" rtlCol="0" anchor="ctr"/>
          <a:lstStyle/>
          <a:p>
            <a:pPr indent="0" marL="0">
              <a:buNone/>
            </a:pPr>
            <a:r>
              <a:rPr lang="en-US" sz="1400" b="1" dirty="0">
                <a:solidFill>
                  <a:srgbClr val="E4572E"/>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3410712" y="3877056"/>
            <a:ext cx="2295144" cy="457200"/>
          </a:xfrm>
          <a:prstGeom prst="rect">
            <a:avLst/>
          </a:prstGeom>
          <a:noFill/>
          <a:ln/>
        </p:spPr>
        <p:txBody>
          <a:bodyPr wrap="square" lIns="0" tIns="0" rIns="0" bIns="0" rtlCol="0" anchor="t"/>
          <a:lstStyle/>
          <a:p>
            <a:pPr indent="0" marL="0">
              <a:lnSpc>
                <a:spcPts val="1400"/>
              </a:lnSpc>
              <a:buNone/>
            </a:pPr>
            <a:r>
              <a:rPr lang="en-US" sz="1150" dirty="0">
                <a:solidFill>
                  <a:srgbClr val="C9CCD3"/>
                </a:solidFill>
                <a:latin typeface="Calibri" pitchFamily="34" charset="0"/>
                <a:ea typeface="Calibri" pitchFamily="34" charset="-122"/>
                <a:cs typeface="Calibri" pitchFamily="34" charset="-120"/>
              </a:rPr>
              <a:t>El retorno ayuda al agente a elegir el próximo paso.</a:t>
            </a:r>
            <a:endParaRPr lang="en-US" sz="1150" dirty="0"/>
          </a:p>
        </p:txBody>
      </p:sp>
      <p:sp>
        <p:nvSpPr>
          <p:cNvPr id="12" name="Shape 10"/>
          <p:cNvSpPr/>
          <p:nvPr/>
        </p:nvSpPr>
        <p:spPr>
          <a:xfrm>
            <a:off x="6025896" y="3520440"/>
            <a:ext cx="2587752" cy="868680"/>
          </a:xfrm>
          <a:prstGeom prst="rect">
            <a:avLst/>
          </a:prstGeom>
          <a:solidFill>
            <a:srgbClr val="2A2E36"/>
          </a:solidFill>
          <a:ln/>
        </p:spPr>
      </p:sp>
      <p:sp>
        <p:nvSpPr>
          <p:cNvPr id="13" name="Text 11"/>
          <p:cNvSpPr/>
          <p:nvPr/>
        </p:nvSpPr>
        <p:spPr>
          <a:xfrm>
            <a:off x="6172200" y="3611880"/>
            <a:ext cx="365760" cy="274320"/>
          </a:xfrm>
          <a:prstGeom prst="rect">
            <a:avLst/>
          </a:prstGeom>
          <a:noFill/>
          <a:ln/>
        </p:spPr>
        <p:txBody>
          <a:bodyPr wrap="square" lIns="0" tIns="0" rIns="0" bIns="0" rtlCol="0" anchor="ctr"/>
          <a:lstStyle/>
          <a:p>
            <a:pPr indent="0" marL="0">
              <a:buNone/>
            </a:pPr>
            <a:r>
              <a:rPr lang="en-US" sz="1400" b="1" dirty="0">
                <a:solidFill>
                  <a:srgbClr val="E4572E"/>
                </a:solidFill>
                <a:latin typeface="Arial" pitchFamily="34" charset="0"/>
                <a:ea typeface="Arial" pitchFamily="34" charset="-122"/>
                <a:cs typeface="Arial" pitchFamily="34" charset="-120"/>
              </a:rPr>
              <a:t>3</a:t>
            </a:r>
            <a:endParaRPr lang="en-US" sz="1400" dirty="0"/>
          </a:p>
        </p:txBody>
      </p:sp>
      <p:sp>
        <p:nvSpPr>
          <p:cNvPr id="14" name="Text 12"/>
          <p:cNvSpPr/>
          <p:nvPr/>
        </p:nvSpPr>
        <p:spPr>
          <a:xfrm>
            <a:off x="6172200" y="3877056"/>
            <a:ext cx="2295144" cy="457200"/>
          </a:xfrm>
          <a:prstGeom prst="rect">
            <a:avLst/>
          </a:prstGeom>
          <a:noFill/>
          <a:ln/>
        </p:spPr>
        <p:txBody>
          <a:bodyPr wrap="square" lIns="0" tIns="0" rIns="0" bIns="0" rtlCol="0" anchor="t"/>
          <a:lstStyle/>
          <a:p>
            <a:pPr indent="0" marL="0">
              <a:lnSpc>
                <a:spcPts val="1400"/>
              </a:lnSpc>
              <a:buNone/>
            </a:pPr>
            <a:r>
              <a:rPr lang="en-US" sz="1150" dirty="0">
                <a:solidFill>
                  <a:srgbClr val="C9CCD3"/>
                </a:solidFill>
                <a:latin typeface="Calibri" pitchFamily="34" charset="0"/>
                <a:ea typeface="Calibri" pitchFamily="34" charset="-122"/>
                <a:cs typeface="Calibri" pitchFamily="34" charset="-120"/>
              </a:rPr>
              <a:t>La frontera decide cuántos pasos necesita el sistema.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Tool Chaining &amp; Context Management</dc:title>
  <dc:subject>PptxGenJS Presentation</dc:subject>
  <dc:creator>Workshop</dc:creator>
  <cp:lastModifiedBy>Workshop</cp:lastModifiedBy>
  <cp:revision>1</cp:revision>
  <dcterms:created xsi:type="dcterms:W3CDTF">2026-07-31T17:10:43Z</dcterms:created>
  <dcterms:modified xsi:type="dcterms:W3CDTF">2026-07-31T17:10:43Z</dcterms:modified>
</cp:coreProperties>
</file>