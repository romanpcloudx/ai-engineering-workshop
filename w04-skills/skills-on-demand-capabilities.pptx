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~5 min.
Decir: hoy no vamos a hablar de skills como feature de un producto. Vamos a ver por que existen, que problema de ingenieria resuelven, y despues instalamos una en vivo y la vemos disparar y no disparar.
La frase del titulo es la idea entera: un skill es un indice. El indice es barato y esta siempre. El cuerpo es caro y se abre solo cuando lo necesitas.
Las tres preguntas que responde el bloque:
1) Que problema tiene meter todo en el system prompt (spoiler: no es solo el costo).
2) Que es exactamente un skill y como se carga.
3) Cuando conviene un skill y cuando conviene un prompt, una tool o un subagente.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Mapa del bloque. Dejarlo dos segundos y seguir.
VER: la slide 3, el problema. PROBAR: la demo con Codex. GENERALIZAR: skill vs prompt vs tool, y el checklist.
Prometer el resultado explicitamente, esta abajo en la slide: que puedan mirar su propio system prompt y decidir que parte de eso no deberia estar siempre.
Transicion: antes de definir que es un skill, veamos por que meter todo en el prompt sale 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corazon del bloque. Bajar el ritmo aca.
Costo visible: es el de M1. Tokens por turno, ventana compartida. La gente ya lo intuye.
Costo invisible, que es el que casi nadie mira: el system prompt no es documentacion, es influencia permanente. Todo lo que esta ahi participa de TODAS las decisiones, incluso las que no tienen nada que ver.
Contar el ejemplo como propio: alguien puso hace seis meses una linea de preferencia tecnologica en el system prompt. Hoy le pedis modelar algo relacional y el agente empuja para el otro lado. No esta fallando: esta obedeciendo una instruccion que ya no corresponde a este caso.
Preguntar a la sala: cuantas lineas de su system prompt son verdad SIEMPRE, y cuantas son verdad A VECES. Esa division es exactamente la frontera entre prompt y skill.
Conectar con bloque 12: esto es context pollution, pero autoinfligida y permanente.
Transicion: entonces la pregunta no es cuanto texto le doy, es cuando se lo doy.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Definicion operacional. Mostrar el archivo, no hablar del concepto.
Nombrar el formato explicitamente: esto de arriba, entre las lineas de guiones, es el frontmatter. Es la parte que siempre viaja al contexto. Abajo, markdown comun.
Leer el frontmatter en voz alta: name y description es lo unico obligatorio. Hay mas campos opcionales, pero con esos dos alcanza. Y aclarar cual de los dos importa: la description es la que decide si el skill se usa o no. El cuerpo decide si sirve una vez que se uso.
Senalar la ultima linea del cuerpo: el detalle de severidades no esta aca, esta en un archivo aparte. El cuerpo dice el procedimiento grueso y apunta. Eso es el nivel 3.
Columna derecha: los tres niveles, que es lo que vamos a ver en numeros en la proxima.
Dato para tirar al pasar: es un estandar abierto, o sea que esto no es lock-in. El mismo directorio lo levanta Codex, Cursor, Copilot, Gemini CLI. Por eso la demo la voy a hacer en Codex y no en Claude.
Transicion: este patron de cargar por niveles no lo invento nadie de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bisagra: se termina la teoria y empieza la implementacion.
Los cuatro pasos, rapido. Lo unico que hay que dejar clavado: dos pasos son de arranque y dos son del loop. Lo que se paga siempre es el indice.
Aclarar la pregunta que siempre aparece: por que una tool y no cargar todo al iniciar la sesion. Porque si cargas siempre, no estas difiriendo nada. Si siempre lo vas a cargar, ponelo en el prompt directamente y ahorrate el mecanismo. Hay implementaciones que hacen justamente eso con un hook de inicio de sesion, y no tiene mucho sentido.
El recuadro de la derecha es una postura, y conviene decirla como postura: en mi implementacion las tools son fijas. El skill trae conocimiento, no tools nuevas.
Hay frameworks que permiten que cada skill traiga sus propias tools. Se entiende de donde sale: no queres 30 tools cargadas para un chat que habla del clima. Pero tiene tres costos: rompe el cache de prompt porque las definiciones de tools van al principio del request, le hace aparecer capacidades nuevas al modelo a mitad de conversacion, y el set de tools deja de ser una propiedad del agente. Si te sobran tools, la respuesta suele ser un subagente, no un skill con tools.
Transicion: y esto en codigo son unas cuarenta lineas. Vamos a verlas.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slide del nivel 1. Es la parte fundamental del patron: aca se decide que se paga siempre.
Codigo de la izquierda, leerlo en voz alta: descubrir, renderizar el indice, concatenarlo al system prompt, y sumar dos tools al catalogo que ya existia. Siete lineas.
discover_skills: recorre la carpeta, abre cada SKILL.md, separa el frontmatter del cuerpo y arma un diccionario con description, dir y body. Es un parser de veinte lineas, no hay magia.
render_index: es la funcion que define el costo permanente del sistema. Precision que conviene decir bien, porque es facil decirlo mal: render_index no le manda nada al modelo. Devuelve un string. Ese string se concatena al system prompt, y recien ahi viaja. De todo lo que descubrio, en ese string va SOLO el nombre y la descripcion. Y ademas las tres reglas: si coincide cargala antes de responder, cargala una sola vez, y si ninguna aplica responde normal. Sin la primera regla el modelo tiende a contestar de memoria en vez de cargar la skill. Es la falla numero uno de un sistema de skills casero y se arregla en el prompt, no en el codigo.
El recuadro naranja es el detalle mas fino de toda la clase, y vale detenerse: el cuerpo YA se leyo del disco y esta en memoria del proceso. Pero no esta en el contexto del modelo. Progressive disclosure no es sobre no leer archivos, es sobre no ocupar la ventana. La restriccion escasa es el contexto, no el 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Presentarlo asi: para implementar este patron necesitamos dos tools. Y aclarar enseguida lo que es la confusion garantizada de la sala: NO hay una tool por skill. Son dos tools genericas que reciben el nombre de la skill como parametro. Podes tener cincuenta skills y siguen siendo dos tools.
load_skill trae el cuerpo del SKILL.md. Y subrayar lo que NO hace: no concatena la carpeta entera. Que una skill tenga diez archivos no significa que entren diez archivos al contexto. Entra el SKILL.md y nada mas.
read_skill_file trae un archivo puntual, el que el cuerpo del SKILL.md nombro. Ahi esta el guardarrail: resuelve la ruta y verifica que no se escape del directorio de la skill. Un ../../../etc/passwd se rechaza. Vale decir por que: ese argumento lo construye el modelo, y el modelo puede estar leyendo un documento con instrucciones inyectadas. Engancha con el bloque 08.
Aviso para mi mismo: en el codigo las descripciones de estas dos tools tienen que ser literales y en ingles: "load the full instructions for one skill listed in the index". Nada de metaforas adentro de la description. El modelo no comparte la metafora de la clase. Si alguien mira el codigo proyectado y ve la diferencia, es una buena pregunta para levantar.
La frase de abajo es la que ordena todo el bloque: para el harness esto no es un mecanismo nuevo. Son tools que devuelven texto. Lo nuevo es que devuelven instrucciones en vez de datos.
Y la ultima linea, si alguien pregunta por el if del dispatcher: ese if no decide si la tarea necesita una skill. Eso ya lo decidio el modelo cuando emitio el tool_use. El if solo decide que ejecutor conoce ese nombre.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slide que junta todo. Contarla como una historia, con el ejemplo de patos, que es tonto a proposito: nadie se distrae con el dominio y todos siguen el mecanismo.
El planteo: tengo una skill experta en patos. Le pregunto algo sobre patos azulados, una variedad rara.
Iteracion 1. En el contexto solo esta el indice: una linea que dice que existe una skill de patos. El modelo matchea y pide load_skill. Recibe el cuerpo del SKILL.md, y nada mas de la carpeta.
Iteracion 2. Ahora si tiene el cuerpo, y el cuerpo le dice algo que antes no podia saber: si preguntan por patos azulados, lea references/azulados.md. Pide ese archivo. Recibe ese archivo y solo ese.
Iteracion 3. Tiene indice, cuerpo, archivo y la pregunta original. No pide nada mas. Responde y el loop termina.
Los dos matices finos, que valen 30 segundos cada uno:
1) El modelo nunca hace nada, siempre pide. No abre archivos, no ejecuta codigo. Emite una intencion, un tool_use, y el harness va, busca y le devuelve el contenido como tool_result. El modelo decide, el harness ejecuta. Esto ya lo vieron en el bloque de tools: es la misma division de siempre.
2) La skill no se hace cargo de nada. Es texto muerto hasta que el modelo lo lee. Lo que hace ese texto es instruir. La inteligencia no sale del archivo, sale del modelo interpretando el archivo. Si alguien dice "la skill decide leer la referencia", corregir con cuidado: la skill lo sugiere, el modelo lo decide.
La imagen que funciona: es un edificio. El indice te dice que existe la planta de patos; la planta te dice que existe el sotano de los azulados; y bajas solo si tu pregunta te lleva ahi. Tres pisos, tres tool_result, un solo camino de vuelta.
Contrafactica para cerrar: si la pregunta hubiera sido sobre patos comunes, la iteracion 2 no existe. El sistema carga distinto segun la pregunta. Eso es exactamente lo que un system prompt no puede hacer.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ordenamiento. Es la que engancha con el bloque 07 de MCP.
Leer la tabla por la columna del medio, que es la que decide: cuando ocupa contexto. Ahi se ve la diferencia real entre las cuatro.
La confusion tipica en los equipos: usar el system prompt como si fuera un skill (siempre presente para algo que pasa a veces), y usar tools para cosas que el modelo ya resuelve solo. Esto ultimo lo vimos en el workshop de tools.
Fila que hay que subrayar: skill y tool no son alternativas. Un skill puede ser exactamente el instructivo de como encadenar tus tools o como usar un servidor MCP con sus rarezas. La tool da la capacidad, el skill da el criterio.
Si preguntan por subagentes, no abrir el tema: se ve en el bloque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que la gente fotografia. No leer las seis en voz alta: elegir tres y anclarlas a lo que ya vieron.
El 1 y el 2 son los que mas rinden.
- 1: el skill de la demo es puro conocimiento de entorno. Codigos que no existen en internet. Si el skill dice cosas que el modelo ya sabe, estas pagando contexto por nada.
- 2: la description es lo unico que esta siempre en el prompt. Entonces tiene que responder CUANDO, no QUE. Es una decision de routing, no una definicion de diccionario.
- 3: contraintuitivo y por eso vale decirlo. Los modelos tienden a sub-disparar los skills. Las recomendaciones oficiales son escribir descripciones deliberadamente insistentes, con las palabras que el usuario va a usar.
Anti-patrones: el ultimo es el mas importante y el menos obvio. El nivel 1 es barato por skill pero no gratis. Un catalogo inflado vuelve a crear el problema de la slide 2, solo que repartido.
Mencionar seguridad en una linea, sin abrir el tema: un skill son instrucciones que entran a tu contexto y codigo que corre en tu maquina. Instalar solo de fuentes confiables. Se ve en el bloque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preguntas.
Leer la pregunta del titulo, esperar dos segundos, y dar la respuesta de una linea: todo lo que sea verdad solo a veces.
Los tres puntos se leen, no se explican.
Dejar tiempo real para preguntas. No llenar el silencio.
Si nadie pregunta, arrancar yo: pedirles que piensen una instruccion de su propio system prompt que sea verdad solo a veces, y que la digan en voz alta. Ese es el primer skill que tendrian que escribir.
Gancho al proximo bloque: si un skill puede traer instrucciones al contexto, un servidor MCP puede traer capacidades. Mismo problema de fronteras, otra superficie. Eso es el bloque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191F"/>
          </a:solidFill>
          <a:ln/>
        </p:spPr>
      </p:sp>
      <p:sp>
        <p:nvSpPr>
          <p:cNvPr id="3" name="Shape 1"/>
          <p:cNvSpPr/>
          <p:nvPr/>
        </p:nvSpPr>
        <p:spPr>
          <a:xfrm>
            <a:off x="502920" y="1298448"/>
            <a:ext cx="457200" cy="82296"/>
          </a:xfrm>
          <a:prstGeom prst="rect">
            <a:avLst/>
          </a:prstGeom>
          <a:solidFill>
            <a:srgbClr val="E4572E"/>
          </a:solidFill>
          <a:ln/>
        </p:spPr>
      </p:sp>
      <p:sp>
        <p:nvSpPr>
          <p:cNvPr id="4" name="Text 2"/>
          <p:cNvSpPr txBox="1"/>
          <p:nvPr/>
        </p:nvSpPr>
        <p:spPr>
          <a:xfrm>
            <a:off x="502920" y="868680"/>
            <a:ext cx="5486400" cy="274320"/>
          </a:xfrm>
          <a:prstGeom prst="rect">
            <a:avLst/>
          </a:prstGeom>
          <a:noFill/>
          <a:ln/>
        </p:spPr>
        <p:txBody>
          <a:bodyPr wrap="square" lIns="0" tIns="0" rIns="0" bIns="0" rtlCol="0" anchor="ctr"/>
          <a:lstStyle/>
          <a:p>
            <a:pPr indent="0" marL="0">
              <a:buNone/>
            </a:pPr>
            <a:r>
              <a:rPr lang="en-US" sz="1200" spc="200" kern="0" dirty="0">
                <a:solidFill>
                  <a:srgbClr val="E4572E"/>
                </a:solidFill>
                <a:latin typeface="Calibri" pitchFamily="34" charset="0"/>
                <a:ea typeface="Calibri" pitchFamily="34" charset="-122"/>
                <a:cs typeface="Calibri" pitchFamily="34" charset="-120"/>
              </a:rPr>
              <a:t>Bloque 06</a:t>
            </a:r>
            <a:endParaRPr lang="en-US" sz="1200" dirty="0"/>
          </a:p>
        </p:txBody>
      </p:sp>
      <p:sp>
        <p:nvSpPr>
          <p:cNvPr id="5" name="Text 3"/>
          <p:cNvSpPr txBox="1"/>
          <p:nvPr/>
        </p:nvSpPr>
        <p:spPr>
          <a:xfrm>
            <a:off x="502920" y="1536192"/>
            <a:ext cx="8229600" cy="1554480"/>
          </a:xfrm>
          <a:prstGeom prst="rect">
            <a:avLst/>
          </a:prstGeom>
          <a:noFill/>
          <a:ln/>
        </p:spPr>
        <p:txBody>
          <a:bodyPr wrap="square" lIns="0" tIns="0" rIns="0" bIns="0" rtlCol="0" anchor="ctr"/>
          <a:lstStyle/>
          <a:p>
            <a:pPr indent="0" marL="0">
              <a:lnSpc>
                <a:spcPts val="4000"/>
              </a:lnSpc>
              <a:buNone/>
            </a:pPr>
            <a:r>
              <a:rPr lang="en-US" sz="3200" b="1" dirty="0">
                <a:solidFill>
                  <a:srgbClr val="FFFFFF"/>
                </a:solidFill>
                <a:latin typeface="Arial" pitchFamily="34" charset="0"/>
                <a:ea typeface="Arial" pitchFamily="34" charset="-122"/>
                <a:cs typeface="Arial" pitchFamily="34" charset="-120"/>
              </a:rPr>
              <a:t>Progressive Disclosure</a:t>
            </a:r>
            <a:endParaRPr lang="en-US" sz="3200" dirty="0"/>
          </a:p>
          <a:p>
            <a:pPr indent="0" marL="0">
              <a:lnSpc>
                <a:spcPts val="4000"/>
              </a:lnSpc>
              <a:buNone/>
            </a:pPr>
            <a:r>
              <a:rPr lang="en-US" sz="3200" b="1" dirty="0">
                <a:solidFill>
                  <a:srgbClr val="FFFFFF"/>
                </a:solidFill>
                <a:latin typeface="Arial" pitchFamily="34" charset="0"/>
                <a:ea typeface="Arial" pitchFamily="34" charset="-122"/>
                <a:cs typeface="Arial" pitchFamily="34" charset="-120"/>
              </a:rPr>
              <a:t>Skills &amp; On-Demand Capabilities</a:t>
            </a:r>
            <a:endParaRPr lang="en-US" sz="3200" dirty="0"/>
          </a:p>
        </p:txBody>
      </p:sp>
      <p:sp>
        <p:nvSpPr>
          <p:cNvPr id="6" name="Text 4"/>
          <p:cNvSpPr txBox="1"/>
          <p:nvPr/>
        </p:nvSpPr>
        <p:spPr>
          <a:xfrm>
            <a:off x="502920" y="3200400"/>
            <a:ext cx="8046720" cy="310896"/>
          </a:xfrm>
          <a:prstGeom prst="rect">
            <a:avLst/>
          </a:prstGeom>
          <a:noFill/>
          <a:ln/>
        </p:spPr>
        <p:txBody>
          <a:bodyPr wrap="square" lIns="0" tIns="0" rIns="0" bIns="0" rtlCol="0" anchor="ctr"/>
          <a:lstStyle/>
          <a:p>
            <a:pPr indent="0" marL="0">
              <a:buNone/>
            </a:pPr>
            <a:r>
              <a:rPr lang="en-US" sz="1400" i="1" dirty="0">
                <a:solidFill>
                  <a:srgbClr val="C9CCD1"/>
                </a:solidFill>
                <a:latin typeface="Calibri" pitchFamily="34" charset="0"/>
                <a:ea typeface="Calibri" pitchFamily="34" charset="-122"/>
                <a:cs typeface="Calibri" pitchFamily="34" charset="-120"/>
              </a:rPr>
              <a:t>Un skill es un índice: el modelo ve los títulos y abre sólo el que necesita.</a:t>
            </a:r>
            <a:endParaRPr lang="en-US" sz="1400" dirty="0"/>
          </a:p>
        </p:txBody>
      </p:sp>
      <p:sp>
        <p:nvSpPr>
          <p:cNvPr id="7" name="Text 5"/>
          <p:cNvSpPr txBox="1"/>
          <p:nvPr/>
        </p:nvSpPr>
        <p:spPr>
          <a:xfrm>
            <a:off x="502920" y="3703320"/>
            <a:ext cx="8046720" cy="274320"/>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Un índice en el system prompt  ·  el cuerpo sólo cuando hace falta</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txBox="1"/>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4" name="Text 2"/>
          <p:cNvSpPr txBox="1"/>
          <p:nvPr/>
        </p:nvSpPr>
        <p:spPr>
          <a:xfrm>
            <a:off x="978408" y="310896"/>
            <a:ext cx="7662672" cy="438912"/>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El recorrido</a:t>
            </a:r>
            <a:endParaRPr lang="en-US" sz="2700" dirty="0"/>
          </a:p>
        </p:txBody>
      </p:sp>
      <p:sp>
        <p:nvSpPr>
          <p:cNvPr id="5" name="Shape 3"/>
          <p:cNvSpPr/>
          <p:nvPr/>
        </p:nvSpPr>
        <p:spPr>
          <a:xfrm>
            <a:off x="502920" y="1207008"/>
            <a:ext cx="2529840" cy="274320"/>
          </a:xfrm>
          <a:prstGeom prst="rect">
            <a:avLst/>
          </a:prstGeom>
          <a:solidFill>
            <a:srgbClr val="E4572E"/>
          </a:solidFill>
          <a:ln/>
        </p:spPr>
      </p:sp>
      <p:sp>
        <p:nvSpPr>
          <p:cNvPr id="6" name="Text 4"/>
          <p:cNvSpPr txBox="1"/>
          <p:nvPr/>
        </p:nvSpPr>
        <p:spPr>
          <a:xfrm>
            <a:off x="630936" y="1207008"/>
            <a:ext cx="2273808" cy="2743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Arial" pitchFamily="34" charset="0"/>
                <a:ea typeface="Arial" pitchFamily="34" charset="-122"/>
                <a:cs typeface="Arial" pitchFamily="34" charset="-120"/>
              </a:rPr>
              <a:t>VER</a:t>
            </a:r>
            <a:endParaRPr lang="en-US" sz="1000" dirty="0"/>
          </a:p>
        </p:txBody>
      </p:sp>
      <p:sp>
        <p:nvSpPr>
          <p:cNvPr id="7" name="Shape 5"/>
          <p:cNvSpPr/>
          <p:nvPr/>
        </p:nvSpPr>
        <p:spPr>
          <a:xfrm>
            <a:off x="502920" y="1481328"/>
            <a:ext cx="2529840" cy="1481328"/>
          </a:xfrm>
          <a:prstGeom prst="rect">
            <a:avLst/>
          </a:prstGeom>
          <a:solidFill>
            <a:srgbClr val="F1F2F4"/>
          </a:solidFill>
          <a:ln/>
        </p:spPr>
      </p:sp>
      <p:sp>
        <p:nvSpPr>
          <p:cNvPr id="8" name="Text 6"/>
          <p:cNvSpPr txBox="1"/>
          <p:nvPr/>
        </p:nvSpPr>
        <p:spPr>
          <a:xfrm>
            <a:off x="649224" y="1627632"/>
            <a:ext cx="2237232" cy="274320"/>
          </a:xfrm>
          <a:prstGeom prst="rect">
            <a:avLst/>
          </a:prstGeom>
          <a:noFill/>
          <a:ln/>
        </p:spPr>
        <p:txBody>
          <a:bodyPr wrap="square" lIns="0" tIns="0" rIns="0" bIns="0" rtlCol="0" anchor="ctr"/>
          <a:lstStyle/>
          <a:p>
            <a:pPr indent="0" marL="0">
              <a:buNone/>
            </a:pPr>
            <a:r>
              <a:rPr lang="en-US" sz="1400" b="1" dirty="0">
                <a:solidFill>
                  <a:srgbClr val="16191F"/>
                </a:solidFill>
                <a:latin typeface="Arial" pitchFamily="34" charset="0"/>
                <a:ea typeface="Arial" pitchFamily="34" charset="-122"/>
                <a:cs typeface="Arial" pitchFamily="34" charset="-120"/>
              </a:rPr>
              <a:t>Por qué existen</a:t>
            </a:r>
            <a:endParaRPr lang="en-US" sz="1400" dirty="0"/>
          </a:p>
        </p:txBody>
      </p:sp>
      <p:sp>
        <p:nvSpPr>
          <p:cNvPr id="9" name="Text 7"/>
          <p:cNvSpPr txBox="1"/>
          <p:nvPr/>
        </p:nvSpPr>
        <p:spPr>
          <a:xfrm>
            <a:off x="649224" y="1975104"/>
            <a:ext cx="2237232" cy="868680"/>
          </a:xfrm>
          <a:prstGeom prst="rect">
            <a:avLst/>
          </a:prstGeom>
          <a:noFill/>
          <a:ln/>
        </p:spPr>
        <p:txBody>
          <a:bodyPr wrap="square" lIns="0" tIns="0" rIns="0" bIns="0" rtlCol="0" anchor="t"/>
          <a:lstStyle/>
          <a:p>
            <a:pPr indent="0" marL="0">
              <a:lnSpc>
                <a:spcPts val="1600"/>
              </a:lnSpc>
              <a:buNone/>
            </a:pPr>
            <a:r>
              <a:rPr lang="en-US" sz="1200" dirty="0">
                <a:solidFill>
                  <a:srgbClr val="2A2E36"/>
                </a:solidFill>
                <a:latin typeface="Calibri" pitchFamily="34" charset="0"/>
                <a:ea typeface="Calibri" pitchFamily="34" charset="-122"/>
                <a:cs typeface="Calibri" pitchFamily="34" charset="-120"/>
              </a:rPr>
              <a:t>Qué le pasa a un system</a:t>
            </a:r>
            <a:endParaRPr lang="en-US" sz="1200" dirty="0"/>
          </a:p>
          <a:p>
            <a:pPr indent="0" marL="0">
              <a:lnSpc>
                <a:spcPts val="1600"/>
              </a:lnSpc>
              <a:buNone/>
            </a:pPr>
            <a:r>
              <a:rPr lang="en-US" sz="1200" dirty="0">
                <a:solidFill>
                  <a:srgbClr val="2A2E36"/>
                </a:solidFill>
                <a:latin typeface="Calibri" pitchFamily="34" charset="0"/>
                <a:ea typeface="Calibri" pitchFamily="34" charset="-122"/>
                <a:cs typeface="Calibri" pitchFamily="34" charset="-120"/>
              </a:rPr>
              <a:t>prompt que acumula todo.</a:t>
            </a:r>
            <a:endParaRPr lang="en-US" sz="1200" dirty="0"/>
          </a:p>
          <a:p>
            <a:pPr indent="0" marL="0">
              <a:lnSpc>
                <a:spcPts val="1600"/>
              </a:lnSpc>
              <a:buNone/>
            </a:pPr>
            <a:r>
              <a:rPr lang="en-US" sz="1200" dirty="0">
                <a:solidFill>
                  <a:srgbClr val="2A2E36"/>
                </a:solidFill>
                <a:latin typeface="Calibri" pitchFamily="34" charset="0"/>
                <a:ea typeface="Calibri" pitchFamily="34" charset="-122"/>
                <a:cs typeface="Calibri" pitchFamily="34" charset="-120"/>
              </a:rPr>
              <a:t>De ahí sale el patrón.</a:t>
            </a:r>
            <a:endParaRPr lang="en-US" sz="1200" dirty="0"/>
          </a:p>
        </p:txBody>
      </p:sp>
      <p:sp>
        <p:nvSpPr>
          <p:cNvPr id="10" name="Shape 8"/>
          <p:cNvSpPr/>
          <p:nvPr/>
        </p:nvSpPr>
        <p:spPr>
          <a:xfrm>
            <a:off x="3307080" y="1207008"/>
            <a:ext cx="2529840" cy="274320"/>
          </a:xfrm>
          <a:prstGeom prst="rect">
            <a:avLst/>
          </a:prstGeom>
          <a:solidFill>
            <a:srgbClr val="A4232B"/>
          </a:solidFill>
          <a:ln/>
        </p:spPr>
      </p:sp>
      <p:sp>
        <p:nvSpPr>
          <p:cNvPr id="11" name="Text 9"/>
          <p:cNvSpPr txBox="1"/>
          <p:nvPr/>
        </p:nvSpPr>
        <p:spPr>
          <a:xfrm>
            <a:off x="3435096" y="1207008"/>
            <a:ext cx="2273808" cy="2743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Arial" pitchFamily="34" charset="0"/>
                <a:ea typeface="Arial" pitchFamily="34" charset="-122"/>
                <a:cs typeface="Arial" pitchFamily="34" charset="-120"/>
              </a:rPr>
              <a:t>IMPLEMENTAR</a:t>
            </a:r>
            <a:endParaRPr lang="en-US" sz="1000" dirty="0"/>
          </a:p>
        </p:txBody>
      </p:sp>
      <p:sp>
        <p:nvSpPr>
          <p:cNvPr id="12" name="Shape 10"/>
          <p:cNvSpPr/>
          <p:nvPr/>
        </p:nvSpPr>
        <p:spPr>
          <a:xfrm>
            <a:off x="3307080" y="1481328"/>
            <a:ext cx="2529840" cy="1481328"/>
          </a:xfrm>
          <a:prstGeom prst="rect">
            <a:avLst/>
          </a:prstGeom>
          <a:solidFill>
            <a:srgbClr val="F1F2F4"/>
          </a:solidFill>
          <a:ln/>
        </p:spPr>
      </p:sp>
      <p:sp>
        <p:nvSpPr>
          <p:cNvPr id="13" name="Text 11"/>
          <p:cNvSpPr txBox="1"/>
          <p:nvPr/>
        </p:nvSpPr>
        <p:spPr>
          <a:xfrm>
            <a:off x="3453384" y="1627632"/>
            <a:ext cx="2237232" cy="274320"/>
          </a:xfrm>
          <a:prstGeom prst="rect">
            <a:avLst/>
          </a:prstGeom>
          <a:noFill/>
          <a:ln/>
        </p:spPr>
        <p:txBody>
          <a:bodyPr wrap="square" lIns="0" tIns="0" rIns="0" bIns="0" rtlCol="0" anchor="ctr"/>
          <a:lstStyle/>
          <a:p>
            <a:pPr indent="0" marL="0">
              <a:buNone/>
            </a:pPr>
            <a:r>
              <a:rPr lang="en-US" sz="1400" b="1" dirty="0">
                <a:solidFill>
                  <a:srgbClr val="16191F"/>
                </a:solidFill>
                <a:latin typeface="Arial" pitchFamily="34" charset="0"/>
                <a:ea typeface="Arial" pitchFamily="34" charset="-122"/>
                <a:cs typeface="Arial" pitchFamily="34" charset="-120"/>
              </a:rPr>
              <a:t>Lo programamos</a:t>
            </a:r>
            <a:endParaRPr lang="en-US" sz="1400" dirty="0"/>
          </a:p>
        </p:txBody>
      </p:sp>
      <p:sp>
        <p:nvSpPr>
          <p:cNvPr id="14" name="Text 12"/>
          <p:cNvSpPr txBox="1"/>
          <p:nvPr/>
        </p:nvSpPr>
        <p:spPr>
          <a:xfrm>
            <a:off x="3453384" y="1975104"/>
            <a:ext cx="2237232" cy="868680"/>
          </a:xfrm>
          <a:prstGeom prst="rect">
            <a:avLst/>
          </a:prstGeom>
          <a:noFill/>
          <a:ln/>
        </p:spPr>
        <p:txBody>
          <a:bodyPr wrap="square" lIns="0" tIns="0" rIns="0" bIns="0" rtlCol="0" anchor="t"/>
          <a:lstStyle/>
          <a:p>
            <a:pPr indent="0" marL="0">
              <a:lnSpc>
                <a:spcPts val="1600"/>
              </a:lnSpc>
              <a:buNone/>
            </a:pPr>
            <a:r>
              <a:rPr lang="en-US" sz="1200" dirty="0">
                <a:solidFill>
                  <a:srgbClr val="2A2E36"/>
                </a:solidFill>
                <a:latin typeface="Calibri" pitchFamily="34" charset="0"/>
                <a:ea typeface="Calibri" pitchFamily="34" charset="-122"/>
                <a:cs typeface="Calibri" pitchFamily="34" charset="-120"/>
              </a:rPr>
              <a:t>El mecanismo, el código</a:t>
            </a:r>
            <a:endParaRPr lang="en-US" sz="1200" dirty="0"/>
          </a:p>
          <a:p>
            <a:pPr indent="0" marL="0">
              <a:lnSpc>
                <a:spcPts val="1600"/>
              </a:lnSpc>
              <a:buNone/>
            </a:pPr>
            <a:r>
              <a:rPr lang="en-US" sz="1200" dirty="0">
                <a:solidFill>
                  <a:srgbClr val="2A2E36"/>
                </a:solidFill>
                <a:latin typeface="Calibri" pitchFamily="34" charset="0"/>
                <a:ea typeface="Calibri" pitchFamily="34" charset="-122"/>
                <a:cs typeface="Calibri" pitchFamily="34" charset="-120"/>
              </a:rPr>
              <a:t>y el camino completo</a:t>
            </a:r>
            <a:endParaRPr lang="en-US" sz="1200" dirty="0"/>
          </a:p>
          <a:p>
            <a:pPr indent="0" marL="0">
              <a:lnSpc>
                <a:spcPts val="1600"/>
              </a:lnSpc>
              <a:buNone/>
            </a:pPr>
            <a:r>
              <a:rPr lang="en-US" sz="1200" dirty="0">
                <a:solidFill>
                  <a:srgbClr val="2A2E36"/>
                </a:solidFill>
                <a:latin typeface="Calibri" pitchFamily="34" charset="0"/>
                <a:ea typeface="Calibri" pitchFamily="34" charset="-122"/>
                <a:cs typeface="Calibri" pitchFamily="34" charset="-120"/>
              </a:rPr>
              <a:t>de una consulta.</a:t>
            </a:r>
            <a:endParaRPr lang="en-US" sz="1200" dirty="0"/>
          </a:p>
        </p:txBody>
      </p:sp>
      <p:sp>
        <p:nvSpPr>
          <p:cNvPr id="15" name="Shape 13"/>
          <p:cNvSpPr/>
          <p:nvPr/>
        </p:nvSpPr>
        <p:spPr>
          <a:xfrm>
            <a:off x="6111240" y="1207008"/>
            <a:ext cx="2529840" cy="274320"/>
          </a:xfrm>
          <a:prstGeom prst="rect">
            <a:avLst/>
          </a:prstGeom>
          <a:solidFill>
            <a:srgbClr val="12715B"/>
          </a:solidFill>
          <a:ln/>
        </p:spPr>
      </p:sp>
      <p:sp>
        <p:nvSpPr>
          <p:cNvPr id="16" name="Text 14"/>
          <p:cNvSpPr txBox="1"/>
          <p:nvPr/>
        </p:nvSpPr>
        <p:spPr>
          <a:xfrm>
            <a:off x="6239256" y="1207008"/>
            <a:ext cx="2273808" cy="2743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Arial" pitchFamily="34" charset="0"/>
                <a:ea typeface="Arial" pitchFamily="34" charset="-122"/>
                <a:cs typeface="Arial" pitchFamily="34" charset="-120"/>
              </a:rPr>
              <a:t>DECIDIR</a:t>
            </a:r>
            <a:endParaRPr lang="en-US" sz="1000" dirty="0"/>
          </a:p>
        </p:txBody>
      </p:sp>
      <p:sp>
        <p:nvSpPr>
          <p:cNvPr id="17" name="Shape 15"/>
          <p:cNvSpPr/>
          <p:nvPr/>
        </p:nvSpPr>
        <p:spPr>
          <a:xfrm>
            <a:off x="6111240" y="1481328"/>
            <a:ext cx="2529840" cy="1481328"/>
          </a:xfrm>
          <a:prstGeom prst="rect">
            <a:avLst/>
          </a:prstGeom>
          <a:solidFill>
            <a:srgbClr val="F1F2F4"/>
          </a:solidFill>
          <a:ln/>
        </p:spPr>
      </p:sp>
      <p:sp>
        <p:nvSpPr>
          <p:cNvPr id="18" name="Text 16"/>
          <p:cNvSpPr txBox="1"/>
          <p:nvPr/>
        </p:nvSpPr>
        <p:spPr>
          <a:xfrm>
            <a:off x="6257544" y="1627632"/>
            <a:ext cx="2237232" cy="274320"/>
          </a:xfrm>
          <a:prstGeom prst="rect">
            <a:avLst/>
          </a:prstGeom>
          <a:noFill/>
          <a:ln/>
        </p:spPr>
        <p:txBody>
          <a:bodyPr wrap="square" lIns="0" tIns="0" rIns="0" bIns="0" rtlCol="0" anchor="ctr"/>
          <a:lstStyle/>
          <a:p>
            <a:pPr indent="0" marL="0">
              <a:buNone/>
            </a:pPr>
            <a:r>
              <a:rPr lang="en-US" sz="1400" b="1" dirty="0">
                <a:solidFill>
                  <a:srgbClr val="16191F"/>
                </a:solidFill>
                <a:latin typeface="Arial" pitchFamily="34" charset="0"/>
                <a:ea typeface="Arial" pitchFamily="34" charset="-122"/>
                <a:cs typeface="Arial" pitchFamily="34" charset="-120"/>
              </a:rPr>
              <a:t>Skill, prompt, tool o MCP</a:t>
            </a:r>
            <a:endParaRPr lang="en-US" sz="1400" dirty="0"/>
          </a:p>
        </p:txBody>
      </p:sp>
      <p:sp>
        <p:nvSpPr>
          <p:cNvPr id="19" name="Text 17"/>
          <p:cNvSpPr txBox="1"/>
          <p:nvPr/>
        </p:nvSpPr>
        <p:spPr>
          <a:xfrm>
            <a:off x="6257544" y="1975104"/>
            <a:ext cx="2237232" cy="868680"/>
          </a:xfrm>
          <a:prstGeom prst="rect">
            <a:avLst/>
          </a:prstGeom>
          <a:noFill/>
          <a:ln/>
        </p:spPr>
        <p:txBody>
          <a:bodyPr wrap="square" lIns="0" tIns="0" rIns="0" bIns="0" rtlCol="0" anchor="t"/>
          <a:lstStyle/>
          <a:p>
            <a:pPr indent="0" marL="0">
              <a:lnSpc>
                <a:spcPts val="1600"/>
              </a:lnSpc>
              <a:buNone/>
            </a:pPr>
            <a:r>
              <a:rPr lang="en-US" sz="1200" dirty="0">
                <a:solidFill>
                  <a:srgbClr val="2A2E36"/>
                </a:solidFill>
                <a:latin typeface="Calibri" pitchFamily="34" charset="0"/>
                <a:ea typeface="Calibri" pitchFamily="34" charset="-122"/>
                <a:cs typeface="Calibri" pitchFamily="34" charset="-120"/>
              </a:rPr>
              <a:t>Qué va en cada uno</a:t>
            </a:r>
            <a:endParaRPr lang="en-US" sz="1200" dirty="0"/>
          </a:p>
          <a:p>
            <a:pPr indent="0" marL="0">
              <a:lnSpc>
                <a:spcPts val="1600"/>
              </a:lnSpc>
              <a:buNone/>
            </a:pPr>
            <a:r>
              <a:rPr lang="en-US" sz="1200" dirty="0">
                <a:solidFill>
                  <a:srgbClr val="2A2E36"/>
                </a:solidFill>
                <a:latin typeface="Calibri" pitchFamily="34" charset="0"/>
                <a:ea typeface="Calibri" pitchFamily="34" charset="-122"/>
                <a:cs typeface="Calibri" pitchFamily="34" charset="-120"/>
              </a:rPr>
              <a:t>y cómo se escribe una</a:t>
            </a:r>
            <a:endParaRPr lang="en-US" sz="1200" dirty="0"/>
          </a:p>
          <a:p>
            <a:pPr indent="0" marL="0">
              <a:lnSpc>
                <a:spcPts val="1600"/>
              </a:lnSpc>
              <a:buNone/>
            </a:pPr>
            <a:r>
              <a:rPr lang="en-US" sz="1200" dirty="0">
                <a:solidFill>
                  <a:srgbClr val="2A2E36"/>
                </a:solidFill>
                <a:latin typeface="Calibri" pitchFamily="34" charset="0"/>
                <a:ea typeface="Calibri" pitchFamily="34" charset="-122"/>
                <a:cs typeface="Calibri" pitchFamily="34" charset="-120"/>
              </a:rPr>
              <a:t>que realmente dispare.</a:t>
            </a:r>
            <a:endParaRPr lang="en-US" sz="1200" dirty="0"/>
          </a:p>
        </p:txBody>
      </p:sp>
      <p:sp>
        <p:nvSpPr>
          <p:cNvPr id="20" name="Text 18"/>
          <p:cNvSpPr txBox="1"/>
          <p:nvPr/>
        </p:nvSpPr>
        <p:spPr>
          <a:xfrm>
            <a:off x="502920" y="3310128"/>
            <a:ext cx="7498080" cy="640080"/>
          </a:xfrm>
          <a:prstGeom prst="rect">
            <a:avLst/>
          </a:prstGeom>
          <a:noFill/>
          <a:ln/>
        </p:spPr>
        <p:txBody>
          <a:bodyPr wrap="square" lIns="0" tIns="0" rIns="0" bIns="0" rtlCol="0" anchor="ctr"/>
          <a:lstStyle/>
          <a:p>
            <a:pPr indent="0" marL="0">
              <a:lnSpc>
                <a:spcPts val="1900"/>
              </a:lnSpc>
              <a:buNone/>
            </a:pPr>
            <a:r>
              <a:rPr lang="en-US" sz="1300" dirty="0">
                <a:solidFill>
                  <a:srgbClr val="2A2E36"/>
                </a:solidFill>
                <a:latin typeface="Calibri" pitchFamily="34" charset="0"/>
                <a:ea typeface="Calibri" pitchFamily="34" charset="-122"/>
                <a:cs typeface="Calibri" pitchFamily="34" charset="-120"/>
              </a:rPr>
              <a:t>Al salir de acá deberías poder implementar skills en tu propio agente,</a:t>
            </a:r>
            <a:endParaRPr lang="en-US" sz="1300" dirty="0"/>
          </a:p>
          <a:p>
            <a:pPr indent="0" marL="0">
              <a:lnSpc>
                <a:spcPts val="1900"/>
              </a:lnSpc>
              <a:buNone/>
            </a:pPr>
            <a:r>
              <a:rPr lang="en-US" sz="1300" dirty="0">
                <a:solidFill>
                  <a:srgbClr val="2A2E36"/>
                </a:solidFill>
                <a:latin typeface="Calibri" pitchFamily="34" charset="0"/>
                <a:ea typeface="Calibri" pitchFamily="34" charset="-122"/>
                <a:cs typeface="Calibri" pitchFamily="34" charset="-120"/>
              </a:rPr>
              <a:t>y decidir qué de lo que hoy vive en tu system prompt debería ser uno.</a:t>
            </a:r>
            <a:endParaRPr lang="en-US" sz="1300" dirty="0"/>
          </a:p>
        </p:txBody>
      </p:sp>
      <p:sp>
        <p:nvSpPr>
          <p:cNvPr id="21" name="Shape 19"/>
          <p:cNvSpPr/>
          <p:nvPr/>
        </p:nvSpPr>
        <p:spPr>
          <a:xfrm>
            <a:off x="502920" y="4114800"/>
            <a:ext cx="50292" cy="274320"/>
          </a:xfrm>
          <a:prstGeom prst="rect">
            <a:avLst/>
          </a:prstGeom>
          <a:solidFill>
            <a:srgbClr val="E4572E"/>
          </a:solidFill>
          <a:ln/>
        </p:spPr>
      </p:sp>
      <p:sp>
        <p:nvSpPr>
          <p:cNvPr id="22" name="Text 20"/>
          <p:cNvSpPr txBox="1"/>
          <p:nvPr/>
        </p:nvSpPr>
        <p:spPr>
          <a:xfrm>
            <a:off x="685800" y="4087368"/>
            <a:ext cx="7955280" cy="329184"/>
          </a:xfrm>
          <a:prstGeom prst="rect">
            <a:avLst/>
          </a:prstGeom>
          <a:noFill/>
          <a:ln/>
        </p:spPr>
        <p:txBody>
          <a:bodyPr wrap="square" lIns="0" tIns="0" rIns="0" bIns="0" rtlCol="0" anchor="ctr"/>
          <a:lstStyle/>
          <a:p>
            <a:pPr indent="0" marL="0">
              <a:buNone/>
            </a:pPr>
            <a:r>
              <a:rPr lang="en-US" sz="1250" b="1" dirty="0">
                <a:solidFill>
                  <a:srgbClr val="16191F"/>
                </a:solidFill>
                <a:latin typeface="Calibri" pitchFamily="34" charset="0"/>
                <a:ea typeface="Calibri" pitchFamily="34" charset="-122"/>
                <a:cs typeface="Calibri" pitchFamily="34" charset="-120"/>
              </a:rPr>
              <a:t>Un archivo de texto y dos tools. Eso es todo el sistema.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txBox="1"/>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 name="Text 2"/>
          <p:cNvSpPr txBox="1"/>
          <p:nvPr/>
        </p:nvSpPr>
        <p:spPr>
          <a:xfrm>
            <a:off x="978408" y="310896"/>
            <a:ext cx="7662672" cy="438912"/>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El costo de meter todo en el prompt</a:t>
            </a:r>
            <a:endParaRPr lang="en-US" sz="2700" dirty="0"/>
          </a:p>
        </p:txBody>
      </p:sp>
      <p:sp>
        <p:nvSpPr>
          <p:cNvPr id="5" name="Text 3"/>
          <p:cNvSpPr txBox="1"/>
          <p:nvPr/>
        </p:nvSpPr>
        <p:spPr>
          <a:xfrm>
            <a:off x="978408" y="768096"/>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Dos costos: uno aparece en la factura, el otro no aparece nunca</a:t>
            </a:r>
            <a:endParaRPr lang="en-US" sz="1300" dirty="0"/>
          </a:p>
        </p:txBody>
      </p:sp>
      <p:sp>
        <p:nvSpPr>
          <p:cNvPr id="6" name="Shape 4"/>
          <p:cNvSpPr/>
          <p:nvPr/>
        </p:nvSpPr>
        <p:spPr>
          <a:xfrm>
            <a:off x="502920" y="1170432"/>
            <a:ext cx="3931920" cy="274320"/>
          </a:xfrm>
          <a:prstGeom prst="rect">
            <a:avLst/>
          </a:prstGeom>
          <a:solidFill>
            <a:srgbClr val="6E7681"/>
          </a:solidFill>
          <a:ln/>
        </p:spPr>
      </p:sp>
      <p:sp>
        <p:nvSpPr>
          <p:cNvPr id="7" name="Text 5"/>
          <p:cNvSpPr txBox="1"/>
          <p:nvPr/>
        </p:nvSpPr>
        <p:spPr>
          <a:xfrm>
            <a:off x="630936" y="1170432"/>
            <a:ext cx="3675888" cy="2743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Arial" pitchFamily="34" charset="0"/>
                <a:ea typeface="Arial" pitchFamily="34" charset="-122"/>
                <a:cs typeface="Arial" pitchFamily="34" charset="-120"/>
              </a:rPr>
              <a:t>COSTO VISIBLE  ·  TOKENS</a:t>
            </a:r>
            <a:endParaRPr lang="en-US" sz="1000" dirty="0"/>
          </a:p>
        </p:txBody>
      </p:sp>
      <p:sp>
        <p:nvSpPr>
          <p:cNvPr id="8" name="Shape 6"/>
          <p:cNvSpPr/>
          <p:nvPr/>
        </p:nvSpPr>
        <p:spPr>
          <a:xfrm>
            <a:off x="502920" y="1444752"/>
            <a:ext cx="3931920" cy="2121408"/>
          </a:xfrm>
          <a:prstGeom prst="rect">
            <a:avLst/>
          </a:prstGeom>
          <a:solidFill>
            <a:srgbClr val="F1F2F4"/>
          </a:solidFill>
          <a:ln/>
        </p:spPr>
      </p:sp>
      <p:sp>
        <p:nvSpPr>
          <p:cNvPr id="9" name="Text 7"/>
          <p:cNvSpPr txBox="1"/>
          <p:nvPr/>
        </p:nvSpPr>
        <p:spPr>
          <a:xfrm>
            <a:off x="667512" y="1591056"/>
            <a:ext cx="3602736" cy="16459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A2E36"/>
                </a:solidFill>
                <a:latin typeface="Calibri" pitchFamily="34" charset="0"/>
                <a:ea typeface="Calibri" pitchFamily="34" charset="-122"/>
                <a:cs typeface="Calibri" pitchFamily="34" charset="-120"/>
              </a:rPr>
              <a:t>Viaja en cada llamada, use el modelo esa instrucción o no.</a:t>
            </a:r>
            <a:endParaRPr lang="en-US" sz="1200" dirty="0"/>
          </a:p>
          <a:p>
            <a:pPr marL="342900" indent="-342900">
              <a:spcAft>
                <a:spcPts val="600"/>
              </a:spcAft>
              <a:buSzPct val="100000"/>
              <a:buChar char="•"/>
            </a:pPr>
            <a:r>
              <a:rPr lang="en-US" sz="1200" dirty="0">
                <a:solidFill>
                  <a:srgbClr val="2A2E36"/>
                </a:solidFill>
                <a:latin typeface="Calibri" pitchFamily="34" charset="0"/>
                <a:ea typeface="Calibri" pitchFamily="34" charset="-122"/>
                <a:cs typeface="Calibri" pitchFamily="34" charset="-120"/>
              </a:rPr>
              <a:t>Se paga por turno, no por uso.</a:t>
            </a:r>
            <a:endParaRPr lang="en-US" sz="1200" dirty="0"/>
          </a:p>
          <a:p>
            <a:pPr marL="342900" indent="-342900">
              <a:spcAft>
                <a:spcPts val="600"/>
              </a:spcAft>
              <a:buSzPct val="100000"/>
              <a:buChar char="•"/>
            </a:pPr>
            <a:r>
              <a:rPr lang="en-US" sz="1200" dirty="0">
                <a:solidFill>
                  <a:srgbClr val="2A2E36"/>
                </a:solidFill>
                <a:latin typeface="Calibri" pitchFamily="34" charset="0"/>
                <a:ea typeface="Calibri" pitchFamily="34" charset="-122"/>
                <a:cs typeface="Calibri" pitchFamily="34" charset="-120"/>
              </a:rPr>
              <a:t>Ocupa lugar que necesitan el historial, los resultados de tools y lo recuperado.</a:t>
            </a:r>
            <a:endParaRPr lang="en-US" sz="1200" dirty="0"/>
          </a:p>
          <a:p>
            <a:pPr marL="342900" indent="-342900">
              <a:spcAft>
                <a:spcPts val="600"/>
              </a:spcAft>
              <a:buSzPct val="100000"/>
              <a:buChar char="•"/>
            </a:pPr>
            <a:r>
              <a:rPr lang="en-US" sz="1200" dirty="0">
                <a:solidFill>
                  <a:srgbClr val="2A2E36"/>
                </a:solidFill>
                <a:latin typeface="Calibri" pitchFamily="34" charset="0"/>
                <a:ea typeface="Calibri" pitchFamily="34" charset="-122"/>
                <a:cs typeface="Calibri" pitchFamily="34" charset="-120"/>
              </a:rPr>
              <a:t>Crece siempre: nadie borra una línea del system prompt.</a:t>
            </a:r>
            <a:endParaRPr lang="en-US" sz="1200" dirty="0"/>
          </a:p>
        </p:txBody>
      </p:sp>
      <p:sp>
        <p:nvSpPr>
          <p:cNvPr id="10" name="Shape 8"/>
          <p:cNvSpPr/>
          <p:nvPr/>
        </p:nvSpPr>
        <p:spPr>
          <a:xfrm>
            <a:off x="4709160" y="1170432"/>
            <a:ext cx="3931920" cy="274320"/>
          </a:xfrm>
          <a:prstGeom prst="rect">
            <a:avLst/>
          </a:prstGeom>
          <a:solidFill>
            <a:srgbClr val="A4232B"/>
          </a:solidFill>
          <a:ln/>
        </p:spPr>
      </p:sp>
      <p:sp>
        <p:nvSpPr>
          <p:cNvPr id="11" name="Text 9"/>
          <p:cNvSpPr txBox="1"/>
          <p:nvPr/>
        </p:nvSpPr>
        <p:spPr>
          <a:xfrm>
            <a:off x="4837176" y="1170432"/>
            <a:ext cx="3675888" cy="2743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Arial" pitchFamily="34" charset="0"/>
                <a:ea typeface="Arial" pitchFamily="34" charset="-122"/>
                <a:cs typeface="Arial" pitchFamily="34" charset="-120"/>
              </a:rPr>
              <a:t>COSTO INVISIBLE  ·  SESGO</a:t>
            </a:r>
            <a:endParaRPr lang="en-US" sz="1000" dirty="0"/>
          </a:p>
        </p:txBody>
      </p:sp>
      <p:sp>
        <p:nvSpPr>
          <p:cNvPr id="12" name="Shape 10"/>
          <p:cNvSpPr/>
          <p:nvPr/>
        </p:nvSpPr>
        <p:spPr>
          <a:xfrm>
            <a:off x="4709160" y="1444752"/>
            <a:ext cx="3931920" cy="2121408"/>
          </a:xfrm>
          <a:prstGeom prst="rect">
            <a:avLst/>
          </a:prstGeom>
          <a:solidFill>
            <a:srgbClr val="F1F2F4"/>
          </a:solidFill>
          <a:ln/>
        </p:spPr>
      </p:sp>
      <p:sp>
        <p:nvSpPr>
          <p:cNvPr id="13" name="Text 11"/>
          <p:cNvSpPr txBox="1"/>
          <p:nvPr/>
        </p:nvSpPr>
        <p:spPr>
          <a:xfrm>
            <a:off x="4873752" y="1591056"/>
            <a:ext cx="3602736" cy="237744"/>
          </a:xfrm>
          <a:prstGeom prst="rect">
            <a:avLst/>
          </a:prstGeom>
          <a:noFill/>
          <a:ln/>
        </p:spPr>
        <p:txBody>
          <a:bodyPr wrap="square" lIns="0" tIns="0" rIns="0" bIns="0" rtlCol="0" anchor="ctr"/>
          <a:lstStyle/>
          <a:p>
            <a:pPr indent="0" marL="0">
              <a:buNone/>
            </a:pPr>
            <a:r>
              <a:rPr lang="en-US" sz="1200" b="1" dirty="0">
                <a:solidFill>
                  <a:srgbClr val="16191F"/>
                </a:solidFill>
                <a:latin typeface="Calibri" pitchFamily="34" charset="0"/>
                <a:ea typeface="Calibri" pitchFamily="34" charset="-122"/>
                <a:cs typeface="Calibri" pitchFamily="34" charset="-120"/>
              </a:rPr>
              <a:t>Lo que está siempre en contexto, siempre influye.</a:t>
            </a:r>
            <a:endParaRPr lang="en-US" sz="1200" dirty="0"/>
          </a:p>
        </p:txBody>
      </p:sp>
      <p:sp>
        <p:nvSpPr>
          <p:cNvPr id="14" name="Shape 12"/>
          <p:cNvSpPr/>
          <p:nvPr/>
        </p:nvSpPr>
        <p:spPr>
          <a:xfrm>
            <a:off x="4873752" y="1901952"/>
            <a:ext cx="3602736" cy="749808"/>
          </a:xfrm>
          <a:prstGeom prst="rect">
            <a:avLst/>
          </a:prstGeom>
          <a:solidFill>
            <a:srgbClr val="E6E8EB"/>
          </a:solidFill>
          <a:ln/>
        </p:spPr>
      </p:sp>
      <p:sp>
        <p:nvSpPr>
          <p:cNvPr id="15" name="Text 13"/>
          <p:cNvSpPr txBox="1"/>
          <p:nvPr/>
        </p:nvSpPr>
        <p:spPr>
          <a:xfrm>
            <a:off x="5020056" y="2020824"/>
            <a:ext cx="3310128" cy="512064"/>
          </a:xfrm>
          <a:prstGeom prst="rect">
            <a:avLst/>
          </a:prstGeom>
          <a:noFill/>
          <a:ln/>
        </p:spPr>
        <p:txBody>
          <a:bodyPr wrap="square" lIns="0" tIns="0" rIns="0" bIns="0" rtlCol="0" anchor="t"/>
          <a:lstStyle/>
          <a:p>
            <a:pPr indent="0" marL="0">
              <a:lnSpc>
                <a:spcPts val="1300"/>
              </a:lnSpc>
              <a:buNone/>
            </a:pPr>
            <a:r>
              <a:rPr lang="en-US" sz="900" dirty="0">
                <a:solidFill>
                  <a:srgbClr val="2A2E36"/>
                </a:solidFill>
                <a:latin typeface="Courier New" pitchFamily="34" charset="0"/>
                <a:ea typeface="Courier New" pitchFamily="34" charset="-122"/>
                <a:cs typeface="Courier New" pitchFamily="34" charset="-120"/>
              </a:rPr>
              <a:t>system prompt, hace seis meses:</a:t>
            </a:r>
            <a:endParaRPr lang="en-US" sz="900" dirty="0"/>
          </a:p>
          <a:p>
            <a:pPr indent="0" marL="0">
              <a:lnSpc>
                <a:spcPts val="1300"/>
              </a:lnSpc>
              <a:buNone/>
            </a:pPr>
            <a:r>
              <a:rPr lang="en-US" sz="900" dirty="0">
                <a:solidFill>
                  <a:srgbClr val="2A2E36"/>
                </a:solidFill>
                <a:latin typeface="Courier New" pitchFamily="34" charset="0"/>
                <a:ea typeface="Courier New" pitchFamily="34" charset="-122"/>
                <a:cs typeface="Courier New" pitchFamily="34" charset="-120"/>
              </a:rPr>
              <a:t>  "...para persistencia preferimos</a:t>
            </a:r>
            <a:endParaRPr lang="en-US" sz="900" dirty="0"/>
          </a:p>
          <a:p>
            <a:pPr indent="0" marL="0">
              <a:lnSpc>
                <a:spcPts val="1300"/>
              </a:lnSpc>
              <a:buNone/>
            </a:pPr>
            <a:r>
              <a:rPr lang="en-US" sz="900" dirty="0">
                <a:solidFill>
                  <a:srgbClr val="2A2E36"/>
                </a:solidFill>
                <a:latin typeface="Courier New" pitchFamily="34" charset="0"/>
                <a:ea typeface="Courier New" pitchFamily="34" charset="-122"/>
                <a:cs typeface="Courier New" pitchFamily="34" charset="-120"/>
              </a:rPr>
              <a:t>   bases no relacionales..."</a:t>
            </a:r>
            <a:endParaRPr lang="en-US" sz="900" dirty="0"/>
          </a:p>
        </p:txBody>
      </p:sp>
      <p:sp>
        <p:nvSpPr>
          <p:cNvPr id="16" name="Text 14"/>
          <p:cNvSpPr txBox="1"/>
          <p:nvPr/>
        </p:nvSpPr>
        <p:spPr>
          <a:xfrm>
            <a:off x="4873752" y="2743200"/>
            <a:ext cx="3602736" cy="713232"/>
          </a:xfrm>
          <a:prstGeom prst="rect">
            <a:avLst/>
          </a:prstGeom>
          <a:noFill/>
          <a:ln/>
        </p:spPr>
        <p:txBody>
          <a:bodyPr wrap="square" lIns="0" tIns="0" rIns="0" bIns="0" rtlCol="0" anchor="ctr"/>
          <a:lstStyle/>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Hoy le pedís un caso que pide Postgres y te empuja Mongo.</a:t>
            </a:r>
            <a:endParaRPr lang="en-US" sz="1100" dirty="0"/>
          </a:p>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No se lo instruiste para este caso: decidió con esa preferencia igual.</a:t>
            </a:r>
            <a:endParaRPr lang="en-US" sz="1100" dirty="0"/>
          </a:p>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Y no lo podés sacar del contexto: ya condicionó todo lo que sigue.</a:t>
            </a:r>
            <a:endParaRPr lang="en-US" sz="1100" dirty="0"/>
          </a:p>
        </p:txBody>
      </p:sp>
      <p:sp>
        <p:nvSpPr>
          <p:cNvPr id="17" name="Shape 15"/>
          <p:cNvSpPr/>
          <p:nvPr/>
        </p:nvSpPr>
        <p:spPr>
          <a:xfrm>
            <a:off x="502920" y="3877056"/>
            <a:ext cx="50292" cy="274320"/>
          </a:xfrm>
          <a:prstGeom prst="rect">
            <a:avLst/>
          </a:prstGeom>
          <a:solidFill>
            <a:srgbClr val="E4572E"/>
          </a:solidFill>
          <a:ln/>
        </p:spPr>
      </p:sp>
      <p:sp>
        <p:nvSpPr>
          <p:cNvPr id="18" name="Text 16"/>
          <p:cNvSpPr txBox="1"/>
          <p:nvPr/>
        </p:nvSpPr>
        <p:spPr>
          <a:xfrm>
            <a:off x="685800" y="3849624"/>
            <a:ext cx="7955280" cy="329184"/>
          </a:xfrm>
          <a:prstGeom prst="rect">
            <a:avLst/>
          </a:prstGeom>
          <a:noFill/>
          <a:ln/>
        </p:spPr>
        <p:txBody>
          <a:bodyPr wrap="square" lIns="0" tIns="0" rIns="0" bIns="0" rtlCol="0" anchor="ctr"/>
          <a:lstStyle/>
          <a:p>
            <a:pPr indent="0" marL="0">
              <a:buNone/>
            </a:pPr>
            <a:r>
              <a:rPr lang="en-US" sz="1250" b="1" dirty="0">
                <a:solidFill>
                  <a:srgbClr val="16191F"/>
                </a:solidFill>
                <a:latin typeface="Calibri" pitchFamily="34" charset="0"/>
                <a:ea typeface="Calibri" pitchFamily="34" charset="-122"/>
                <a:cs typeface="Calibri" pitchFamily="34" charset="-120"/>
              </a:rPr>
              <a:t>Un skill acota cuándo una instrucción tiene derecho a influir.</a:t>
            </a:r>
            <a:endParaRPr lang="en-US" sz="1250" dirty="0"/>
          </a:p>
        </p:txBody>
      </p:sp>
      <p:sp>
        <p:nvSpPr>
          <p:cNvPr id="19" name="Text 17"/>
          <p:cNvSpPr txBox="1"/>
          <p:nvPr/>
        </p:nvSpPr>
        <p:spPr>
          <a:xfrm>
            <a:off x="685800" y="4297680"/>
            <a:ext cx="7863840" cy="274320"/>
          </a:xfrm>
          <a:prstGeom prst="rect">
            <a:avLst/>
          </a:prstGeom>
          <a:noFill/>
          <a:ln/>
        </p:spPr>
        <p:txBody>
          <a:bodyPr wrap="square" lIns="0" tIns="0" rIns="0" bIns="0" rtlCol="0" anchor="ctr"/>
          <a:lstStyle/>
          <a:p>
            <a:pPr indent="0" marL="0">
              <a:buNone/>
            </a:pPr>
            <a:r>
              <a:rPr lang="en-US" sz="1200" dirty="0">
                <a:solidFill>
                  <a:srgbClr val="6E7681"/>
                </a:solidFill>
                <a:latin typeface="Calibri" pitchFamily="34" charset="0"/>
                <a:ea typeface="Calibri" pitchFamily="34" charset="-122"/>
                <a:cs typeface="Calibri" pitchFamily="34" charset="-120"/>
              </a:rPr>
              <a:t>La misma frase, dentro de un skill, sólo entra al contexto en las conversaciones donde esa decisión está sobre la mesa.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txBox="1"/>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 name="Text 2"/>
          <p:cNvSpPr txBox="1"/>
          <p:nvPr/>
        </p:nvSpPr>
        <p:spPr>
          <a:xfrm>
            <a:off x="978408" y="310896"/>
            <a:ext cx="7662672" cy="438912"/>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¿Qué es un skill?</a:t>
            </a:r>
            <a:endParaRPr lang="en-US" sz="2700" dirty="0"/>
          </a:p>
        </p:txBody>
      </p:sp>
      <p:sp>
        <p:nvSpPr>
          <p:cNvPr id="5" name="Text 3"/>
          <p:cNvSpPr txBox="1"/>
          <p:nvPr/>
        </p:nvSpPr>
        <p:spPr>
          <a:xfrm>
            <a:off x="978408" y="768096"/>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Una carpeta con un archivo de texto: frontmatter + markdown.</a:t>
            </a:r>
            <a:endParaRPr lang="en-US" sz="1300" dirty="0"/>
          </a:p>
        </p:txBody>
      </p:sp>
      <p:sp>
        <p:nvSpPr>
          <p:cNvPr id="6" name="Shape 4"/>
          <p:cNvSpPr/>
          <p:nvPr/>
        </p:nvSpPr>
        <p:spPr>
          <a:xfrm>
            <a:off x="502920" y="1188720"/>
            <a:ext cx="4572000" cy="2331720"/>
          </a:xfrm>
          <a:prstGeom prst="rect">
            <a:avLst/>
          </a:prstGeom>
          <a:solidFill>
            <a:srgbClr val="F1F2F4"/>
          </a:solidFill>
          <a:ln/>
        </p:spPr>
      </p:sp>
      <p:sp>
        <p:nvSpPr>
          <p:cNvPr id="7" name="Text 5"/>
          <p:cNvSpPr txBox="1"/>
          <p:nvPr/>
        </p:nvSpPr>
        <p:spPr>
          <a:xfrm>
            <a:off x="649224" y="1307592"/>
            <a:ext cx="4279392" cy="2093976"/>
          </a:xfrm>
          <a:prstGeom prst="rect">
            <a:avLst/>
          </a:prstGeom>
          <a:noFill/>
          <a:ln/>
        </p:spPr>
        <p:txBody>
          <a:bodyPr wrap="square" lIns="0" tIns="0" rIns="0" bIns="0" rtlCol="0" anchor="t"/>
          <a:lstStyle/>
          <a:p>
            <a:pPr indent="0" marL="0">
              <a:lnSpc>
                <a:spcPts val="1100"/>
              </a:lnSpc>
              <a:buNone/>
            </a:pPr>
            <a:r>
              <a:rPr lang="en-US" sz="860" dirty="0">
                <a:solidFill>
                  <a:srgbClr val="2A2E36"/>
                </a:solidFill>
                <a:latin typeface="Courier New" pitchFamily="34" charset="0"/>
                <a:ea typeface="Courier New" pitchFamily="34" charset="-122"/>
                <a:cs typeface="Courier New" pitchFamily="34" charset="-120"/>
              </a:rPr>
              <a:t>---</a:t>
            </a:r>
            <a:endParaRPr lang="en-US" sz="860" dirty="0"/>
          </a:p>
          <a:p>
            <a:pPr indent="0" marL="0">
              <a:lnSpc>
                <a:spcPts val="1100"/>
              </a:lnSpc>
              <a:buNone/>
            </a:pPr>
            <a:r>
              <a:rPr lang="en-US" sz="860" dirty="0">
                <a:solidFill>
                  <a:srgbClr val="2A2E36"/>
                </a:solidFill>
                <a:latin typeface="Courier New" pitchFamily="34" charset="0"/>
                <a:ea typeface="Courier New" pitchFamily="34" charset="-122"/>
                <a:cs typeface="Courier New" pitchFamily="34" charset="-120"/>
              </a:rPr>
              <a:t>name: revision-de-pr</a:t>
            </a:r>
            <a:endParaRPr lang="en-US" sz="860" dirty="0"/>
          </a:p>
          <a:p>
            <a:pPr indent="0" marL="0">
              <a:lnSpc>
                <a:spcPts val="1100"/>
              </a:lnSpc>
              <a:buNone/>
            </a:pPr>
            <a:r>
              <a:rPr lang="en-US" sz="860" dirty="0">
                <a:solidFill>
                  <a:srgbClr val="2A2E36"/>
                </a:solidFill>
                <a:latin typeface="Courier New" pitchFamily="34" charset="0"/>
                <a:ea typeface="Courier New" pitchFamily="34" charset="-122"/>
                <a:cs typeface="Courier New" pitchFamily="34" charset="-120"/>
              </a:rPr>
              <a:t>description: Cómo revisamos un pull request acá:</a:t>
            </a:r>
            <a:endParaRPr lang="en-US" sz="860" dirty="0"/>
          </a:p>
          <a:p>
            <a:pPr indent="0" marL="0">
              <a:lnSpc>
                <a:spcPts val="1100"/>
              </a:lnSpc>
              <a:buNone/>
            </a:pPr>
            <a:r>
              <a:rPr lang="en-US" sz="860" dirty="0">
                <a:solidFill>
                  <a:srgbClr val="2A2E36"/>
                </a:solidFill>
                <a:latin typeface="Courier New" pitchFamily="34" charset="0"/>
                <a:ea typeface="Courier New" pitchFamily="34" charset="-122"/>
                <a:cs typeface="Courier New" pitchFamily="34" charset="-120"/>
              </a:rPr>
              <a:t>  qué se mira, en qué orden, cómo se comenta.</a:t>
            </a:r>
            <a:endParaRPr lang="en-US" sz="860" dirty="0"/>
          </a:p>
          <a:p>
            <a:pPr indent="0" marL="0">
              <a:lnSpc>
                <a:spcPts val="1100"/>
              </a:lnSpc>
              <a:buNone/>
            </a:pPr>
            <a:r>
              <a:rPr lang="en-US" sz="860" dirty="0">
                <a:solidFill>
                  <a:srgbClr val="2A2E36"/>
                </a:solidFill>
                <a:latin typeface="Courier New" pitchFamily="34" charset="0"/>
                <a:ea typeface="Courier New" pitchFamily="34" charset="-122"/>
                <a:cs typeface="Courier New" pitchFamily="34" charset="-120"/>
              </a:rPr>
              <a:t>  Usar siempre que pidan revisar un PR o un diff.</a:t>
            </a:r>
            <a:endParaRPr lang="en-US" sz="860" dirty="0"/>
          </a:p>
          <a:p>
            <a:pPr indent="0" marL="0">
              <a:lnSpc>
                <a:spcPts val="1100"/>
              </a:lnSpc>
              <a:buNone/>
            </a:pPr>
            <a:r>
              <a:rPr lang="en-US" sz="860" dirty="0">
                <a:solidFill>
                  <a:srgbClr val="2A2E36"/>
                </a:solidFill>
                <a:latin typeface="Courier New" pitchFamily="34" charset="0"/>
                <a:ea typeface="Courier New" pitchFamily="34" charset="-122"/>
                <a:cs typeface="Courier New" pitchFamily="34" charset="-120"/>
              </a:rPr>
              <a:t>---</a:t>
            </a:r>
            <a:endParaRPr lang="en-US" sz="860" dirty="0"/>
          </a:p>
          <a:p>
            <a:pPr indent="0" marL="0">
              <a:lnSpc>
                <a:spcPts val="1100"/>
              </a:lnSpc>
              <a:buNone/>
            </a:pPr>
            <a:endParaRPr lang="en-US" sz="860" dirty="0"/>
          </a:p>
          <a:p>
            <a:pPr indent="0" marL="0">
              <a:lnSpc>
                <a:spcPts val="1100"/>
              </a:lnSpc>
              <a:buNone/>
            </a:pPr>
            <a:r>
              <a:rPr lang="en-US" sz="860" dirty="0">
                <a:solidFill>
                  <a:srgbClr val="2A2E36"/>
                </a:solidFill>
                <a:latin typeface="Courier New" pitchFamily="34" charset="0"/>
                <a:ea typeface="Courier New" pitchFamily="34" charset="-122"/>
                <a:cs typeface="Courier New" pitchFamily="34" charset="-120"/>
              </a:rPr>
              <a:t># Revisión de pull requests</a:t>
            </a:r>
            <a:endParaRPr lang="en-US" sz="860" dirty="0"/>
          </a:p>
          <a:p>
            <a:pPr indent="0" marL="0">
              <a:lnSpc>
                <a:spcPts val="1100"/>
              </a:lnSpc>
              <a:buNone/>
            </a:pPr>
            <a:r>
              <a:rPr lang="en-US" sz="860" dirty="0">
                <a:solidFill>
                  <a:srgbClr val="2A2E36"/>
                </a:solidFill>
                <a:latin typeface="Courier New" pitchFamily="34" charset="0"/>
                <a:ea typeface="Courier New" pitchFamily="34" charset="-122"/>
                <a:cs typeface="Courier New" pitchFamily="34" charset="-120"/>
              </a:rPr>
              <a:t>1. Alcance. ¿Hace una sola cosa?</a:t>
            </a:r>
            <a:endParaRPr lang="en-US" sz="860" dirty="0"/>
          </a:p>
          <a:p>
            <a:pPr indent="0" marL="0">
              <a:lnSpc>
                <a:spcPts val="1100"/>
              </a:lnSpc>
              <a:buNone/>
            </a:pPr>
            <a:r>
              <a:rPr lang="en-US" sz="860" dirty="0">
                <a:solidFill>
                  <a:srgbClr val="2A2E36"/>
                </a:solidFill>
                <a:latin typeface="Courier New" pitchFamily="34" charset="0"/>
                <a:ea typeface="Courier New" pitchFamily="34" charset="-122"/>
                <a:cs typeface="Courier New" pitchFamily="34" charset="-120"/>
              </a:rPr>
              <a:t>2. Contrato. ¿Cambió una firma sin versionar?</a:t>
            </a:r>
            <a:endParaRPr lang="en-US" sz="860" dirty="0"/>
          </a:p>
          <a:p>
            <a:pPr indent="0" marL="0">
              <a:lnSpc>
                <a:spcPts val="1100"/>
              </a:lnSpc>
              <a:buNone/>
            </a:pPr>
            <a:r>
              <a:rPr lang="en-US" sz="860" dirty="0">
                <a:solidFill>
                  <a:srgbClr val="2A2E36"/>
                </a:solidFill>
                <a:latin typeface="Courier New" pitchFamily="34" charset="0"/>
                <a:ea typeface="Courier New" pitchFamily="34" charset="-122"/>
                <a:cs typeface="Courier New" pitchFamily="34" charset="-120"/>
              </a:rPr>
              <a:t>3. Errores. ¿Accionables o un failed opaco?</a:t>
            </a:r>
            <a:endParaRPr lang="en-US" sz="860" dirty="0"/>
          </a:p>
          <a:p>
            <a:pPr indent="0" marL="0">
              <a:lnSpc>
                <a:spcPts val="1100"/>
              </a:lnSpc>
              <a:buNone/>
            </a:pPr>
            <a:r>
              <a:rPr lang="en-US" sz="860" dirty="0">
                <a:solidFill>
                  <a:srgbClr val="2A2E36"/>
                </a:solidFill>
                <a:latin typeface="Courier New" pitchFamily="34" charset="0"/>
                <a:ea typeface="Courier New" pitchFamily="34" charset="-122"/>
                <a:cs typeface="Courier New" pitchFamily="34" charset="-120"/>
              </a:rPr>
              <a:t>4. Tests. ¿Falla sin este cambio?</a:t>
            </a:r>
            <a:endParaRPr lang="en-US" sz="860" dirty="0"/>
          </a:p>
          <a:p>
            <a:pPr indent="0" marL="0">
              <a:lnSpc>
                <a:spcPts val="1100"/>
              </a:lnSpc>
              <a:buNone/>
            </a:pPr>
            <a:endParaRPr lang="en-US" sz="860" dirty="0"/>
          </a:p>
          <a:p>
            <a:pPr indent="0" marL="0">
              <a:lnSpc>
                <a:spcPts val="1100"/>
              </a:lnSpc>
              <a:buNone/>
            </a:pPr>
            <a:r>
              <a:rPr lang="en-US" sz="860" dirty="0">
                <a:solidFill>
                  <a:srgbClr val="2A2E36"/>
                </a:solidFill>
                <a:latin typeface="Courier New" pitchFamily="34" charset="0"/>
                <a:ea typeface="Courier New" pitchFamily="34" charset="-122"/>
                <a:cs typeface="Courier New" pitchFamily="34" charset="-120"/>
              </a:rPr>
              <a:t>Severidades: ver references/severidades.md</a:t>
            </a:r>
            <a:endParaRPr lang="en-US" sz="860" dirty="0"/>
          </a:p>
        </p:txBody>
      </p:sp>
      <p:sp>
        <p:nvSpPr>
          <p:cNvPr id="8" name="Shape 6"/>
          <p:cNvSpPr/>
          <p:nvPr/>
        </p:nvSpPr>
        <p:spPr>
          <a:xfrm>
            <a:off x="5349240" y="1188720"/>
            <a:ext cx="3291840" cy="713232"/>
          </a:xfrm>
          <a:prstGeom prst="rect">
            <a:avLst/>
          </a:prstGeom>
          <a:solidFill>
            <a:srgbClr val="F1F2F4"/>
          </a:solidFill>
          <a:ln/>
        </p:spPr>
      </p:sp>
      <p:sp>
        <p:nvSpPr>
          <p:cNvPr id="9" name="Text 7"/>
          <p:cNvSpPr txBox="1"/>
          <p:nvPr/>
        </p:nvSpPr>
        <p:spPr>
          <a:xfrm>
            <a:off x="5495544" y="1261872"/>
            <a:ext cx="2999232" cy="219456"/>
          </a:xfrm>
          <a:prstGeom prst="rect">
            <a:avLst/>
          </a:prstGeom>
          <a:noFill/>
          <a:ln/>
        </p:spPr>
        <p:txBody>
          <a:bodyPr wrap="square" lIns="0" tIns="0" rIns="0" bIns="0" rtlCol="0" anchor="ctr"/>
          <a:lstStyle/>
          <a:p>
            <a:pPr indent="0" marL="0">
              <a:buNone/>
            </a:pPr>
            <a:r>
              <a:rPr lang="en-US" sz="1150" b="1" spc="100" kern="0" dirty="0">
                <a:solidFill>
                  <a:srgbClr val="E4572E"/>
                </a:solidFill>
                <a:latin typeface="Arial" pitchFamily="34" charset="0"/>
                <a:ea typeface="Arial" pitchFamily="34" charset="-122"/>
                <a:cs typeface="Arial" pitchFamily="34" charset="-120"/>
              </a:rPr>
              <a:t>ÍNDICE</a:t>
            </a:r>
            <a:endParaRPr lang="en-US" sz="1150" dirty="0"/>
          </a:p>
        </p:txBody>
      </p:sp>
      <p:sp>
        <p:nvSpPr>
          <p:cNvPr id="10" name="Text 8"/>
          <p:cNvSpPr txBox="1"/>
          <p:nvPr/>
        </p:nvSpPr>
        <p:spPr>
          <a:xfrm>
            <a:off x="5495544" y="1463040"/>
            <a:ext cx="2999232" cy="201168"/>
          </a:xfrm>
          <a:prstGeom prst="rect">
            <a:avLst/>
          </a:prstGeom>
          <a:noFill/>
          <a:ln/>
        </p:spPr>
        <p:txBody>
          <a:bodyPr wrap="square" lIns="0" tIns="0" rIns="0" bIns="0" rtlCol="0" anchor="ctr"/>
          <a:lstStyle/>
          <a:p>
            <a:pPr indent="0" marL="0">
              <a:buNone/>
            </a:pPr>
            <a:r>
              <a:rPr lang="en-US" sz="950" dirty="0">
                <a:solidFill>
                  <a:srgbClr val="16191F"/>
                </a:solidFill>
                <a:latin typeface="Courier New" pitchFamily="34" charset="0"/>
                <a:ea typeface="Courier New" pitchFamily="34" charset="-122"/>
                <a:cs typeface="Courier New" pitchFamily="34" charset="-120"/>
              </a:rPr>
              <a:t>frontmatter: name + description</a:t>
            </a:r>
            <a:endParaRPr lang="en-US" sz="950" dirty="0"/>
          </a:p>
        </p:txBody>
      </p:sp>
      <p:sp>
        <p:nvSpPr>
          <p:cNvPr id="11" name="Text 9"/>
          <p:cNvSpPr txBox="1"/>
          <p:nvPr/>
        </p:nvSpPr>
        <p:spPr>
          <a:xfrm>
            <a:off x="5495544" y="1664208"/>
            <a:ext cx="2999232" cy="201168"/>
          </a:xfrm>
          <a:prstGeom prst="rect">
            <a:avLst/>
          </a:prstGeom>
          <a:noFill/>
          <a:ln/>
        </p:spPr>
        <p:txBody>
          <a:bodyPr wrap="square" lIns="0" tIns="0" rIns="0" bIns="0" rtlCol="0" anchor="ctr"/>
          <a:lstStyle/>
          <a:p>
            <a:pPr indent="0" marL="0">
              <a:buNone/>
            </a:pPr>
            <a:r>
              <a:rPr lang="en-US" sz="1100" dirty="0">
                <a:solidFill>
                  <a:srgbClr val="6E7681"/>
                </a:solidFill>
                <a:latin typeface="Calibri" pitchFamily="34" charset="0"/>
                <a:ea typeface="Calibri" pitchFamily="34" charset="-122"/>
                <a:cs typeface="Calibri" pitchFamily="34" charset="-120"/>
              </a:rPr>
              <a:t>Siempre en contexto. ~100 tokens.</a:t>
            </a:r>
            <a:endParaRPr lang="en-US" sz="1100" dirty="0"/>
          </a:p>
        </p:txBody>
      </p:sp>
      <p:sp>
        <p:nvSpPr>
          <p:cNvPr id="12" name="Shape 10"/>
          <p:cNvSpPr/>
          <p:nvPr/>
        </p:nvSpPr>
        <p:spPr>
          <a:xfrm>
            <a:off x="5349240" y="1993392"/>
            <a:ext cx="3291840" cy="713232"/>
          </a:xfrm>
          <a:prstGeom prst="rect">
            <a:avLst/>
          </a:prstGeom>
          <a:solidFill>
            <a:srgbClr val="F1F2F4"/>
          </a:solidFill>
          <a:ln/>
        </p:spPr>
      </p:sp>
      <p:sp>
        <p:nvSpPr>
          <p:cNvPr id="13" name="Text 11"/>
          <p:cNvSpPr txBox="1"/>
          <p:nvPr/>
        </p:nvSpPr>
        <p:spPr>
          <a:xfrm>
            <a:off x="5495544" y="2066544"/>
            <a:ext cx="2999232" cy="219456"/>
          </a:xfrm>
          <a:prstGeom prst="rect">
            <a:avLst/>
          </a:prstGeom>
          <a:noFill/>
          <a:ln/>
        </p:spPr>
        <p:txBody>
          <a:bodyPr wrap="square" lIns="0" tIns="0" rIns="0" bIns="0" rtlCol="0" anchor="ctr"/>
          <a:lstStyle/>
          <a:p>
            <a:pPr indent="0" marL="0">
              <a:buNone/>
            </a:pPr>
            <a:r>
              <a:rPr lang="en-US" sz="1150" b="1" spc="100" kern="0" dirty="0">
                <a:solidFill>
                  <a:srgbClr val="E4572E"/>
                </a:solidFill>
                <a:latin typeface="Arial" pitchFamily="34" charset="0"/>
                <a:ea typeface="Arial" pitchFamily="34" charset="-122"/>
                <a:cs typeface="Arial" pitchFamily="34" charset="-120"/>
              </a:rPr>
              <a:t>CUERPO</a:t>
            </a:r>
            <a:endParaRPr lang="en-US" sz="1150" dirty="0"/>
          </a:p>
        </p:txBody>
      </p:sp>
      <p:sp>
        <p:nvSpPr>
          <p:cNvPr id="14" name="Text 12"/>
          <p:cNvSpPr txBox="1"/>
          <p:nvPr/>
        </p:nvSpPr>
        <p:spPr>
          <a:xfrm>
            <a:off x="5495544" y="2267712"/>
            <a:ext cx="2999232" cy="201168"/>
          </a:xfrm>
          <a:prstGeom prst="rect">
            <a:avLst/>
          </a:prstGeom>
          <a:noFill/>
          <a:ln/>
        </p:spPr>
        <p:txBody>
          <a:bodyPr wrap="square" lIns="0" tIns="0" rIns="0" bIns="0" rtlCol="0" anchor="ctr"/>
          <a:lstStyle/>
          <a:p>
            <a:pPr indent="0" marL="0">
              <a:buNone/>
            </a:pPr>
            <a:r>
              <a:rPr lang="en-US" sz="950" dirty="0">
                <a:solidFill>
                  <a:srgbClr val="16191F"/>
                </a:solidFill>
                <a:latin typeface="Courier New" pitchFamily="34" charset="0"/>
                <a:ea typeface="Courier New" pitchFamily="34" charset="-122"/>
                <a:cs typeface="Courier New" pitchFamily="34" charset="-120"/>
              </a:rPr>
              <a:t>el markdown del SKILL.md</a:t>
            </a:r>
            <a:endParaRPr lang="en-US" sz="950" dirty="0"/>
          </a:p>
        </p:txBody>
      </p:sp>
      <p:sp>
        <p:nvSpPr>
          <p:cNvPr id="15" name="Text 13"/>
          <p:cNvSpPr txBox="1"/>
          <p:nvPr/>
        </p:nvSpPr>
        <p:spPr>
          <a:xfrm>
            <a:off x="5495544" y="2468880"/>
            <a:ext cx="2999232" cy="201168"/>
          </a:xfrm>
          <a:prstGeom prst="rect">
            <a:avLst/>
          </a:prstGeom>
          <a:noFill/>
          <a:ln/>
        </p:spPr>
        <p:txBody>
          <a:bodyPr wrap="square" lIns="0" tIns="0" rIns="0" bIns="0" rtlCol="0" anchor="ctr"/>
          <a:lstStyle/>
          <a:p>
            <a:pPr indent="0" marL="0">
              <a:buNone/>
            </a:pPr>
            <a:r>
              <a:rPr lang="en-US" sz="1100" dirty="0">
                <a:solidFill>
                  <a:srgbClr val="6E7681"/>
                </a:solidFill>
                <a:latin typeface="Calibri" pitchFamily="34" charset="0"/>
                <a:ea typeface="Calibri" pitchFamily="34" charset="-122"/>
                <a:cs typeface="Calibri" pitchFamily="34" charset="-120"/>
              </a:rPr>
              <a:t>Sólo cuando la tarea matchea.</a:t>
            </a:r>
            <a:endParaRPr lang="en-US" sz="1100" dirty="0"/>
          </a:p>
        </p:txBody>
      </p:sp>
      <p:sp>
        <p:nvSpPr>
          <p:cNvPr id="16" name="Shape 14"/>
          <p:cNvSpPr/>
          <p:nvPr/>
        </p:nvSpPr>
        <p:spPr>
          <a:xfrm>
            <a:off x="5349240" y="2798064"/>
            <a:ext cx="3291840" cy="713232"/>
          </a:xfrm>
          <a:prstGeom prst="rect">
            <a:avLst/>
          </a:prstGeom>
          <a:solidFill>
            <a:srgbClr val="F1F2F4"/>
          </a:solidFill>
          <a:ln/>
        </p:spPr>
      </p:sp>
      <p:sp>
        <p:nvSpPr>
          <p:cNvPr id="17" name="Text 15"/>
          <p:cNvSpPr txBox="1"/>
          <p:nvPr/>
        </p:nvSpPr>
        <p:spPr>
          <a:xfrm>
            <a:off x="5495544" y="2871216"/>
            <a:ext cx="2999232" cy="219456"/>
          </a:xfrm>
          <a:prstGeom prst="rect">
            <a:avLst/>
          </a:prstGeom>
          <a:noFill/>
          <a:ln/>
        </p:spPr>
        <p:txBody>
          <a:bodyPr wrap="square" lIns="0" tIns="0" rIns="0" bIns="0" rtlCol="0" anchor="ctr"/>
          <a:lstStyle/>
          <a:p>
            <a:pPr indent="0" marL="0">
              <a:buNone/>
            </a:pPr>
            <a:r>
              <a:rPr lang="en-US" sz="1150" b="1" spc="100" kern="0" dirty="0">
                <a:solidFill>
                  <a:srgbClr val="E4572E"/>
                </a:solidFill>
                <a:latin typeface="Arial" pitchFamily="34" charset="0"/>
                <a:ea typeface="Arial" pitchFamily="34" charset="-122"/>
                <a:cs typeface="Arial" pitchFamily="34" charset="-120"/>
              </a:rPr>
              <a:t>REFERENCIAS</a:t>
            </a:r>
            <a:endParaRPr lang="en-US" sz="1150" dirty="0"/>
          </a:p>
        </p:txBody>
      </p:sp>
      <p:sp>
        <p:nvSpPr>
          <p:cNvPr id="18" name="Text 16"/>
          <p:cNvSpPr txBox="1"/>
          <p:nvPr/>
        </p:nvSpPr>
        <p:spPr>
          <a:xfrm>
            <a:off x="5495544" y="3072384"/>
            <a:ext cx="2999232" cy="201168"/>
          </a:xfrm>
          <a:prstGeom prst="rect">
            <a:avLst/>
          </a:prstGeom>
          <a:noFill/>
          <a:ln/>
        </p:spPr>
        <p:txBody>
          <a:bodyPr wrap="square" lIns="0" tIns="0" rIns="0" bIns="0" rtlCol="0" anchor="ctr"/>
          <a:lstStyle/>
          <a:p>
            <a:pPr indent="0" marL="0">
              <a:buNone/>
            </a:pPr>
            <a:r>
              <a:rPr lang="en-US" sz="950" dirty="0">
                <a:solidFill>
                  <a:srgbClr val="16191F"/>
                </a:solidFill>
                <a:latin typeface="Courier New" pitchFamily="34" charset="0"/>
                <a:ea typeface="Courier New" pitchFamily="34" charset="-122"/>
                <a:cs typeface="Courier New" pitchFamily="34" charset="-120"/>
              </a:rPr>
              <a:t>references/ · scripts/ · assets/</a:t>
            </a:r>
            <a:endParaRPr lang="en-US" sz="950" dirty="0"/>
          </a:p>
        </p:txBody>
      </p:sp>
      <p:sp>
        <p:nvSpPr>
          <p:cNvPr id="19" name="Text 17"/>
          <p:cNvSpPr txBox="1"/>
          <p:nvPr/>
        </p:nvSpPr>
        <p:spPr>
          <a:xfrm>
            <a:off x="5495544" y="3273552"/>
            <a:ext cx="2999232" cy="201168"/>
          </a:xfrm>
          <a:prstGeom prst="rect">
            <a:avLst/>
          </a:prstGeom>
          <a:noFill/>
          <a:ln/>
        </p:spPr>
        <p:txBody>
          <a:bodyPr wrap="square" lIns="0" tIns="0" rIns="0" bIns="0" rtlCol="0" anchor="ctr"/>
          <a:lstStyle/>
          <a:p>
            <a:pPr indent="0" marL="0">
              <a:buNone/>
            </a:pPr>
            <a:r>
              <a:rPr lang="en-US" sz="1100" dirty="0">
                <a:solidFill>
                  <a:srgbClr val="6E7681"/>
                </a:solidFill>
                <a:latin typeface="Calibri" pitchFamily="34" charset="0"/>
                <a:ea typeface="Calibri" pitchFamily="34" charset="-122"/>
                <a:cs typeface="Calibri" pitchFamily="34" charset="-120"/>
              </a:rPr>
              <a:t>Sólo el archivo que hace falta.</a:t>
            </a:r>
            <a:endParaRPr lang="en-US" sz="1100" dirty="0"/>
          </a:p>
        </p:txBody>
      </p:sp>
      <p:sp>
        <p:nvSpPr>
          <p:cNvPr id="20" name="Shape 18"/>
          <p:cNvSpPr/>
          <p:nvPr/>
        </p:nvSpPr>
        <p:spPr>
          <a:xfrm>
            <a:off x="502920" y="3794760"/>
            <a:ext cx="50292" cy="274320"/>
          </a:xfrm>
          <a:prstGeom prst="rect">
            <a:avLst/>
          </a:prstGeom>
          <a:solidFill>
            <a:srgbClr val="E4572E"/>
          </a:solidFill>
          <a:ln/>
        </p:spPr>
      </p:sp>
      <p:sp>
        <p:nvSpPr>
          <p:cNvPr id="21" name="Text 19"/>
          <p:cNvSpPr txBox="1"/>
          <p:nvPr/>
        </p:nvSpPr>
        <p:spPr>
          <a:xfrm>
            <a:off x="685800" y="3767328"/>
            <a:ext cx="7955280" cy="329184"/>
          </a:xfrm>
          <a:prstGeom prst="rect">
            <a:avLst/>
          </a:prstGeom>
          <a:noFill/>
          <a:ln/>
        </p:spPr>
        <p:txBody>
          <a:bodyPr wrap="square" lIns="0" tIns="0" rIns="0" bIns="0" rtlCol="0" anchor="ctr"/>
          <a:lstStyle/>
          <a:p>
            <a:pPr indent="0" marL="0">
              <a:buNone/>
            </a:pPr>
            <a:r>
              <a:rPr lang="en-US" sz="1250" b="1" dirty="0">
                <a:solidFill>
                  <a:srgbClr val="16191F"/>
                </a:solidFill>
                <a:latin typeface="Calibri" pitchFamily="34" charset="0"/>
                <a:ea typeface="Calibri" pitchFamily="34" charset="-122"/>
                <a:cs typeface="Calibri" pitchFamily="34" charset="-120"/>
              </a:rPr>
              <a:t>El mismo archivo funciona en Claude Code, Codex, Cursor, Copilot y Gemini CLI.</a:t>
            </a:r>
            <a:endParaRPr lang="en-US" sz="1250" dirty="0"/>
          </a:p>
        </p:txBody>
      </p:sp>
      <p:sp>
        <p:nvSpPr>
          <p:cNvPr id="22" name="Text 20"/>
          <p:cNvSpPr txBox="1"/>
          <p:nvPr/>
        </p:nvSpPr>
        <p:spPr>
          <a:xfrm>
            <a:off x="685800" y="4224528"/>
            <a:ext cx="7772400" cy="274320"/>
          </a:xfrm>
          <a:prstGeom prst="rect">
            <a:avLst/>
          </a:prstGeom>
          <a:noFill/>
          <a:ln/>
        </p:spPr>
        <p:txBody>
          <a:bodyPr wrap="square" lIns="0" tIns="0" rIns="0" bIns="0" rtlCol="0" anchor="ctr"/>
          <a:lstStyle/>
          <a:p>
            <a:pPr indent="0" marL="0">
              <a:buNone/>
            </a:pPr>
            <a:r>
              <a:rPr lang="en-US" sz="1200" dirty="0">
                <a:solidFill>
                  <a:srgbClr val="6E7681"/>
                </a:solidFill>
                <a:latin typeface="Calibri" pitchFamily="34" charset="0"/>
                <a:ea typeface="Calibri" pitchFamily="34" charset="-122"/>
                <a:cs typeface="Calibri" pitchFamily="34" charset="-120"/>
              </a:rPr>
              <a:t>Anthropic lo publicó en octubre de 2025 y lo abrió como estándar en diciembre. No es un formato de un producto.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txBox="1"/>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4" name="Text 2"/>
          <p:cNvSpPr txBox="1"/>
          <p:nvPr/>
        </p:nvSpPr>
        <p:spPr>
          <a:xfrm>
            <a:off x="978408" y="310896"/>
            <a:ext cx="7662672" cy="438912"/>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Cómo se implementa en tu agente</a:t>
            </a:r>
            <a:endParaRPr lang="en-US" sz="2700" dirty="0"/>
          </a:p>
        </p:txBody>
      </p:sp>
      <p:sp>
        <p:nvSpPr>
          <p:cNvPr id="5" name="Text 3"/>
          <p:cNvSpPr txBox="1"/>
          <p:nvPr/>
        </p:nvSpPr>
        <p:spPr>
          <a:xfrm>
            <a:off x="978408" y="768096"/>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El índice va en el system prompt. El cuerpo entra por una tool.</a:t>
            </a:r>
            <a:endParaRPr lang="en-US" sz="1300" dirty="0"/>
          </a:p>
        </p:txBody>
      </p:sp>
      <p:sp>
        <p:nvSpPr>
          <p:cNvPr id="6" name="Text 4"/>
          <p:cNvSpPr txBox="1"/>
          <p:nvPr/>
        </p:nvSpPr>
        <p:spPr>
          <a:xfrm>
            <a:off x="502920" y="1170432"/>
            <a:ext cx="1931670" cy="201168"/>
          </a:xfrm>
          <a:prstGeom prst="rect">
            <a:avLst/>
          </a:prstGeom>
          <a:noFill/>
          <a:ln/>
        </p:spPr>
        <p:txBody>
          <a:bodyPr wrap="square" lIns="0" tIns="0" rIns="0" bIns="0" rtlCol="0" anchor="ctr"/>
          <a:lstStyle/>
          <a:p>
            <a:pPr indent="0" marL="0">
              <a:buNone/>
            </a:pPr>
            <a:r>
              <a:rPr lang="en-US" sz="850" b="1" spc="100" kern="0" dirty="0">
                <a:solidFill>
                  <a:srgbClr val="6E7681"/>
                </a:solidFill>
                <a:latin typeface="Arial" pitchFamily="34" charset="0"/>
                <a:ea typeface="Arial" pitchFamily="34" charset="-122"/>
                <a:cs typeface="Arial" pitchFamily="34" charset="-120"/>
              </a:rPr>
              <a:t>AL ARRANCAR</a:t>
            </a:r>
            <a:endParaRPr lang="en-US" sz="850" dirty="0"/>
          </a:p>
        </p:txBody>
      </p:sp>
      <p:sp>
        <p:nvSpPr>
          <p:cNvPr id="7" name="Shape 5"/>
          <p:cNvSpPr/>
          <p:nvPr/>
        </p:nvSpPr>
        <p:spPr>
          <a:xfrm>
            <a:off x="502920" y="1408176"/>
            <a:ext cx="1931670" cy="1170432"/>
          </a:xfrm>
          <a:prstGeom prst="rect">
            <a:avLst/>
          </a:prstGeom>
          <a:solidFill>
            <a:srgbClr val="F1F2F4"/>
          </a:solidFill>
          <a:ln/>
        </p:spPr>
      </p:sp>
      <p:sp>
        <p:nvSpPr>
          <p:cNvPr id="8" name="Text 6"/>
          <p:cNvSpPr txBox="1"/>
          <p:nvPr/>
        </p:nvSpPr>
        <p:spPr>
          <a:xfrm>
            <a:off x="630936" y="1517904"/>
            <a:ext cx="1675638" cy="237744"/>
          </a:xfrm>
          <a:prstGeom prst="rect">
            <a:avLst/>
          </a:prstGeom>
          <a:noFill/>
          <a:ln/>
        </p:spPr>
        <p:txBody>
          <a:bodyPr wrap="square" lIns="0" tIns="0" rIns="0" bIns="0" rtlCol="0" anchor="ctr"/>
          <a:lstStyle/>
          <a:p>
            <a:pPr indent="0" marL="0">
              <a:buNone/>
            </a:pPr>
            <a:r>
              <a:rPr lang="en-US" sz="1150" b="1" dirty="0">
                <a:solidFill>
                  <a:srgbClr val="16191F"/>
                </a:solidFill>
                <a:latin typeface="Arial" pitchFamily="34" charset="0"/>
                <a:ea typeface="Arial" pitchFamily="34" charset="-122"/>
                <a:cs typeface="Arial" pitchFamily="34" charset="-120"/>
              </a:rPr>
              <a:t>1  ·  Descubrir</a:t>
            </a:r>
            <a:endParaRPr lang="en-US" sz="1150" dirty="0"/>
          </a:p>
        </p:txBody>
      </p:sp>
      <p:sp>
        <p:nvSpPr>
          <p:cNvPr id="9" name="Text 7"/>
          <p:cNvSpPr txBox="1"/>
          <p:nvPr/>
        </p:nvSpPr>
        <p:spPr>
          <a:xfrm>
            <a:off x="630936" y="1792224"/>
            <a:ext cx="1675638" cy="713232"/>
          </a:xfrm>
          <a:prstGeom prst="rect">
            <a:avLst/>
          </a:prstGeom>
          <a:noFill/>
          <a:ln/>
        </p:spPr>
        <p:txBody>
          <a:bodyPr wrap="square" lIns="0" tIns="0" rIns="0" bIns="0" rtlCol="0" anchor="t"/>
          <a:lstStyle/>
          <a:p>
            <a:pPr indent="0" marL="0">
              <a:lnSpc>
                <a:spcPts val="1350"/>
              </a:lnSpc>
              <a:buNone/>
            </a:pPr>
            <a:r>
              <a:rPr lang="en-US" sz="1050" dirty="0">
                <a:solidFill>
                  <a:srgbClr val="2A2E36"/>
                </a:solidFill>
                <a:latin typeface="Calibri" pitchFamily="34" charset="0"/>
                <a:ea typeface="Calibri" pitchFamily="34" charset="-122"/>
                <a:cs typeface="Calibri" pitchFamily="34" charset="-120"/>
              </a:rPr>
              <a:t>Escaneás skills/*/SKILL.md</a:t>
            </a:r>
            <a:endParaRPr lang="en-US" sz="1050" dirty="0"/>
          </a:p>
          <a:p>
            <a:pPr indent="0" marL="0">
              <a:lnSpc>
                <a:spcPts val="1350"/>
              </a:lnSpc>
              <a:buNone/>
            </a:pPr>
            <a:r>
              <a:rPr lang="en-US" sz="1050" dirty="0">
                <a:solidFill>
                  <a:srgbClr val="2A2E36"/>
                </a:solidFill>
                <a:latin typeface="Calibri" pitchFamily="34" charset="0"/>
                <a:ea typeface="Calibri" pitchFamily="34" charset="-122"/>
                <a:cs typeface="Calibri" pitchFamily="34" charset="-120"/>
              </a:rPr>
              <a:t>y parseás el frontmatter.</a:t>
            </a:r>
            <a:endParaRPr lang="en-US" sz="1050" dirty="0"/>
          </a:p>
        </p:txBody>
      </p:sp>
      <p:sp>
        <p:nvSpPr>
          <p:cNvPr id="10" name="Text 8"/>
          <p:cNvSpPr txBox="1"/>
          <p:nvPr/>
        </p:nvSpPr>
        <p:spPr>
          <a:xfrm>
            <a:off x="2571750" y="1170432"/>
            <a:ext cx="1931670" cy="201168"/>
          </a:xfrm>
          <a:prstGeom prst="rect">
            <a:avLst/>
          </a:prstGeom>
          <a:noFill/>
          <a:ln/>
        </p:spPr>
        <p:txBody>
          <a:bodyPr wrap="square" lIns="0" tIns="0" rIns="0" bIns="0" rtlCol="0" anchor="ctr"/>
          <a:lstStyle/>
          <a:p>
            <a:pPr indent="0" marL="0">
              <a:buNone/>
            </a:pPr>
            <a:r>
              <a:rPr lang="en-US" sz="850" b="1" spc="100" kern="0" dirty="0">
                <a:solidFill>
                  <a:srgbClr val="6E7681"/>
                </a:solidFill>
                <a:latin typeface="Arial" pitchFamily="34" charset="0"/>
                <a:ea typeface="Arial" pitchFamily="34" charset="-122"/>
                <a:cs typeface="Arial" pitchFamily="34" charset="-120"/>
              </a:rPr>
              <a:t>AL ARRANCAR</a:t>
            </a:r>
            <a:endParaRPr lang="en-US" sz="850" dirty="0"/>
          </a:p>
        </p:txBody>
      </p:sp>
      <p:sp>
        <p:nvSpPr>
          <p:cNvPr id="11" name="Shape 9"/>
          <p:cNvSpPr/>
          <p:nvPr/>
        </p:nvSpPr>
        <p:spPr>
          <a:xfrm>
            <a:off x="2571750" y="1408176"/>
            <a:ext cx="1931670" cy="1170432"/>
          </a:xfrm>
          <a:prstGeom prst="rect">
            <a:avLst/>
          </a:prstGeom>
          <a:solidFill>
            <a:srgbClr val="F1F2F4"/>
          </a:solidFill>
          <a:ln/>
        </p:spPr>
      </p:sp>
      <p:sp>
        <p:nvSpPr>
          <p:cNvPr id="12" name="Text 10"/>
          <p:cNvSpPr txBox="1"/>
          <p:nvPr/>
        </p:nvSpPr>
        <p:spPr>
          <a:xfrm>
            <a:off x="2699766" y="1517904"/>
            <a:ext cx="1675638" cy="237744"/>
          </a:xfrm>
          <a:prstGeom prst="rect">
            <a:avLst/>
          </a:prstGeom>
          <a:noFill/>
          <a:ln/>
        </p:spPr>
        <p:txBody>
          <a:bodyPr wrap="square" lIns="0" tIns="0" rIns="0" bIns="0" rtlCol="0" anchor="ctr"/>
          <a:lstStyle/>
          <a:p>
            <a:pPr indent="0" marL="0">
              <a:buNone/>
            </a:pPr>
            <a:r>
              <a:rPr lang="en-US" sz="1150" b="1" dirty="0">
                <a:solidFill>
                  <a:srgbClr val="16191F"/>
                </a:solidFill>
                <a:latin typeface="Arial" pitchFamily="34" charset="0"/>
                <a:ea typeface="Arial" pitchFamily="34" charset="-122"/>
                <a:cs typeface="Arial" pitchFamily="34" charset="-120"/>
              </a:rPr>
              <a:t>2  ·  Inyectar el índice</a:t>
            </a:r>
            <a:endParaRPr lang="en-US" sz="1150" dirty="0"/>
          </a:p>
        </p:txBody>
      </p:sp>
      <p:sp>
        <p:nvSpPr>
          <p:cNvPr id="13" name="Text 11"/>
          <p:cNvSpPr txBox="1"/>
          <p:nvPr/>
        </p:nvSpPr>
        <p:spPr>
          <a:xfrm>
            <a:off x="2699766" y="1792224"/>
            <a:ext cx="1675638" cy="713232"/>
          </a:xfrm>
          <a:prstGeom prst="rect">
            <a:avLst/>
          </a:prstGeom>
          <a:noFill/>
          <a:ln/>
        </p:spPr>
        <p:txBody>
          <a:bodyPr wrap="square" lIns="0" tIns="0" rIns="0" bIns="0" rtlCol="0" anchor="t"/>
          <a:lstStyle/>
          <a:p>
            <a:pPr indent="0" marL="0">
              <a:lnSpc>
                <a:spcPts val="1350"/>
              </a:lnSpc>
              <a:buNone/>
            </a:pPr>
            <a:r>
              <a:rPr lang="en-US" sz="1050" dirty="0">
                <a:solidFill>
                  <a:srgbClr val="2A2E36"/>
                </a:solidFill>
                <a:latin typeface="Calibri" pitchFamily="34" charset="0"/>
                <a:ea typeface="Calibri" pitchFamily="34" charset="-122"/>
                <a:cs typeface="Calibri" pitchFamily="34" charset="-120"/>
              </a:rPr>
              <a:t>name + description de cada</a:t>
            </a:r>
            <a:endParaRPr lang="en-US" sz="1050" dirty="0"/>
          </a:p>
          <a:p>
            <a:pPr indent="0" marL="0">
              <a:lnSpc>
                <a:spcPts val="1350"/>
              </a:lnSpc>
              <a:buNone/>
            </a:pPr>
            <a:r>
              <a:rPr lang="en-US" sz="1050" dirty="0">
                <a:solidFill>
                  <a:srgbClr val="2A2E36"/>
                </a:solidFill>
                <a:latin typeface="Calibri" pitchFamily="34" charset="0"/>
                <a:ea typeface="Calibri" pitchFamily="34" charset="-122"/>
                <a:cs typeface="Calibri" pitchFamily="34" charset="-120"/>
              </a:rPr>
              <a:t>uno, en el system prompt.</a:t>
            </a:r>
            <a:endParaRPr lang="en-US" sz="1050" dirty="0"/>
          </a:p>
        </p:txBody>
      </p:sp>
      <p:sp>
        <p:nvSpPr>
          <p:cNvPr id="14" name="Text 12"/>
          <p:cNvSpPr txBox="1"/>
          <p:nvPr/>
        </p:nvSpPr>
        <p:spPr>
          <a:xfrm>
            <a:off x="4640580" y="1170432"/>
            <a:ext cx="1931670" cy="201168"/>
          </a:xfrm>
          <a:prstGeom prst="rect">
            <a:avLst/>
          </a:prstGeom>
          <a:noFill/>
          <a:ln/>
        </p:spPr>
        <p:txBody>
          <a:bodyPr wrap="square" lIns="0" tIns="0" rIns="0" bIns="0" rtlCol="0" anchor="ctr"/>
          <a:lstStyle/>
          <a:p>
            <a:pPr indent="0" marL="0">
              <a:buNone/>
            </a:pPr>
            <a:r>
              <a:rPr lang="en-US" sz="850" b="1" spc="100" kern="0" dirty="0">
                <a:solidFill>
                  <a:srgbClr val="E4572E"/>
                </a:solidFill>
                <a:latin typeface="Arial" pitchFamily="34" charset="0"/>
                <a:ea typeface="Arial" pitchFamily="34" charset="-122"/>
                <a:cs typeface="Arial" pitchFamily="34" charset="-120"/>
              </a:rPr>
              <a:t>EN EL LOOP</a:t>
            </a:r>
            <a:endParaRPr lang="en-US" sz="850" dirty="0"/>
          </a:p>
        </p:txBody>
      </p:sp>
      <p:sp>
        <p:nvSpPr>
          <p:cNvPr id="15" name="Shape 13"/>
          <p:cNvSpPr/>
          <p:nvPr/>
        </p:nvSpPr>
        <p:spPr>
          <a:xfrm>
            <a:off x="4640580" y="1408176"/>
            <a:ext cx="1931670" cy="1170432"/>
          </a:xfrm>
          <a:prstGeom prst="rect">
            <a:avLst/>
          </a:prstGeom>
          <a:solidFill>
            <a:srgbClr val="E8DCD6"/>
          </a:solidFill>
          <a:ln/>
        </p:spPr>
      </p:sp>
      <p:sp>
        <p:nvSpPr>
          <p:cNvPr id="16" name="Text 14"/>
          <p:cNvSpPr txBox="1"/>
          <p:nvPr/>
        </p:nvSpPr>
        <p:spPr>
          <a:xfrm>
            <a:off x="4768596" y="1517904"/>
            <a:ext cx="1675638" cy="237744"/>
          </a:xfrm>
          <a:prstGeom prst="rect">
            <a:avLst/>
          </a:prstGeom>
          <a:noFill/>
          <a:ln/>
        </p:spPr>
        <p:txBody>
          <a:bodyPr wrap="square" lIns="0" tIns="0" rIns="0" bIns="0" rtlCol="0" anchor="ctr"/>
          <a:lstStyle/>
          <a:p>
            <a:pPr indent="0" marL="0">
              <a:buNone/>
            </a:pPr>
            <a:r>
              <a:rPr lang="en-US" sz="1150" b="1" dirty="0">
                <a:solidFill>
                  <a:srgbClr val="16191F"/>
                </a:solidFill>
                <a:latin typeface="Arial" pitchFamily="34" charset="0"/>
                <a:ea typeface="Arial" pitchFamily="34" charset="-122"/>
                <a:cs typeface="Arial" pitchFamily="34" charset="-120"/>
              </a:rPr>
              <a:t>3  ·  El modelo decide</a:t>
            </a:r>
            <a:endParaRPr lang="en-US" sz="1150" dirty="0"/>
          </a:p>
        </p:txBody>
      </p:sp>
      <p:sp>
        <p:nvSpPr>
          <p:cNvPr id="17" name="Text 15"/>
          <p:cNvSpPr txBox="1"/>
          <p:nvPr/>
        </p:nvSpPr>
        <p:spPr>
          <a:xfrm>
            <a:off x="4768596" y="1792224"/>
            <a:ext cx="1675638" cy="713232"/>
          </a:xfrm>
          <a:prstGeom prst="rect">
            <a:avLst/>
          </a:prstGeom>
          <a:noFill/>
          <a:ln/>
        </p:spPr>
        <p:txBody>
          <a:bodyPr wrap="square" lIns="0" tIns="0" rIns="0" bIns="0" rtlCol="0" anchor="t"/>
          <a:lstStyle/>
          <a:p>
            <a:pPr indent="0" marL="0">
              <a:lnSpc>
                <a:spcPts val="1350"/>
              </a:lnSpc>
              <a:buNone/>
            </a:pPr>
            <a:r>
              <a:rPr lang="en-US" sz="1050" dirty="0">
                <a:solidFill>
                  <a:srgbClr val="2A2E36"/>
                </a:solidFill>
                <a:latin typeface="Calibri" pitchFamily="34" charset="0"/>
                <a:ea typeface="Calibri" pitchFamily="34" charset="-122"/>
                <a:cs typeface="Calibri" pitchFamily="34" charset="-120"/>
              </a:rPr>
              <a:t>Ve el índice, matchea, y</a:t>
            </a:r>
            <a:endParaRPr lang="en-US" sz="1050" dirty="0"/>
          </a:p>
          <a:p>
            <a:pPr indent="0" marL="0">
              <a:lnSpc>
                <a:spcPts val="1350"/>
              </a:lnSpc>
              <a:buNone/>
            </a:pPr>
            <a:r>
              <a:rPr lang="en-US" sz="1050" dirty="0">
                <a:solidFill>
                  <a:srgbClr val="2A2E36"/>
                </a:solidFill>
                <a:latin typeface="Calibri" pitchFamily="34" charset="0"/>
                <a:ea typeface="Calibri" pitchFamily="34" charset="-122"/>
                <a:cs typeface="Calibri" pitchFamily="34" charset="-120"/>
              </a:rPr>
              <a:t>llama load_skill("x").</a:t>
            </a:r>
            <a:endParaRPr lang="en-US" sz="1050" dirty="0"/>
          </a:p>
        </p:txBody>
      </p:sp>
      <p:sp>
        <p:nvSpPr>
          <p:cNvPr id="18" name="Text 16"/>
          <p:cNvSpPr txBox="1"/>
          <p:nvPr/>
        </p:nvSpPr>
        <p:spPr>
          <a:xfrm>
            <a:off x="6709410" y="1170432"/>
            <a:ext cx="1931670" cy="201168"/>
          </a:xfrm>
          <a:prstGeom prst="rect">
            <a:avLst/>
          </a:prstGeom>
          <a:noFill/>
          <a:ln/>
        </p:spPr>
        <p:txBody>
          <a:bodyPr wrap="square" lIns="0" tIns="0" rIns="0" bIns="0" rtlCol="0" anchor="ctr"/>
          <a:lstStyle/>
          <a:p>
            <a:pPr indent="0" marL="0">
              <a:buNone/>
            </a:pPr>
            <a:r>
              <a:rPr lang="en-US" sz="850" b="1" spc="100" kern="0" dirty="0">
                <a:solidFill>
                  <a:srgbClr val="E4572E"/>
                </a:solidFill>
                <a:latin typeface="Arial" pitchFamily="34" charset="0"/>
                <a:ea typeface="Arial" pitchFamily="34" charset="-122"/>
                <a:cs typeface="Arial" pitchFamily="34" charset="-120"/>
              </a:rPr>
              <a:t>EN EL LOOP</a:t>
            </a:r>
            <a:endParaRPr lang="en-US" sz="850" dirty="0"/>
          </a:p>
        </p:txBody>
      </p:sp>
      <p:sp>
        <p:nvSpPr>
          <p:cNvPr id="19" name="Shape 17"/>
          <p:cNvSpPr/>
          <p:nvPr/>
        </p:nvSpPr>
        <p:spPr>
          <a:xfrm>
            <a:off x="6709410" y="1408176"/>
            <a:ext cx="1931670" cy="1170432"/>
          </a:xfrm>
          <a:prstGeom prst="rect">
            <a:avLst/>
          </a:prstGeom>
          <a:solidFill>
            <a:srgbClr val="E8DCD6"/>
          </a:solidFill>
          <a:ln/>
        </p:spPr>
      </p:sp>
      <p:sp>
        <p:nvSpPr>
          <p:cNvPr id="20" name="Text 18"/>
          <p:cNvSpPr txBox="1"/>
          <p:nvPr/>
        </p:nvSpPr>
        <p:spPr>
          <a:xfrm>
            <a:off x="6837426" y="1517904"/>
            <a:ext cx="1675638" cy="237744"/>
          </a:xfrm>
          <a:prstGeom prst="rect">
            <a:avLst/>
          </a:prstGeom>
          <a:noFill/>
          <a:ln/>
        </p:spPr>
        <p:txBody>
          <a:bodyPr wrap="square" lIns="0" tIns="0" rIns="0" bIns="0" rtlCol="0" anchor="ctr"/>
          <a:lstStyle/>
          <a:p>
            <a:pPr indent="0" marL="0">
              <a:buNone/>
            </a:pPr>
            <a:r>
              <a:rPr lang="en-US" sz="1150" b="1" dirty="0">
                <a:solidFill>
                  <a:srgbClr val="16191F"/>
                </a:solidFill>
                <a:latin typeface="Arial" pitchFamily="34" charset="0"/>
                <a:ea typeface="Arial" pitchFamily="34" charset="-122"/>
                <a:cs typeface="Arial" pitchFamily="34" charset="-120"/>
              </a:rPr>
              <a:t>4  ·  Devolver el cuerpo</a:t>
            </a:r>
            <a:endParaRPr lang="en-US" sz="1150" dirty="0"/>
          </a:p>
        </p:txBody>
      </p:sp>
      <p:sp>
        <p:nvSpPr>
          <p:cNvPr id="21" name="Text 19"/>
          <p:cNvSpPr txBox="1"/>
          <p:nvPr/>
        </p:nvSpPr>
        <p:spPr>
          <a:xfrm>
            <a:off x="6837426" y="1792224"/>
            <a:ext cx="1675638" cy="713232"/>
          </a:xfrm>
          <a:prstGeom prst="rect">
            <a:avLst/>
          </a:prstGeom>
          <a:noFill/>
          <a:ln/>
        </p:spPr>
        <p:txBody>
          <a:bodyPr wrap="square" lIns="0" tIns="0" rIns="0" bIns="0" rtlCol="0" anchor="t"/>
          <a:lstStyle/>
          <a:p>
            <a:pPr indent="0" marL="0">
              <a:lnSpc>
                <a:spcPts val="1350"/>
              </a:lnSpc>
              <a:buNone/>
            </a:pPr>
            <a:r>
              <a:rPr lang="en-US" sz="1050" dirty="0">
                <a:solidFill>
                  <a:srgbClr val="2A2E36"/>
                </a:solidFill>
                <a:latin typeface="Calibri" pitchFamily="34" charset="0"/>
                <a:ea typeface="Calibri" pitchFamily="34" charset="-122"/>
                <a:cs typeface="Calibri" pitchFamily="34" charset="-120"/>
              </a:rPr>
              <a:t>El handler lee el archivo</a:t>
            </a:r>
            <a:endParaRPr lang="en-US" sz="1050" dirty="0"/>
          </a:p>
          <a:p>
            <a:pPr indent="0" marL="0">
              <a:lnSpc>
                <a:spcPts val="1350"/>
              </a:lnSpc>
              <a:buNone/>
            </a:pPr>
            <a:r>
              <a:rPr lang="en-US" sz="1050" dirty="0">
                <a:solidFill>
                  <a:srgbClr val="2A2E36"/>
                </a:solidFill>
                <a:latin typeface="Calibri" pitchFamily="34" charset="0"/>
                <a:ea typeface="Calibri" pitchFamily="34" charset="-122"/>
                <a:cs typeface="Calibri" pitchFamily="34" charset="-120"/>
              </a:rPr>
              <a:t>y lo retorna como</a:t>
            </a:r>
            <a:endParaRPr lang="en-US" sz="1050" dirty="0"/>
          </a:p>
          <a:p>
            <a:pPr indent="0" marL="0">
              <a:lnSpc>
                <a:spcPts val="1350"/>
              </a:lnSpc>
              <a:buNone/>
            </a:pPr>
            <a:r>
              <a:rPr lang="en-US" sz="1050" dirty="0">
                <a:solidFill>
                  <a:srgbClr val="2A2E36"/>
                </a:solidFill>
                <a:latin typeface="Calibri" pitchFamily="34" charset="0"/>
                <a:ea typeface="Calibri" pitchFamily="34" charset="-122"/>
                <a:cs typeface="Calibri" pitchFamily="34" charset="-120"/>
              </a:rPr>
              <a:t>tool_result.</a:t>
            </a:r>
            <a:endParaRPr lang="en-US" sz="1050" dirty="0"/>
          </a:p>
        </p:txBody>
      </p:sp>
      <p:sp>
        <p:nvSpPr>
          <p:cNvPr id="22" name="Text 20"/>
          <p:cNvSpPr txBox="1"/>
          <p:nvPr/>
        </p:nvSpPr>
        <p:spPr>
          <a:xfrm>
            <a:off x="502920" y="2798064"/>
            <a:ext cx="4663440" cy="731520"/>
          </a:xfrm>
          <a:prstGeom prst="rect">
            <a:avLst/>
          </a:prstGeom>
          <a:noFill/>
          <a:ln/>
        </p:spPr>
        <p:txBody>
          <a:bodyPr wrap="square" lIns="0" tIns="0" rIns="0" bIns="0" rtlCol="0" anchor="ctr"/>
          <a:lstStyle/>
          <a:p>
            <a:pPr indent="0" marL="0">
              <a:lnSpc>
                <a:spcPts val="1700"/>
              </a:lnSpc>
              <a:buNone/>
            </a:pPr>
            <a:r>
              <a:rPr lang="en-US" sz="1250" dirty="0">
                <a:solidFill>
                  <a:srgbClr val="2A2E36"/>
                </a:solidFill>
                <a:latin typeface="Calibri" pitchFamily="34" charset="0"/>
                <a:ea typeface="Calibri" pitchFamily="34" charset="-122"/>
                <a:cs typeface="Calibri" pitchFamily="34" charset="-120"/>
              </a:rPr>
              <a:t>El paso 2 se paga siempre.</a:t>
            </a:r>
            <a:endParaRPr lang="en-US" sz="1250" dirty="0"/>
          </a:p>
          <a:p>
            <a:pPr indent="0" marL="0">
              <a:lnSpc>
                <a:spcPts val="1700"/>
              </a:lnSpc>
              <a:buNone/>
            </a:pPr>
            <a:r>
              <a:rPr lang="en-US" sz="1250" dirty="0">
                <a:solidFill>
                  <a:srgbClr val="2A2E36"/>
                </a:solidFill>
                <a:latin typeface="Calibri" pitchFamily="34" charset="0"/>
                <a:ea typeface="Calibri" pitchFamily="34" charset="-122"/>
                <a:cs typeface="Calibri" pitchFamily="34" charset="-120"/>
              </a:rPr>
              <a:t>El paso 4 se paga sólo a veces.</a:t>
            </a:r>
            <a:endParaRPr lang="en-US" sz="1250" dirty="0"/>
          </a:p>
          <a:p>
            <a:pPr indent="0" marL="0">
              <a:lnSpc>
                <a:spcPts val="1700"/>
              </a:lnSpc>
              <a:buNone/>
            </a:pPr>
            <a:r>
              <a:rPr lang="en-US" sz="1250" dirty="0">
                <a:solidFill>
                  <a:srgbClr val="2A2E36"/>
                </a:solidFill>
                <a:latin typeface="Calibri" pitchFamily="34" charset="0"/>
                <a:ea typeface="Calibri" pitchFamily="34" charset="-122"/>
                <a:cs typeface="Calibri" pitchFamily="34" charset="-120"/>
              </a:rPr>
              <a:t>En esa diferencia está todo el patrón.</a:t>
            </a:r>
            <a:endParaRPr lang="en-US" sz="1250" dirty="0"/>
          </a:p>
        </p:txBody>
      </p:sp>
      <p:sp>
        <p:nvSpPr>
          <p:cNvPr id="23" name="Shape 21"/>
          <p:cNvSpPr/>
          <p:nvPr/>
        </p:nvSpPr>
        <p:spPr>
          <a:xfrm>
            <a:off x="5349240" y="2724912"/>
            <a:ext cx="3291840" cy="841248"/>
          </a:xfrm>
          <a:prstGeom prst="rect">
            <a:avLst/>
          </a:prstGeom>
          <a:solidFill>
            <a:srgbClr val="F1F2F4"/>
          </a:solidFill>
          <a:ln/>
        </p:spPr>
      </p:sp>
      <p:sp>
        <p:nvSpPr>
          <p:cNvPr id="24" name="Text 22"/>
          <p:cNvSpPr txBox="1"/>
          <p:nvPr/>
        </p:nvSpPr>
        <p:spPr>
          <a:xfrm>
            <a:off x="5495544" y="2816352"/>
            <a:ext cx="2743200" cy="201168"/>
          </a:xfrm>
          <a:prstGeom prst="rect">
            <a:avLst/>
          </a:prstGeom>
          <a:noFill/>
          <a:ln/>
        </p:spPr>
        <p:txBody>
          <a:bodyPr wrap="square" lIns="0" tIns="0" rIns="0" bIns="0" rtlCol="0" anchor="ctr"/>
          <a:lstStyle/>
          <a:p>
            <a:pPr indent="0" marL="0">
              <a:buNone/>
            </a:pPr>
            <a:r>
              <a:rPr lang="en-US" sz="850" b="1" spc="100" kern="0" dirty="0">
                <a:solidFill>
                  <a:srgbClr val="A4232B"/>
                </a:solidFill>
                <a:latin typeface="Arial" pitchFamily="34" charset="0"/>
                <a:ea typeface="Arial" pitchFamily="34" charset="-122"/>
                <a:cs typeface="Arial" pitchFamily="34" charset="-120"/>
              </a:rPr>
              <a:t>LO QUE NO CAMBIA</a:t>
            </a:r>
            <a:endParaRPr lang="en-US" sz="850" dirty="0"/>
          </a:p>
        </p:txBody>
      </p:sp>
      <p:sp>
        <p:nvSpPr>
          <p:cNvPr id="25" name="Text 23"/>
          <p:cNvSpPr txBox="1"/>
          <p:nvPr/>
        </p:nvSpPr>
        <p:spPr>
          <a:xfrm>
            <a:off x="5495544" y="3035808"/>
            <a:ext cx="2999232" cy="457200"/>
          </a:xfrm>
          <a:prstGeom prst="rect">
            <a:avLst/>
          </a:prstGeom>
          <a:noFill/>
          <a:ln/>
        </p:spPr>
        <p:txBody>
          <a:bodyPr wrap="square" lIns="0" tIns="0" rIns="0" bIns="0" rtlCol="0" anchor="ctr"/>
          <a:lstStyle/>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El registro de tools se arma una vez y no se toca.</a:t>
            </a:r>
            <a:endParaRPr lang="en-US" sz="1100" dirty="0"/>
          </a:p>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Un skill trae conocimiento, y nada más.</a:t>
            </a:r>
            <a:endParaRPr lang="en-US" sz="1100" dirty="0"/>
          </a:p>
        </p:txBody>
      </p:sp>
      <p:sp>
        <p:nvSpPr>
          <p:cNvPr id="26" name="Shape 24"/>
          <p:cNvSpPr/>
          <p:nvPr/>
        </p:nvSpPr>
        <p:spPr>
          <a:xfrm>
            <a:off x="502920" y="3822192"/>
            <a:ext cx="50292" cy="274320"/>
          </a:xfrm>
          <a:prstGeom prst="rect">
            <a:avLst/>
          </a:prstGeom>
          <a:solidFill>
            <a:srgbClr val="E4572E"/>
          </a:solidFill>
          <a:ln/>
        </p:spPr>
      </p:sp>
      <p:sp>
        <p:nvSpPr>
          <p:cNvPr id="27" name="Text 25"/>
          <p:cNvSpPr txBox="1"/>
          <p:nvPr/>
        </p:nvSpPr>
        <p:spPr>
          <a:xfrm>
            <a:off x="685800" y="3794760"/>
            <a:ext cx="7955280" cy="329184"/>
          </a:xfrm>
          <a:prstGeom prst="rect">
            <a:avLst/>
          </a:prstGeom>
          <a:noFill/>
          <a:ln/>
        </p:spPr>
        <p:txBody>
          <a:bodyPr wrap="square" lIns="0" tIns="0" rIns="0" bIns="0" rtlCol="0" anchor="ctr"/>
          <a:lstStyle/>
          <a:p>
            <a:pPr indent="0" marL="0">
              <a:buNone/>
            </a:pPr>
            <a:r>
              <a:rPr lang="en-US" sz="1250" b="1" dirty="0">
                <a:solidFill>
                  <a:srgbClr val="16191F"/>
                </a:solidFill>
                <a:latin typeface="Calibri" pitchFamily="34" charset="0"/>
                <a:ea typeface="Calibri" pitchFamily="34" charset="-122"/>
                <a:cs typeface="Calibri" pitchFamily="34" charset="-120"/>
              </a:rPr>
              <a:t>Si lo cargás siempre al iniciar la sesión, ya lo estás pagando siempre.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txBox="1"/>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4" name="Text 2"/>
          <p:cNvSpPr txBox="1"/>
          <p:nvPr/>
        </p:nvSpPr>
        <p:spPr>
          <a:xfrm>
            <a:off x="978408" y="310896"/>
            <a:ext cx="7662672" cy="438912"/>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El arranque: descubrir e inyectar</a:t>
            </a:r>
            <a:endParaRPr lang="en-US" sz="2700" dirty="0"/>
          </a:p>
        </p:txBody>
      </p:sp>
      <p:sp>
        <p:nvSpPr>
          <p:cNvPr id="5" name="Text 3"/>
          <p:cNvSpPr txBox="1"/>
          <p:nvPr/>
        </p:nvSpPr>
        <p:spPr>
          <a:xfrm>
            <a:off x="978408" y="768096"/>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Nivel 1: lo único que viaja en todas las llamadas.</a:t>
            </a:r>
            <a:endParaRPr lang="en-US" sz="1300" dirty="0"/>
          </a:p>
        </p:txBody>
      </p:sp>
      <p:sp>
        <p:nvSpPr>
          <p:cNvPr id="6" name="Shape 4"/>
          <p:cNvSpPr/>
          <p:nvPr/>
        </p:nvSpPr>
        <p:spPr>
          <a:xfrm>
            <a:off x="502920" y="1188720"/>
            <a:ext cx="4160520" cy="1783080"/>
          </a:xfrm>
          <a:prstGeom prst="rect">
            <a:avLst/>
          </a:prstGeom>
          <a:solidFill>
            <a:srgbClr val="F1F2F4"/>
          </a:solidFill>
          <a:ln/>
        </p:spPr>
      </p:sp>
      <p:sp>
        <p:nvSpPr>
          <p:cNvPr id="7" name="Text 5"/>
          <p:cNvSpPr txBox="1"/>
          <p:nvPr/>
        </p:nvSpPr>
        <p:spPr>
          <a:xfrm>
            <a:off x="649224" y="1307592"/>
            <a:ext cx="3867912" cy="1545336"/>
          </a:xfrm>
          <a:prstGeom prst="rect">
            <a:avLst/>
          </a:prstGeom>
          <a:noFill/>
          <a:ln/>
        </p:spPr>
        <p:txBody>
          <a:bodyPr wrap="square" lIns="0" tIns="0" rIns="0" bIns="0" rtlCol="0" anchor="t"/>
          <a:lstStyle/>
          <a:p>
            <a:pPr indent="0" marL="0">
              <a:lnSpc>
                <a:spcPts val="1150"/>
              </a:lnSpc>
              <a:buNone/>
            </a:pPr>
            <a:r>
              <a:rPr lang="en-US" sz="880" dirty="0">
                <a:solidFill>
                  <a:srgbClr val="2A2E36"/>
                </a:solidFill>
                <a:latin typeface="Courier New" pitchFamily="34" charset="0"/>
                <a:ea typeface="Courier New" pitchFamily="34" charset="-122"/>
                <a:cs typeface="Courier New" pitchFamily="34" charset="-120"/>
              </a:rPr>
              <a:t>// src/agent.js</a:t>
            </a:r>
            <a:endParaRPr lang="en-US" sz="880" dirty="0"/>
          </a:p>
          <a:p>
            <a:pPr indent="0" marL="0">
              <a:lnSpc>
                <a:spcPts val="1150"/>
              </a:lnSpc>
              <a:buNone/>
            </a:pPr>
            <a:r>
              <a:rPr lang="en-US" sz="880" dirty="0">
                <a:solidFill>
                  <a:srgbClr val="2A2E36"/>
                </a:solidFill>
                <a:latin typeface="Courier New" pitchFamily="34" charset="0"/>
                <a:ea typeface="Courier New" pitchFamily="34" charset="-122"/>
                <a:cs typeface="Courier New" pitchFamily="34" charset="-120"/>
              </a:rPr>
              <a:t>const SKILLS = discover_skills();</a:t>
            </a:r>
            <a:endParaRPr lang="en-US" sz="880" dirty="0"/>
          </a:p>
          <a:p>
            <a:pPr indent="0" marL="0">
              <a:lnSpc>
                <a:spcPts val="1150"/>
              </a:lnSpc>
              <a:buNone/>
            </a:pPr>
            <a:r>
              <a:rPr lang="en-US" sz="880" dirty="0">
                <a:solidFill>
                  <a:srgbClr val="2A2E36"/>
                </a:solidFill>
                <a:latin typeface="Courier New" pitchFamily="34" charset="0"/>
                <a:ea typeface="Courier New" pitchFamily="34" charset="-122"/>
                <a:cs typeface="Courier New" pitchFamily="34" charset="-120"/>
              </a:rPr>
              <a:t>const SKILLS_INDEX = render_index(SKILLS);</a:t>
            </a:r>
            <a:endParaRPr lang="en-US" sz="880" dirty="0"/>
          </a:p>
          <a:p>
            <a:pPr indent="0" marL="0">
              <a:lnSpc>
                <a:spcPts val="1150"/>
              </a:lnSpc>
              <a:buNone/>
            </a:pPr>
            <a:endParaRPr lang="en-US" sz="880" dirty="0"/>
          </a:p>
          <a:p>
            <a:pPr indent="0" marL="0">
              <a:lnSpc>
                <a:spcPts val="1150"/>
              </a:lnSpc>
              <a:buNone/>
            </a:pPr>
            <a:r>
              <a:rPr lang="en-US" sz="880" dirty="0">
                <a:solidFill>
                  <a:srgbClr val="2A2E36"/>
                </a:solidFill>
                <a:latin typeface="Courier New" pitchFamily="34" charset="0"/>
                <a:ea typeface="Courier New" pitchFamily="34" charset="-122"/>
                <a:cs typeface="Courier New" pitchFamily="34" charset="-120"/>
              </a:rPr>
              <a:t>const AGENT_SYSTEM_PROMPT =</a:t>
            </a:r>
            <a:endParaRPr lang="en-US" sz="880" dirty="0"/>
          </a:p>
          <a:p>
            <a:pPr indent="0" marL="0">
              <a:lnSpc>
                <a:spcPts val="1150"/>
              </a:lnSpc>
              <a:buNone/>
            </a:pPr>
            <a:r>
              <a:rPr lang="en-US" sz="880" dirty="0">
                <a:solidFill>
                  <a:srgbClr val="2A2E36"/>
                </a:solidFill>
                <a:latin typeface="Courier New" pitchFamily="34" charset="0"/>
                <a:ea typeface="Courier New" pitchFamily="34" charset="-122"/>
                <a:cs typeface="Courier New" pitchFamily="34" charset="-120"/>
              </a:rPr>
              <a:t>  `${SYSTEM_PROMPT}\n\n${SKILLS_INDEX}`;</a:t>
            </a:r>
            <a:endParaRPr lang="en-US" sz="880" dirty="0"/>
          </a:p>
          <a:p>
            <a:pPr indent="0" marL="0">
              <a:lnSpc>
                <a:spcPts val="1150"/>
              </a:lnSpc>
              <a:buNone/>
            </a:pPr>
            <a:endParaRPr lang="en-US" sz="880" dirty="0"/>
          </a:p>
          <a:p>
            <a:pPr indent="0" marL="0">
              <a:lnSpc>
                <a:spcPts val="1150"/>
              </a:lnSpc>
              <a:buNone/>
            </a:pPr>
            <a:r>
              <a:rPr lang="en-US" sz="880" dirty="0">
                <a:solidFill>
                  <a:srgbClr val="2A2E36"/>
                </a:solidFill>
                <a:latin typeface="Courier New" pitchFamily="34" charset="0"/>
                <a:ea typeface="Courier New" pitchFamily="34" charset="-122"/>
                <a:cs typeface="Courier New" pitchFamily="34" charset="-120"/>
              </a:rPr>
              <a:t>const AGENT_TOOL_DEFINITIONS = [</a:t>
            </a:r>
            <a:endParaRPr lang="en-US" sz="880" dirty="0"/>
          </a:p>
          <a:p>
            <a:pPr indent="0" marL="0">
              <a:lnSpc>
                <a:spcPts val="1150"/>
              </a:lnSpc>
              <a:buNone/>
            </a:pPr>
            <a:r>
              <a:rPr lang="en-US" sz="880" dirty="0">
                <a:solidFill>
                  <a:srgbClr val="2A2E36"/>
                </a:solidFill>
                <a:latin typeface="Courier New" pitchFamily="34" charset="0"/>
                <a:ea typeface="Courier New" pitchFamily="34" charset="-122"/>
                <a:cs typeface="Courier New" pitchFamily="34" charset="-120"/>
              </a:rPr>
              <a:t>  ...TOOL_DEFINITIONS,</a:t>
            </a:r>
            <a:endParaRPr lang="en-US" sz="880" dirty="0"/>
          </a:p>
          <a:p>
            <a:pPr indent="0" marL="0">
              <a:lnSpc>
                <a:spcPts val="1150"/>
              </a:lnSpc>
              <a:buNone/>
            </a:pPr>
            <a:r>
              <a:rPr lang="en-US" sz="880" dirty="0">
                <a:solidFill>
                  <a:srgbClr val="2A2E36"/>
                </a:solidFill>
                <a:latin typeface="Courier New" pitchFamily="34" charset="0"/>
                <a:ea typeface="Courier New" pitchFamily="34" charset="-122"/>
                <a:cs typeface="Courier New" pitchFamily="34" charset="-120"/>
              </a:rPr>
              <a:t>  ...skill_tools(SKILLS),</a:t>
            </a:r>
            <a:endParaRPr lang="en-US" sz="880" dirty="0"/>
          </a:p>
          <a:p>
            <a:pPr indent="0" marL="0">
              <a:lnSpc>
                <a:spcPts val="1150"/>
              </a:lnSpc>
              <a:buNone/>
            </a:pPr>
            <a:r>
              <a:rPr lang="en-US" sz="880" dirty="0">
                <a:solidFill>
                  <a:srgbClr val="2A2E36"/>
                </a:solidFill>
                <a:latin typeface="Courier New" pitchFamily="34" charset="0"/>
                <a:ea typeface="Courier New" pitchFamily="34" charset="-122"/>
                <a:cs typeface="Courier New" pitchFamily="34" charset="-120"/>
              </a:rPr>
              <a:t>];</a:t>
            </a:r>
            <a:endParaRPr lang="en-US" sz="880" dirty="0"/>
          </a:p>
        </p:txBody>
      </p:sp>
      <p:sp>
        <p:nvSpPr>
          <p:cNvPr id="8" name="Text 6"/>
          <p:cNvSpPr txBox="1"/>
          <p:nvPr/>
        </p:nvSpPr>
        <p:spPr>
          <a:xfrm>
            <a:off x="502920" y="3063240"/>
            <a:ext cx="4160520" cy="274320"/>
          </a:xfrm>
          <a:prstGeom prst="rect">
            <a:avLst/>
          </a:prstGeom>
          <a:noFill/>
          <a:ln/>
        </p:spPr>
        <p:txBody>
          <a:bodyPr wrap="square" lIns="0" tIns="0" rIns="0" bIns="0" rtlCol="0" anchor="ctr"/>
          <a:lstStyle/>
          <a:p>
            <a:pPr indent="0" marL="0">
              <a:buNone/>
            </a:pPr>
            <a:r>
              <a:rPr lang="en-US" sz="1100" dirty="0">
                <a:solidFill>
                  <a:srgbClr val="6E7681"/>
                </a:solidFill>
                <a:latin typeface="Calibri" pitchFamily="34" charset="0"/>
                <a:ea typeface="Calibri" pitchFamily="34" charset="-122"/>
                <a:cs typeface="Calibri" pitchFamily="34" charset="-120"/>
              </a:rPr>
              <a:t>Siete líneas en el agente. El resto vive en skills-runtime.js.</a:t>
            </a:r>
            <a:endParaRPr lang="en-US" sz="1100" dirty="0"/>
          </a:p>
        </p:txBody>
      </p:sp>
      <p:sp>
        <p:nvSpPr>
          <p:cNvPr id="9" name="Shape 7"/>
          <p:cNvSpPr/>
          <p:nvPr/>
        </p:nvSpPr>
        <p:spPr>
          <a:xfrm>
            <a:off x="4937760" y="1188720"/>
            <a:ext cx="3703320" cy="868680"/>
          </a:xfrm>
          <a:prstGeom prst="rect">
            <a:avLst/>
          </a:prstGeom>
          <a:solidFill>
            <a:srgbClr val="F1F2F4"/>
          </a:solidFill>
          <a:ln/>
        </p:spPr>
      </p:sp>
      <p:sp>
        <p:nvSpPr>
          <p:cNvPr id="10" name="Text 8"/>
          <p:cNvSpPr txBox="1"/>
          <p:nvPr/>
        </p:nvSpPr>
        <p:spPr>
          <a:xfrm>
            <a:off x="5084064" y="1280160"/>
            <a:ext cx="3410712" cy="237744"/>
          </a:xfrm>
          <a:prstGeom prst="rect">
            <a:avLst/>
          </a:prstGeom>
          <a:noFill/>
          <a:ln/>
        </p:spPr>
        <p:txBody>
          <a:bodyPr wrap="square" lIns="0" tIns="0" rIns="0" bIns="0" rtlCol="0" anchor="ctr"/>
          <a:lstStyle/>
          <a:p>
            <a:pPr indent="0" marL="0">
              <a:buNone/>
            </a:pPr>
            <a:r>
              <a:rPr lang="en-US" sz="1150" b="1" dirty="0">
                <a:solidFill>
                  <a:srgbClr val="E4572E"/>
                </a:solidFill>
                <a:latin typeface="Courier New" pitchFamily="34" charset="0"/>
                <a:ea typeface="Courier New" pitchFamily="34" charset="-122"/>
                <a:cs typeface="Courier New" pitchFamily="34" charset="-120"/>
              </a:rPr>
              <a:t>discover_skills()</a:t>
            </a:r>
            <a:endParaRPr lang="en-US" sz="1150" dirty="0"/>
          </a:p>
        </p:txBody>
      </p:sp>
      <p:sp>
        <p:nvSpPr>
          <p:cNvPr id="11" name="Text 9"/>
          <p:cNvSpPr txBox="1"/>
          <p:nvPr/>
        </p:nvSpPr>
        <p:spPr>
          <a:xfrm>
            <a:off x="5084064" y="1517904"/>
            <a:ext cx="3410712" cy="475488"/>
          </a:xfrm>
          <a:prstGeom prst="rect">
            <a:avLst/>
          </a:prstGeom>
          <a:noFill/>
          <a:ln/>
        </p:spPr>
        <p:txBody>
          <a:bodyPr wrap="square" lIns="0" tIns="0" rIns="0" bIns="0" rtlCol="0" anchor="ctr"/>
          <a:lstStyle/>
          <a:p>
            <a:pPr indent="0" marL="0">
              <a:lnSpc>
                <a:spcPts val="1300"/>
              </a:lnSpc>
              <a:buNone/>
            </a:pPr>
            <a:r>
              <a:rPr lang="en-US" sz="1050" dirty="0">
                <a:solidFill>
                  <a:srgbClr val="2A2E36"/>
                </a:solidFill>
                <a:latin typeface="Calibri" pitchFamily="34" charset="0"/>
                <a:ea typeface="Calibri" pitchFamily="34" charset="-122"/>
                <a:cs typeface="Calibri" pitchFamily="34" charset="-120"/>
              </a:rPr>
              <a:t>Recorre skills/*/SKILL.md y parsea</a:t>
            </a:r>
            <a:endParaRPr lang="en-US" sz="1050" dirty="0"/>
          </a:p>
          <a:p>
            <a:pPr indent="0" marL="0">
              <a:lnSpc>
                <a:spcPts val="1300"/>
              </a:lnSpc>
              <a:buNone/>
            </a:pPr>
            <a:r>
              <a:rPr lang="en-US" sz="1050" dirty="0">
                <a:solidFill>
                  <a:srgbClr val="2A2E36"/>
                </a:solidFill>
                <a:latin typeface="Calibri" pitchFamily="34" charset="0"/>
                <a:ea typeface="Calibri" pitchFamily="34" charset="-122"/>
                <a:cs typeface="Calibri" pitchFamily="34" charset="-120"/>
              </a:rPr>
              <a:t>el frontmatter de cada una.</a:t>
            </a:r>
            <a:endParaRPr lang="en-US" sz="1050" dirty="0"/>
          </a:p>
        </p:txBody>
      </p:sp>
      <p:sp>
        <p:nvSpPr>
          <p:cNvPr id="12" name="Shape 10"/>
          <p:cNvSpPr/>
          <p:nvPr/>
        </p:nvSpPr>
        <p:spPr>
          <a:xfrm>
            <a:off x="4937760" y="2148840"/>
            <a:ext cx="3703320" cy="868680"/>
          </a:xfrm>
          <a:prstGeom prst="rect">
            <a:avLst/>
          </a:prstGeom>
          <a:solidFill>
            <a:srgbClr val="F1F2F4"/>
          </a:solidFill>
          <a:ln/>
        </p:spPr>
      </p:sp>
      <p:sp>
        <p:nvSpPr>
          <p:cNvPr id="13" name="Text 11"/>
          <p:cNvSpPr txBox="1"/>
          <p:nvPr/>
        </p:nvSpPr>
        <p:spPr>
          <a:xfrm>
            <a:off x="5084064" y="2240280"/>
            <a:ext cx="3410712" cy="237744"/>
          </a:xfrm>
          <a:prstGeom prst="rect">
            <a:avLst/>
          </a:prstGeom>
          <a:noFill/>
          <a:ln/>
        </p:spPr>
        <p:txBody>
          <a:bodyPr wrap="square" lIns="0" tIns="0" rIns="0" bIns="0" rtlCol="0" anchor="ctr"/>
          <a:lstStyle/>
          <a:p>
            <a:pPr indent="0" marL="0">
              <a:buNone/>
            </a:pPr>
            <a:r>
              <a:rPr lang="en-US" sz="1150" b="1" dirty="0">
                <a:solidFill>
                  <a:srgbClr val="E4572E"/>
                </a:solidFill>
                <a:latin typeface="Courier New" pitchFamily="34" charset="0"/>
                <a:ea typeface="Courier New" pitchFamily="34" charset="-122"/>
                <a:cs typeface="Courier New" pitchFamily="34" charset="-120"/>
              </a:rPr>
              <a:t>render_index()</a:t>
            </a:r>
            <a:endParaRPr lang="en-US" sz="1150" dirty="0"/>
          </a:p>
        </p:txBody>
      </p:sp>
      <p:sp>
        <p:nvSpPr>
          <p:cNvPr id="14" name="Text 12"/>
          <p:cNvSpPr txBox="1"/>
          <p:nvPr/>
        </p:nvSpPr>
        <p:spPr>
          <a:xfrm>
            <a:off x="5084064" y="2478024"/>
            <a:ext cx="3410712" cy="475488"/>
          </a:xfrm>
          <a:prstGeom prst="rect">
            <a:avLst/>
          </a:prstGeom>
          <a:noFill/>
          <a:ln/>
        </p:spPr>
        <p:txBody>
          <a:bodyPr wrap="square" lIns="0" tIns="0" rIns="0" bIns="0" rtlCol="0" anchor="ctr"/>
          <a:lstStyle/>
          <a:p>
            <a:pPr indent="0" marL="0">
              <a:lnSpc>
                <a:spcPts val="1300"/>
              </a:lnSpc>
              <a:buNone/>
            </a:pPr>
            <a:r>
              <a:rPr lang="en-US" sz="1050" dirty="0">
                <a:solidFill>
                  <a:srgbClr val="2A2E36"/>
                </a:solidFill>
                <a:latin typeface="Calibri" pitchFamily="34" charset="0"/>
                <a:ea typeface="Calibri" pitchFamily="34" charset="-122"/>
                <a:cs typeface="Calibri" pitchFamily="34" charset="-120"/>
              </a:rPr>
              <a:t>Arma el índice con name + description,</a:t>
            </a:r>
            <a:endParaRPr lang="en-US" sz="1050" dirty="0"/>
          </a:p>
          <a:p>
            <a:pPr indent="0" marL="0">
              <a:lnSpc>
                <a:spcPts val="1300"/>
              </a:lnSpc>
              <a:buNone/>
            </a:pPr>
            <a:r>
              <a:rPr lang="en-US" sz="1050" dirty="0">
                <a:solidFill>
                  <a:srgbClr val="2A2E36"/>
                </a:solidFill>
                <a:latin typeface="Calibri" pitchFamily="34" charset="0"/>
                <a:ea typeface="Calibri" pitchFamily="34" charset="-122"/>
                <a:cs typeface="Calibri" pitchFamily="34" charset="-120"/>
              </a:rPr>
              <a:t>más las reglas de cuándo cargar.</a:t>
            </a:r>
            <a:endParaRPr lang="en-US" sz="1050" dirty="0"/>
          </a:p>
        </p:txBody>
      </p:sp>
      <p:sp>
        <p:nvSpPr>
          <p:cNvPr id="15" name="Shape 13"/>
          <p:cNvSpPr/>
          <p:nvPr/>
        </p:nvSpPr>
        <p:spPr>
          <a:xfrm>
            <a:off x="502920" y="3611880"/>
            <a:ext cx="50292" cy="274320"/>
          </a:xfrm>
          <a:prstGeom prst="rect">
            <a:avLst/>
          </a:prstGeom>
          <a:solidFill>
            <a:srgbClr val="E4572E"/>
          </a:solidFill>
          <a:ln/>
        </p:spPr>
      </p:sp>
      <p:sp>
        <p:nvSpPr>
          <p:cNvPr id="16" name="Text 14"/>
          <p:cNvSpPr txBox="1"/>
          <p:nvPr/>
        </p:nvSpPr>
        <p:spPr>
          <a:xfrm>
            <a:off x="685800" y="3584448"/>
            <a:ext cx="7955280" cy="329184"/>
          </a:xfrm>
          <a:prstGeom prst="rect">
            <a:avLst/>
          </a:prstGeom>
          <a:noFill/>
          <a:ln/>
        </p:spPr>
        <p:txBody>
          <a:bodyPr wrap="square" lIns="0" tIns="0" rIns="0" bIns="0" rtlCol="0" anchor="ctr"/>
          <a:lstStyle/>
          <a:p>
            <a:pPr indent="0" marL="0">
              <a:buNone/>
            </a:pPr>
            <a:r>
              <a:rPr lang="en-US" sz="1250" b="1" dirty="0">
                <a:solidFill>
                  <a:srgbClr val="16191F"/>
                </a:solidFill>
                <a:latin typeface="Calibri" pitchFamily="34" charset="0"/>
                <a:ea typeface="Calibri" pitchFamily="34" charset="-122"/>
                <a:cs typeface="Calibri" pitchFamily="34" charset="-120"/>
              </a:rPr>
              <a:t>El índice es un string. Se concatena al system prompt y listo.</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txBox="1"/>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4" name="Text 2"/>
          <p:cNvSpPr txBox="1"/>
          <p:nvPr/>
        </p:nvSpPr>
        <p:spPr>
          <a:xfrm>
            <a:off x="978408" y="310896"/>
            <a:ext cx="7662672" cy="438912"/>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Las dos tools del runtime</a:t>
            </a:r>
            <a:endParaRPr lang="en-US" sz="2700" dirty="0"/>
          </a:p>
        </p:txBody>
      </p:sp>
      <p:sp>
        <p:nvSpPr>
          <p:cNvPr id="5" name="Text 3"/>
          <p:cNvSpPr txBox="1"/>
          <p:nvPr/>
        </p:nvSpPr>
        <p:spPr>
          <a:xfrm>
            <a:off x="978408" y="768096"/>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Para implementar el patrón alcanza con dos.</a:t>
            </a:r>
            <a:endParaRPr lang="en-US" sz="1300" dirty="0"/>
          </a:p>
        </p:txBody>
      </p:sp>
      <p:sp>
        <p:nvSpPr>
          <p:cNvPr id="6" name="Shape 4"/>
          <p:cNvSpPr/>
          <p:nvPr/>
        </p:nvSpPr>
        <p:spPr>
          <a:xfrm>
            <a:off x="502920" y="1188720"/>
            <a:ext cx="4160520" cy="1170432"/>
          </a:xfrm>
          <a:prstGeom prst="rect">
            <a:avLst/>
          </a:prstGeom>
          <a:solidFill>
            <a:srgbClr val="F1F2F4"/>
          </a:solidFill>
          <a:ln/>
        </p:spPr>
      </p:sp>
      <p:sp>
        <p:nvSpPr>
          <p:cNvPr id="7" name="Text 5"/>
          <p:cNvSpPr txBox="1"/>
          <p:nvPr/>
        </p:nvSpPr>
        <p:spPr>
          <a:xfrm>
            <a:off x="649224" y="1307592"/>
            <a:ext cx="3867912" cy="932688"/>
          </a:xfrm>
          <a:prstGeom prst="rect">
            <a:avLst/>
          </a:prstGeom>
          <a:noFill/>
          <a:ln/>
        </p:spPr>
        <p:txBody>
          <a:bodyPr wrap="square" lIns="0" tIns="0" rIns="0" bIns="0" rtlCol="0" anchor="t"/>
          <a:lstStyle/>
          <a:p>
            <a:pPr indent="0" marL="0">
              <a:lnSpc>
                <a:spcPts val="1150"/>
              </a:lnSpc>
              <a:buNone/>
            </a:pPr>
            <a:r>
              <a:rPr lang="en-US" sz="880" dirty="0">
                <a:solidFill>
                  <a:srgbClr val="2A2E36"/>
                </a:solidFill>
                <a:latin typeface="Courier New" pitchFamily="34" charset="0"/>
                <a:ea typeface="Courier New" pitchFamily="34" charset="-122"/>
                <a:cs typeface="Courier New" pitchFamily="34" charset="-120"/>
              </a:rPr>
              <a:t>load_skill({ skill_name: "patos" })</a:t>
            </a:r>
            <a:endParaRPr lang="en-US" sz="880" dirty="0"/>
          </a:p>
          <a:p>
            <a:pPr indent="0" marL="0">
              <a:lnSpc>
                <a:spcPts val="1150"/>
              </a:lnSpc>
              <a:buNone/>
            </a:pPr>
            <a:endParaRPr lang="en-US" sz="880" dirty="0"/>
          </a:p>
          <a:p>
            <a:pPr indent="0" marL="0">
              <a:lnSpc>
                <a:spcPts val="1150"/>
              </a:lnSpc>
              <a:buNone/>
            </a:pPr>
            <a:r>
              <a:rPr lang="en-US" sz="880" dirty="0">
                <a:solidFill>
                  <a:srgbClr val="2A2E36"/>
                </a:solidFill>
                <a:latin typeface="Courier New" pitchFamily="34" charset="0"/>
                <a:ea typeface="Courier New" pitchFamily="34" charset="-122"/>
                <a:cs typeface="Courier New" pitchFamily="34" charset="-120"/>
              </a:rPr>
              <a:t>read_skill_file({</a:t>
            </a:r>
            <a:endParaRPr lang="en-US" sz="880" dirty="0"/>
          </a:p>
          <a:p>
            <a:pPr indent="0" marL="0">
              <a:lnSpc>
                <a:spcPts val="1150"/>
              </a:lnSpc>
              <a:buNone/>
            </a:pPr>
            <a:r>
              <a:rPr lang="en-US" sz="880" dirty="0">
                <a:solidFill>
                  <a:srgbClr val="2A2E36"/>
                </a:solidFill>
                <a:latin typeface="Courier New" pitchFamily="34" charset="0"/>
                <a:ea typeface="Courier New" pitchFamily="34" charset="-122"/>
                <a:cs typeface="Courier New" pitchFamily="34" charset="-120"/>
              </a:rPr>
              <a:t>  skill_name: "patos",</a:t>
            </a:r>
            <a:endParaRPr lang="en-US" sz="880" dirty="0"/>
          </a:p>
          <a:p>
            <a:pPr indent="0" marL="0">
              <a:lnSpc>
                <a:spcPts val="1150"/>
              </a:lnSpc>
              <a:buNone/>
            </a:pPr>
            <a:r>
              <a:rPr lang="en-US" sz="880" dirty="0">
                <a:solidFill>
                  <a:srgbClr val="2A2E36"/>
                </a:solidFill>
                <a:latin typeface="Courier New" pitchFamily="34" charset="0"/>
                <a:ea typeface="Courier New" pitchFamily="34" charset="-122"/>
                <a:cs typeface="Courier New" pitchFamily="34" charset="-120"/>
              </a:rPr>
              <a:t>  file_path: "references/patos-azulados.md"</a:t>
            </a:r>
            <a:endParaRPr lang="en-US" sz="880" dirty="0"/>
          </a:p>
          <a:p>
            <a:pPr indent="0" marL="0">
              <a:lnSpc>
                <a:spcPts val="1150"/>
              </a:lnSpc>
              <a:buNone/>
            </a:pPr>
            <a:r>
              <a:rPr lang="en-US" sz="880" dirty="0">
                <a:solidFill>
                  <a:srgbClr val="2A2E36"/>
                </a:solidFill>
                <a:latin typeface="Courier New" pitchFamily="34" charset="0"/>
                <a:ea typeface="Courier New" pitchFamily="34" charset="-122"/>
                <a:cs typeface="Courier New" pitchFamily="34" charset="-120"/>
              </a:rPr>
              <a:t>})</a:t>
            </a:r>
            <a:endParaRPr lang="en-US" sz="880" dirty="0"/>
          </a:p>
        </p:txBody>
      </p:sp>
      <p:sp>
        <p:nvSpPr>
          <p:cNvPr id="8" name="Text 6"/>
          <p:cNvSpPr txBox="1"/>
          <p:nvPr/>
        </p:nvSpPr>
        <p:spPr>
          <a:xfrm>
            <a:off x="502920" y="2487168"/>
            <a:ext cx="4160520" cy="502920"/>
          </a:xfrm>
          <a:prstGeom prst="rect">
            <a:avLst/>
          </a:prstGeom>
          <a:noFill/>
          <a:ln/>
        </p:spPr>
        <p:txBody>
          <a:bodyPr wrap="square" lIns="0" tIns="0" rIns="0" bIns="0" rtlCol="0" anchor="ctr"/>
          <a:lstStyle/>
          <a:p>
            <a:pPr indent="0" marL="0">
              <a:lnSpc>
                <a:spcPts val="1500"/>
              </a:lnSpc>
              <a:buNone/>
            </a:pPr>
            <a:r>
              <a:rPr lang="en-US" sz="1150" dirty="0">
                <a:solidFill>
                  <a:srgbClr val="6E7681"/>
                </a:solidFill>
                <a:latin typeface="Calibri" pitchFamily="34" charset="0"/>
                <a:ea typeface="Calibri" pitchFamily="34" charset="-122"/>
                <a:cs typeface="Calibri" pitchFamily="34" charset="-120"/>
              </a:rPr>
              <a:t>El SKILL.md apunta a sus propios archivos.</a:t>
            </a:r>
            <a:endParaRPr lang="en-US" sz="1150" dirty="0"/>
          </a:p>
          <a:p>
            <a:pPr indent="0" marL="0">
              <a:lnSpc>
                <a:spcPts val="1500"/>
              </a:lnSpc>
              <a:buNone/>
            </a:pPr>
            <a:r>
              <a:rPr lang="en-US" sz="1150" dirty="0">
                <a:solidFill>
                  <a:srgbClr val="6E7681"/>
                </a:solidFill>
                <a:latin typeface="Calibri" pitchFamily="34" charset="0"/>
                <a:ea typeface="Calibri" pitchFamily="34" charset="-122"/>
                <a:cs typeface="Calibri" pitchFamily="34" charset="-120"/>
              </a:rPr>
              <a:t>Mismo patrón, un nivel más abajo.</a:t>
            </a:r>
            <a:endParaRPr lang="en-US" sz="1150" dirty="0"/>
          </a:p>
        </p:txBody>
      </p:sp>
      <p:sp>
        <p:nvSpPr>
          <p:cNvPr id="9" name="Shape 7"/>
          <p:cNvSpPr/>
          <p:nvPr/>
        </p:nvSpPr>
        <p:spPr>
          <a:xfrm>
            <a:off x="4937760" y="1188720"/>
            <a:ext cx="3703320" cy="1005840"/>
          </a:xfrm>
          <a:prstGeom prst="rect">
            <a:avLst/>
          </a:prstGeom>
          <a:solidFill>
            <a:srgbClr val="F1F2F4"/>
          </a:solidFill>
          <a:ln/>
        </p:spPr>
      </p:sp>
      <p:sp>
        <p:nvSpPr>
          <p:cNvPr id="10" name="Text 8"/>
          <p:cNvSpPr txBox="1"/>
          <p:nvPr/>
        </p:nvSpPr>
        <p:spPr>
          <a:xfrm>
            <a:off x="5084064" y="1280160"/>
            <a:ext cx="3410712" cy="219456"/>
          </a:xfrm>
          <a:prstGeom prst="rect">
            <a:avLst/>
          </a:prstGeom>
          <a:noFill/>
          <a:ln/>
        </p:spPr>
        <p:txBody>
          <a:bodyPr wrap="square" lIns="0" tIns="0" rIns="0" bIns="0" rtlCol="0" anchor="ctr"/>
          <a:lstStyle/>
          <a:p>
            <a:pPr indent="0" marL="0">
              <a:buNone/>
            </a:pPr>
            <a:r>
              <a:rPr lang="en-US" sz="1100" b="1" dirty="0">
                <a:solidFill>
                  <a:srgbClr val="E4572E"/>
                </a:solidFill>
                <a:latin typeface="Courier New" pitchFamily="34" charset="0"/>
                <a:ea typeface="Courier New" pitchFamily="34" charset="-122"/>
                <a:cs typeface="Courier New" pitchFamily="34" charset="-120"/>
              </a:rPr>
              <a:t>load_skill</a:t>
            </a:r>
            <a:endParaRPr lang="en-US" sz="1100" dirty="0"/>
          </a:p>
        </p:txBody>
      </p:sp>
      <p:sp>
        <p:nvSpPr>
          <p:cNvPr id="11" name="Text 9"/>
          <p:cNvSpPr txBox="1"/>
          <p:nvPr/>
        </p:nvSpPr>
        <p:spPr>
          <a:xfrm>
            <a:off x="5084064" y="1499616"/>
            <a:ext cx="3410712" cy="219456"/>
          </a:xfrm>
          <a:prstGeom prst="rect">
            <a:avLst/>
          </a:prstGeom>
          <a:noFill/>
          <a:ln/>
        </p:spPr>
        <p:txBody>
          <a:bodyPr wrap="square" lIns="0" tIns="0" rIns="0" bIns="0" rtlCol="0" anchor="ctr"/>
          <a:lstStyle/>
          <a:p>
            <a:pPr indent="0" marL="0">
              <a:buNone/>
            </a:pPr>
            <a:r>
              <a:rPr lang="en-US" sz="1200" b="1" dirty="0">
                <a:solidFill>
                  <a:srgbClr val="16191F"/>
                </a:solidFill>
                <a:latin typeface="Arial" pitchFamily="34" charset="0"/>
                <a:ea typeface="Arial" pitchFamily="34" charset="-122"/>
                <a:cs typeface="Arial" pitchFamily="34" charset="-120"/>
              </a:rPr>
              <a:t>Trae las instrucciones de una skill</a:t>
            </a:r>
            <a:endParaRPr lang="en-US" sz="1200" dirty="0"/>
          </a:p>
        </p:txBody>
      </p:sp>
      <p:sp>
        <p:nvSpPr>
          <p:cNvPr id="12" name="Text 10"/>
          <p:cNvSpPr txBox="1"/>
          <p:nvPr/>
        </p:nvSpPr>
        <p:spPr>
          <a:xfrm>
            <a:off x="5084064" y="1719072"/>
            <a:ext cx="3410712" cy="438912"/>
          </a:xfrm>
          <a:prstGeom prst="rect">
            <a:avLst/>
          </a:prstGeom>
          <a:noFill/>
          <a:ln/>
        </p:spPr>
        <p:txBody>
          <a:bodyPr wrap="square" lIns="0" tIns="0" rIns="0" bIns="0" rtlCol="0" anchor="ctr"/>
          <a:lstStyle/>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Devuelve el cuerpo del SKILL.md.</a:t>
            </a:r>
            <a:endParaRPr lang="en-US" sz="1100" dirty="0"/>
          </a:p>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El resto de la carpeta no entra.</a:t>
            </a:r>
            <a:endParaRPr lang="en-US" sz="1100" dirty="0"/>
          </a:p>
        </p:txBody>
      </p:sp>
      <p:sp>
        <p:nvSpPr>
          <p:cNvPr id="13" name="Shape 11"/>
          <p:cNvSpPr/>
          <p:nvPr/>
        </p:nvSpPr>
        <p:spPr>
          <a:xfrm>
            <a:off x="4937760" y="2286000"/>
            <a:ext cx="3703320" cy="1005840"/>
          </a:xfrm>
          <a:prstGeom prst="rect">
            <a:avLst/>
          </a:prstGeom>
          <a:solidFill>
            <a:srgbClr val="F1F2F4"/>
          </a:solidFill>
          <a:ln/>
        </p:spPr>
      </p:sp>
      <p:sp>
        <p:nvSpPr>
          <p:cNvPr id="14" name="Text 12"/>
          <p:cNvSpPr txBox="1"/>
          <p:nvPr/>
        </p:nvSpPr>
        <p:spPr>
          <a:xfrm>
            <a:off x="5084064" y="2377440"/>
            <a:ext cx="3410712" cy="219456"/>
          </a:xfrm>
          <a:prstGeom prst="rect">
            <a:avLst/>
          </a:prstGeom>
          <a:noFill/>
          <a:ln/>
        </p:spPr>
        <p:txBody>
          <a:bodyPr wrap="square" lIns="0" tIns="0" rIns="0" bIns="0" rtlCol="0" anchor="ctr"/>
          <a:lstStyle/>
          <a:p>
            <a:pPr indent="0" marL="0">
              <a:buNone/>
            </a:pPr>
            <a:r>
              <a:rPr lang="en-US" sz="1100" b="1" dirty="0">
                <a:solidFill>
                  <a:srgbClr val="E4572E"/>
                </a:solidFill>
                <a:latin typeface="Courier New" pitchFamily="34" charset="0"/>
                <a:ea typeface="Courier New" pitchFamily="34" charset="-122"/>
                <a:cs typeface="Courier New" pitchFamily="34" charset="-120"/>
              </a:rPr>
              <a:t>read_skill_file</a:t>
            </a:r>
            <a:endParaRPr lang="en-US" sz="1100" dirty="0"/>
          </a:p>
        </p:txBody>
      </p:sp>
      <p:sp>
        <p:nvSpPr>
          <p:cNvPr id="15" name="Text 13"/>
          <p:cNvSpPr txBox="1"/>
          <p:nvPr/>
        </p:nvSpPr>
        <p:spPr>
          <a:xfrm>
            <a:off x="5084064" y="2596896"/>
            <a:ext cx="3410712" cy="219456"/>
          </a:xfrm>
          <a:prstGeom prst="rect">
            <a:avLst/>
          </a:prstGeom>
          <a:noFill/>
          <a:ln/>
        </p:spPr>
        <p:txBody>
          <a:bodyPr wrap="square" lIns="0" tIns="0" rIns="0" bIns="0" rtlCol="0" anchor="ctr"/>
          <a:lstStyle/>
          <a:p>
            <a:pPr indent="0" marL="0">
              <a:buNone/>
            </a:pPr>
            <a:r>
              <a:rPr lang="en-US" sz="1200" b="1" dirty="0">
                <a:solidFill>
                  <a:srgbClr val="16191F"/>
                </a:solidFill>
                <a:latin typeface="Arial" pitchFamily="34" charset="0"/>
                <a:ea typeface="Arial" pitchFamily="34" charset="-122"/>
                <a:cs typeface="Arial" pitchFamily="34" charset="-120"/>
              </a:rPr>
              <a:t>Trae un archivo de esa skill</a:t>
            </a:r>
            <a:endParaRPr lang="en-US" sz="1200" dirty="0"/>
          </a:p>
        </p:txBody>
      </p:sp>
      <p:sp>
        <p:nvSpPr>
          <p:cNvPr id="16" name="Text 14"/>
          <p:cNvSpPr txBox="1"/>
          <p:nvPr/>
        </p:nvSpPr>
        <p:spPr>
          <a:xfrm>
            <a:off x="5084064" y="2816352"/>
            <a:ext cx="3410712" cy="438912"/>
          </a:xfrm>
          <a:prstGeom prst="rect">
            <a:avLst/>
          </a:prstGeom>
          <a:noFill/>
          <a:ln/>
        </p:spPr>
        <p:txBody>
          <a:bodyPr wrap="square" lIns="0" tIns="0" rIns="0" bIns="0" rtlCol="0" anchor="ctr"/>
          <a:lstStyle/>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Devuelve un solo archivo.</a:t>
            </a:r>
            <a:endParaRPr lang="en-US" sz="1100" dirty="0"/>
          </a:p>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Rechaza rutas que salgan de la carpeta.</a:t>
            </a:r>
            <a:endParaRPr lang="en-US" sz="1100" dirty="0"/>
          </a:p>
        </p:txBody>
      </p:sp>
      <p:sp>
        <p:nvSpPr>
          <p:cNvPr id="17" name="Shape 15"/>
          <p:cNvSpPr/>
          <p:nvPr/>
        </p:nvSpPr>
        <p:spPr>
          <a:xfrm>
            <a:off x="502920" y="3520440"/>
            <a:ext cx="50292" cy="274320"/>
          </a:xfrm>
          <a:prstGeom prst="rect">
            <a:avLst/>
          </a:prstGeom>
          <a:solidFill>
            <a:srgbClr val="E4572E"/>
          </a:solidFill>
          <a:ln/>
        </p:spPr>
      </p:sp>
      <p:sp>
        <p:nvSpPr>
          <p:cNvPr id="18" name="Text 16"/>
          <p:cNvSpPr txBox="1"/>
          <p:nvPr/>
        </p:nvSpPr>
        <p:spPr>
          <a:xfrm>
            <a:off x="685800" y="3493008"/>
            <a:ext cx="7955280" cy="329184"/>
          </a:xfrm>
          <a:prstGeom prst="rect">
            <a:avLst/>
          </a:prstGeom>
          <a:noFill/>
          <a:ln/>
        </p:spPr>
        <p:txBody>
          <a:bodyPr wrap="square" lIns="0" tIns="0" rIns="0" bIns="0" rtlCol="0" anchor="ctr"/>
          <a:lstStyle/>
          <a:p>
            <a:pPr indent="0" marL="0">
              <a:buNone/>
            </a:pPr>
            <a:r>
              <a:rPr lang="en-US" sz="1250" b="1" dirty="0">
                <a:solidFill>
                  <a:srgbClr val="16191F"/>
                </a:solidFill>
                <a:latin typeface="Calibri" pitchFamily="34" charset="0"/>
                <a:ea typeface="Calibri" pitchFamily="34" charset="-122"/>
                <a:cs typeface="Calibri" pitchFamily="34" charset="-120"/>
              </a:rPr>
              <a:t>Para el agent loop son dos tools normales que devuelven texto.</a:t>
            </a:r>
            <a:endParaRPr lang="en-US" sz="1250" dirty="0"/>
          </a:p>
        </p:txBody>
      </p:sp>
      <p:sp>
        <p:nvSpPr>
          <p:cNvPr id="19" name="Text 17"/>
          <p:cNvSpPr txBox="1"/>
          <p:nvPr/>
        </p:nvSpPr>
        <p:spPr>
          <a:xfrm>
            <a:off x="685800" y="3950208"/>
            <a:ext cx="7863840" cy="274320"/>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Que la tarea necesita una skill lo decidió el modelo, leyendo el índice. El harness sólo ejecuta la tool que le pidieron.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txBox="1"/>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7</a:t>
            </a:r>
            <a:endParaRPr lang="en-US" sz="1500" dirty="0"/>
          </a:p>
        </p:txBody>
      </p:sp>
      <p:sp>
        <p:nvSpPr>
          <p:cNvPr id="4" name="Text 2"/>
          <p:cNvSpPr txBox="1"/>
          <p:nvPr/>
        </p:nvSpPr>
        <p:spPr>
          <a:xfrm>
            <a:off x="978408" y="310896"/>
            <a:ext cx="7662672" cy="438912"/>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El camino completo, con patos</a:t>
            </a:r>
            <a:endParaRPr lang="en-US" sz="2700" dirty="0"/>
          </a:p>
        </p:txBody>
      </p:sp>
      <p:sp>
        <p:nvSpPr>
          <p:cNvPr id="5" name="Text 3"/>
          <p:cNvSpPr txBox="1"/>
          <p:nvPr/>
        </p:nvSpPr>
        <p:spPr>
          <a:xfrm>
            <a:off x="978408" y="768096"/>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Tenés una skill experta en patos. Preguntás por una variedad rara.</a:t>
            </a:r>
            <a:endParaRPr lang="en-US" sz="1300" dirty="0"/>
          </a:p>
        </p:txBody>
      </p:sp>
      <p:sp>
        <p:nvSpPr>
          <p:cNvPr id="6" name="Text 4"/>
          <p:cNvSpPr txBox="1"/>
          <p:nvPr/>
        </p:nvSpPr>
        <p:spPr>
          <a:xfrm>
            <a:off x="1252728" y="1133856"/>
            <a:ext cx="2340864" cy="201168"/>
          </a:xfrm>
          <a:prstGeom prst="rect">
            <a:avLst/>
          </a:prstGeom>
          <a:noFill/>
          <a:ln/>
        </p:spPr>
        <p:txBody>
          <a:bodyPr wrap="square" lIns="0" tIns="0" rIns="0" bIns="0" rtlCol="0" anchor="ctr"/>
          <a:lstStyle/>
          <a:p>
            <a:pPr indent="0" marL="0">
              <a:buNone/>
            </a:pPr>
            <a:r>
              <a:rPr lang="en-US" sz="900" b="1" spc="100" kern="0" dirty="0">
                <a:solidFill>
                  <a:srgbClr val="E4572E"/>
                </a:solidFill>
                <a:latin typeface="Arial" pitchFamily="34" charset="0"/>
                <a:ea typeface="Arial" pitchFamily="34" charset="-122"/>
                <a:cs typeface="Arial" pitchFamily="34" charset="-120"/>
              </a:rPr>
              <a:t>ITERACIÓN 1</a:t>
            </a:r>
            <a:endParaRPr lang="en-US" sz="900" dirty="0"/>
          </a:p>
        </p:txBody>
      </p:sp>
      <p:sp>
        <p:nvSpPr>
          <p:cNvPr id="7" name="Text 5"/>
          <p:cNvSpPr txBox="1"/>
          <p:nvPr/>
        </p:nvSpPr>
        <p:spPr>
          <a:xfrm>
            <a:off x="3776472" y="1133856"/>
            <a:ext cx="2340864" cy="201168"/>
          </a:xfrm>
          <a:prstGeom prst="rect">
            <a:avLst/>
          </a:prstGeom>
          <a:noFill/>
          <a:ln/>
        </p:spPr>
        <p:txBody>
          <a:bodyPr wrap="square" lIns="0" tIns="0" rIns="0" bIns="0" rtlCol="0" anchor="ctr"/>
          <a:lstStyle/>
          <a:p>
            <a:pPr indent="0" marL="0">
              <a:buNone/>
            </a:pPr>
            <a:r>
              <a:rPr lang="en-US" sz="900" b="1" spc="100" kern="0" dirty="0">
                <a:solidFill>
                  <a:srgbClr val="E4572E"/>
                </a:solidFill>
                <a:latin typeface="Arial" pitchFamily="34" charset="0"/>
                <a:ea typeface="Arial" pitchFamily="34" charset="-122"/>
                <a:cs typeface="Arial" pitchFamily="34" charset="-120"/>
              </a:rPr>
              <a:t>ITERACIÓN 2</a:t>
            </a:r>
            <a:endParaRPr lang="en-US" sz="900" dirty="0"/>
          </a:p>
        </p:txBody>
      </p:sp>
      <p:sp>
        <p:nvSpPr>
          <p:cNvPr id="8" name="Text 6"/>
          <p:cNvSpPr txBox="1"/>
          <p:nvPr/>
        </p:nvSpPr>
        <p:spPr>
          <a:xfrm>
            <a:off x="6300216" y="1133856"/>
            <a:ext cx="2340864" cy="201168"/>
          </a:xfrm>
          <a:prstGeom prst="rect">
            <a:avLst/>
          </a:prstGeom>
          <a:noFill/>
          <a:ln/>
        </p:spPr>
        <p:txBody>
          <a:bodyPr wrap="square" lIns="0" tIns="0" rIns="0" bIns="0" rtlCol="0" anchor="ctr"/>
          <a:lstStyle/>
          <a:p>
            <a:pPr indent="0" marL="0">
              <a:buNone/>
            </a:pPr>
            <a:r>
              <a:rPr lang="en-US" sz="900" b="1" spc="100" kern="0" dirty="0">
                <a:solidFill>
                  <a:srgbClr val="E4572E"/>
                </a:solidFill>
                <a:latin typeface="Arial" pitchFamily="34" charset="0"/>
                <a:ea typeface="Arial" pitchFamily="34" charset="-122"/>
                <a:cs typeface="Arial" pitchFamily="34" charset="-120"/>
              </a:rPr>
              <a:t>ITERACIÓN 3</a:t>
            </a:r>
            <a:endParaRPr lang="en-US" sz="900" dirty="0"/>
          </a:p>
        </p:txBody>
      </p:sp>
      <p:sp>
        <p:nvSpPr>
          <p:cNvPr id="9" name="Text 7"/>
          <p:cNvSpPr txBox="1"/>
          <p:nvPr/>
        </p:nvSpPr>
        <p:spPr>
          <a:xfrm>
            <a:off x="502920" y="1371600"/>
            <a:ext cx="640080" cy="640080"/>
          </a:xfrm>
          <a:prstGeom prst="rect">
            <a:avLst/>
          </a:prstGeom>
          <a:noFill/>
          <a:ln/>
        </p:spPr>
        <p:txBody>
          <a:bodyPr wrap="square" lIns="0" tIns="0" rIns="0" bIns="0" rtlCol="0" anchor="ctr"/>
          <a:lstStyle/>
          <a:p>
            <a:pPr indent="0" marL="0">
              <a:buNone/>
            </a:pPr>
            <a:r>
              <a:rPr lang="en-US" sz="1050" b="1" spc="100" kern="0" dirty="0">
                <a:solidFill>
                  <a:srgbClr val="6E7681"/>
                </a:solidFill>
                <a:latin typeface="Arial" pitchFamily="34" charset="0"/>
                <a:ea typeface="Arial" pitchFamily="34" charset="-122"/>
                <a:cs typeface="Arial" pitchFamily="34" charset="-120"/>
              </a:rPr>
              <a:t>VE</a:t>
            </a:r>
            <a:endParaRPr lang="en-US" sz="1050" dirty="0"/>
          </a:p>
        </p:txBody>
      </p:sp>
      <p:sp>
        <p:nvSpPr>
          <p:cNvPr id="10" name="Shape 8"/>
          <p:cNvSpPr/>
          <p:nvPr/>
        </p:nvSpPr>
        <p:spPr>
          <a:xfrm>
            <a:off x="1252728" y="1371600"/>
            <a:ext cx="2340864" cy="640080"/>
          </a:xfrm>
          <a:prstGeom prst="rect">
            <a:avLst/>
          </a:prstGeom>
          <a:solidFill>
            <a:srgbClr val="F1F2F4"/>
          </a:solidFill>
          <a:ln/>
        </p:spPr>
      </p:sp>
      <p:sp>
        <p:nvSpPr>
          <p:cNvPr id="11" name="Text 9"/>
          <p:cNvSpPr txBox="1"/>
          <p:nvPr/>
        </p:nvSpPr>
        <p:spPr>
          <a:xfrm>
            <a:off x="1371600" y="1426464"/>
            <a:ext cx="2103120" cy="548640"/>
          </a:xfrm>
          <a:prstGeom prst="rect">
            <a:avLst/>
          </a:prstGeom>
          <a:noFill/>
          <a:ln/>
        </p:spPr>
        <p:txBody>
          <a:bodyPr wrap="square" lIns="0" tIns="0" rIns="0" bIns="0" rtlCol="0" anchor="t"/>
          <a:lstStyle/>
          <a:p>
            <a:pPr indent="0" marL="0">
              <a:lnSpc>
                <a:spcPts val="1250"/>
              </a:lnSpc>
              <a:buNone/>
            </a:pPr>
            <a:r>
              <a:rPr lang="en-US" sz="1000" dirty="0">
                <a:solidFill>
                  <a:srgbClr val="2A2E36"/>
                </a:solidFill>
                <a:latin typeface="Calibri" pitchFamily="34" charset="0"/>
                <a:ea typeface="Calibri" pitchFamily="34" charset="-122"/>
                <a:cs typeface="Calibri" pitchFamily="34" charset="-120"/>
              </a:rPr>
              <a:t>El índice, en el system prompt:</a:t>
            </a:r>
            <a:endParaRPr lang="en-US" sz="1000" dirty="0"/>
          </a:p>
          <a:p>
            <a:pPr indent="0" marL="0">
              <a:lnSpc>
                <a:spcPts val="1250"/>
              </a:lnSpc>
              <a:buNone/>
            </a:pPr>
            <a:r>
              <a:rPr lang="en-US" sz="1000" dirty="0">
                <a:solidFill>
                  <a:srgbClr val="2A2E36"/>
                </a:solidFill>
                <a:latin typeface="Calibri" pitchFamily="34" charset="0"/>
                <a:ea typeface="Calibri" pitchFamily="34" charset="-122"/>
                <a:cs typeface="Calibri" pitchFamily="34" charset="-120"/>
              </a:rPr>
              <a:t>`patos`: todo sobre patos.</a:t>
            </a:r>
            <a:endParaRPr lang="en-US" sz="1000" dirty="0"/>
          </a:p>
        </p:txBody>
      </p:sp>
      <p:sp>
        <p:nvSpPr>
          <p:cNvPr id="12" name="Shape 10"/>
          <p:cNvSpPr/>
          <p:nvPr/>
        </p:nvSpPr>
        <p:spPr>
          <a:xfrm>
            <a:off x="3776472" y="1371600"/>
            <a:ext cx="2340864" cy="640080"/>
          </a:xfrm>
          <a:prstGeom prst="rect">
            <a:avLst/>
          </a:prstGeom>
          <a:solidFill>
            <a:srgbClr val="F1F2F4"/>
          </a:solidFill>
          <a:ln/>
        </p:spPr>
      </p:sp>
      <p:sp>
        <p:nvSpPr>
          <p:cNvPr id="13" name="Text 11"/>
          <p:cNvSpPr txBox="1"/>
          <p:nvPr/>
        </p:nvSpPr>
        <p:spPr>
          <a:xfrm>
            <a:off x="3895344" y="1426464"/>
            <a:ext cx="2103120" cy="548640"/>
          </a:xfrm>
          <a:prstGeom prst="rect">
            <a:avLst/>
          </a:prstGeom>
          <a:noFill/>
          <a:ln/>
        </p:spPr>
        <p:txBody>
          <a:bodyPr wrap="square" lIns="0" tIns="0" rIns="0" bIns="0" rtlCol="0" anchor="t"/>
          <a:lstStyle/>
          <a:p>
            <a:pPr indent="0" marL="0">
              <a:lnSpc>
                <a:spcPts val="1250"/>
              </a:lnSpc>
              <a:buNone/>
            </a:pPr>
            <a:r>
              <a:rPr lang="en-US" sz="1000" dirty="0">
                <a:solidFill>
                  <a:srgbClr val="2A2E36"/>
                </a:solidFill>
                <a:latin typeface="Calibri" pitchFamily="34" charset="0"/>
                <a:ea typeface="Calibri" pitchFamily="34" charset="-122"/>
                <a:cs typeface="Calibri" pitchFamily="34" charset="-120"/>
              </a:rPr>
              <a:t>El cuerpo dice: “si preguntan</a:t>
            </a:r>
            <a:endParaRPr lang="en-US" sz="1000" dirty="0"/>
          </a:p>
          <a:p>
            <a:pPr indent="0" marL="0">
              <a:lnSpc>
                <a:spcPts val="1250"/>
              </a:lnSpc>
              <a:buNone/>
            </a:pPr>
            <a:r>
              <a:rPr lang="en-US" sz="1000" dirty="0">
                <a:solidFill>
                  <a:srgbClr val="2A2E36"/>
                </a:solidFill>
                <a:latin typeface="Calibri" pitchFamily="34" charset="0"/>
                <a:ea typeface="Calibri" pitchFamily="34" charset="-122"/>
                <a:cs typeface="Calibri" pitchFamily="34" charset="-120"/>
              </a:rPr>
              <a:t>por patos azulados, leé</a:t>
            </a:r>
            <a:endParaRPr lang="en-US" sz="1000" dirty="0"/>
          </a:p>
          <a:p>
            <a:pPr indent="0" marL="0">
              <a:lnSpc>
                <a:spcPts val="1250"/>
              </a:lnSpc>
              <a:buNone/>
            </a:pPr>
            <a:r>
              <a:rPr lang="en-US" sz="1000" dirty="0">
                <a:solidFill>
                  <a:srgbClr val="2A2E36"/>
                </a:solidFill>
                <a:latin typeface="Calibri" pitchFamily="34" charset="0"/>
                <a:ea typeface="Calibri" pitchFamily="34" charset="-122"/>
                <a:cs typeface="Calibri" pitchFamily="34" charset="-120"/>
              </a:rPr>
              <a:t>references/azulados.md”.</a:t>
            </a:r>
            <a:endParaRPr lang="en-US" sz="1000" dirty="0"/>
          </a:p>
        </p:txBody>
      </p:sp>
      <p:sp>
        <p:nvSpPr>
          <p:cNvPr id="14" name="Shape 12"/>
          <p:cNvSpPr/>
          <p:nvPr/>
        </p:nvSpPr>
        <p:spPr>
          <a:xfrm>
            <a:off x="6300216" y="1371600"/>
            <a:ext cx="2340864" cy="640080"/>
          </a:xfrm>
          <a:prstGeom prst="rect">
            <a:avLst/>
          </a:prstGeom>
          <a:solidFill>
            <a:srgbClr val="E8DCD6"/>
          </a:solidFill>
          <a:ln/>
        </p:spPr>
      </p:sp>
      <p:sp>
        <p:nvSpPr>
          <p:cNvPr id="15" name="Text 13"/>
          <p:cNvSpPr txBox="1"/>
          <p:nvPr/>
        </p:nvSpPr>
        <p:spPr>
          <a:xfrm>
            <a:off x="6419088" y="1426464"/>
            <a:ext cx="2103120" cy="548640"/>
          </a:xfrm>
          <a:prstGeom prst="rect">
            <a:avLst/>
          </a:prstGeom>
          <a:noFill/>
          <a:ln/>
        </p:spPr>
        <p:txBody>
          <a:bodyPr wrap="square" lIns="0" tIns="0" rIns="0" bIns="0" rtlCol="0" anchor="t"/>
          <a:lstStyle/>
          <a:p>
            <a:pPr indent="0" marL="0">
              <a:lnSpc>
                <a:spcPts val="1250"/>
              </a:lnSpc>
              <a:buNone/>
            </a:pPr>
            <a:r>
              <a:rPr lang="en-US" sz="1000" dirty="0">
                <a:solidFill>
                  <a:srgbClr val="2A2E36"/>
                </a:solidFill>
                <a:latin typeface="Calibri" pitchFamily="34" charset="0"/>
                <a:ea typeface="Calibri" pitchFamily="34" charset="-122"/>
                <a:cs typeface="Calibri" pitchFamily="34" charset="-120"/>
              </a:rPr>
              <a:t>Índice + cuerpo + archivo</a:t>
            </a:r>
            <a:endParaRPr lang="en-US" sz="1000" dirty="0"/>
          </a:p>
          <a:p>
            <a:pPr indent="0" marL="0">
              <a:lnSpc>
                <a:spcPts val="1250"/>
              </a:lnSpc>
              <a:buNone/>
            </a:pPr>
            <a:r>
              <a:rPr lang="en-US" sz="1000" dirty="0">
                <a:solidFill>
                  <a:srgbClr val="2A2E36"/>
                </a:solidFill>
                <a:latin typeface="Calibri" pitchFamily="34" charset="0"/>
                <a:ea typeface="Calibri" pitchFamily="34" charset="-122"/>
                <a:cs typeface="Calibri" pitchFamily="34" charset="-120"/>
              </a:rPr>
              <a:t>+ tu pregunta original.</a:t>
            </a:r>
            <a:endParaRPr lang="en-US" sz="1000" dirty="0"/>
          </a:p>
        </p:txBody>
      </p:sp>
      <p:sp>
        <p:nvSpPr>
          <p:cNvPr id="16" name="Text 14"/>
          <p:cNvSpPr txBox="1"/>
          <p:nvPr/>
        </p:nvSpPr>
        <p:spPr>
          <a:xfrm>
            <a:off x="502920" y="2084832"/>
            <a:ext cx="640080" cy="640080"/>
          </a:xfrm>
          <a:prstGeom prst="rect">
            <a:avLst/>
          </a:prstGeom>
          <a:noFill/>
          <a:ln/>
        </p:spPr>
        <p:txBody>
          <a:bodyPr wrap="square" lIns="0" tIns="0" rIns="0" bIns="0" rtlCol="0" anchor="ctr"/>
          <a:lstStyle/>
          <a:p>
            <a:pPr indent="0" marL="0">
              <a:buNone/>
            </a:pPr>
            <a:r>
              <a:rPr lang="en-US" sz="1050" b="1" spc="100" kern="0" dirty="0">
                <a:solidFill>
                  <a:srgbClr val="6E7681"/>
                </a:solidFill>
                <a:latin typeface="Arial" pitchFamily="34" charset="0"/>
                <a:ea typeface="Arial" pitchFamily="34" charset="-122"/>
                <a:cs typeface="Arial" pitchFamily="34" charset="-120"/>
              </a:rPr>
              <a:t>PIDE</a:t>
            </a:r>
            <a:endParaRPr lang="en-US" sz="1050" dirty="0"/>
          </a:p>
        </p:txBody>
      </p:sp>
      <p:sp>
        <p:nvSpPr>
          <p:cNvPr id="17" name="Shape 15"/>
          <p:cNvSpPr/>
          <p:nvPr/>
        </p:nvSpPr>
        <p:spPr>
          <a:xfrm>
            <a:off x="1252728" y="2084832"/>
            <a:ext cx="2340864" cy="640080"/>
          </a:xfrm>
          <a:prstGeom prst="rect">
            <a:avLst/>
          </a:prstGeom>
          <a:solidFill>
            <a:srgbClr val="F1F2F4"/>
          </a:solidFill>
          <a:ln/>
        </p:spPr>
      </p:sp>
      <p:sp>
        <p:nvSpPr>
          <p:cNvPr id="18" name="Text 16"/>
          <p:cNvSpPr txBox="1"/>
          <p:nvPr/>
        </p:nvSpPr>
        <p:spPr>
          <a:xfrm>
            <a:off x="1371600" y="2139696"/>
            <a:ext cx="2103120" cy="548640"/>
          </a:xfrm>
          <a:prstGeom prst="rect">
            <a:avLst/>
          </a:prstGeom>
          <a:noFill/>
          <a:ln/>
        </p:spPr>
        <p:txBody>
          <a:bodyPr wrap="square" lIns="0" tIns="0" rIns="0" bIns="0" rtlCol="0" anchor="t"/>
          <a:lstStyle/>
          <a:p>
            <a:pPr indent="0" marL="0">
              <a:lnSpc>
                <a:spcPts val="1150"/>
              </a:lnSpc>
              <a:buNone/>
            </a:pPr>
            <a:r>
              <a:rPr lang="en-US" sz="860" dirty="0">
                <a:solidFill>
                  <a:srgbClr val="2A2E36"/>
                </a:solidFill>
                <a:latin typeface="Courier New" pitchFamily="34" charset="0"/>
                <a:ea typeface="Courier New" pitchFamily="34" charset="-122"/>
                <a:cs typeface="Courier New" pitchFamily="34" charset="-120"/>
              </a:rPr>
              <a:t>load_skill("patos")</a:t>
            </a:r>
            <a:endParaRPr lang="en-US" sz="860" dirty="0"/>
          </a:p>
        </p:txBody>
      </p:sp>
      <p:sp>
        <p:nvSpPr>
          <p:cNvPr id="19" name="Shape 17"/>
          <p:cNvSpPr/>
          <p:nvPr/>
        </p:nvSpPr>
        <p:spPr>
          <a:xfrm>
            <a:off x="3776472" y="2084832"/>
            <a:ext cx="2340864" cy="640080"/>
          </a:xfrm>
          <a:prstGeom prst="rect">
            <a:avLst/>
          </a:prstGeom>
          <a:solidFill>
            <a:srgbClr val="F1F2F4"/>
          </a:solidFill>
          <a:ln/>
        </p:spPr>
      </p:sp>
      <p:sp>
        <p:nvSpPr>
          <p:cNvPr id="20" name="Text 18"/>
          <p:cNvSpPr txBox="1"/>
          <p:nvPr/>
        </p:nvSpPr>
        <p:spPr>
          <a:xfrm>
            <a:off x="3895344" y="2139696"/>
            <a:ext cx="2103120" cy="548640"/>
          </a:xfrm>
          <a:prstGeom prst="rect">
            <a:avLst/>
          </a:prstGeom>
          <a:noFill/>
          <a:ln/>
        </p:spPr>
        <p:txBody>
          <a:bodyPr wrap="square" lIns="0" tIns="0" rIns="0" bIns="0" rtlCol="0" anchor="t"/>
          <a:lstStyle/>
          <a:p>
            <a:pPr indent="0" marL="0">
              <a:lnSpc>
                <a:spcPts val="1150"/>
              </a:lnSpc>
              <a:buNone/>
            </a:pPr>
            <a:r>
              <a:rPr lang="en-US" sz="860" dirty="0">
                <a:solidFill>
                  <a:srgbClr val="2A2E36"/>
                </a:solidFill>
                <a:latin typeface="Courier New" pitchFamily="34" charset="0"/>
                <a:ea typeface="Courier New" pitchFamily="34" charset="-122"/>
                <a:cs typeface="Courier New" pitchFamily="34" charset="-120"/>
              </a:rPr>
              <a:t>read_skill_file("patos",</a:t>
            </a:r>
            <a:endParaRPr lang="en-US" sz="860" dirty="0"/>
          </a:p>
          <a:p>
            <a:pPr indent="0" marL="0">
              <a:lnSpc>
                <a:spcPts val="1150"/>
              </a:lnSpc>
              <a:buNone/>
            </a:pPr>
            <a:r>
              <a:rPr lang="en-US" sz="860" dirty="0">
                <a:solidFill>
                  <a:srgbClr val="2A2E36"/>
                </a:solidFill>
                <a:latin typeface="Courier New" pitchFamily="34" charset="0"/>
                <a:ea typeface="Courier New" pitchFamily="34" charset="-122"/>
                <a:cs typeface="Courier New" pitchFamily="34" charset="-120"/>
              </a:rPr>
              <a:t>  "references/azulados.md")</a:t>
            </a:r>
            <a:endParaRPr lang="en-US" sz="860" dirty="0"/>
          </a:p>
        </p:txBody>
      </p:sp>
      <p:sp>
        <p:nvSpPr>
          <p:cNvPr id="21" name="Shape 19"/>
          <p:cNvSpPr/>
          <p:nvPr/>
        </p:nvSpPr>
        <p:spPr>
          <a:xfrm>
            <a:off x="6300216" y="2084832"/>
            <a:ext cx="2340864" cy="640080"/>
          </a:xfrm>
          <a:prstGeom prst="rect">
            <a:avLst/>
          </a:prstGeom>
          <a:solidFill>
            <a:srgbClr val="E8DCD6"/>
          </a:solidFill>
          <a:ln/>
        </p:spPr>
      </p:sp>
      <p:sp>
        <p:nvSpPr>
          <p:cNvPr id="22" name="Text 20"/>
          <p:cNvSpPr txBox="1"/>
          <p:nvPr/>
        </p:nvSpPr>
        <p:spPr>
          <a:xfrm>
            <a:off x="6419088" y="2139696"/>
            <a:ext cx="2103120" cy="548640"/>
          </a:xfrm>
          <a:prstGeom prst="rect">
            <a:avLst/>
          </a:prstGeom>
          <a:noFill/>
          <a:ln/>
        </p:spPr>
        <p:txBody>
          <a:bodyPr wrap="square" lIns="0" tIns="0" rIns="0" bIns="0" rtlCol="0" anchor="t"/>
          <a:lstStyle/>
          <a:p>
            <a:pPr indent="0" marL="0">
              <a:lnSpc>
                <a:spcPts val="1150"/>
              </a:lnSpc>
              <a:buNone/>
            </a:pPr>
            <a:r>
              <a:rPr lang="en-US" sz="860" dirty="0">
                <a:solidFill>
                  <a:srgbClr val="2A2E36"/>
                </a:solidFill>
                <a:latin typeface="Courier New" pitchFamily="34" charset="0"/>
                <a:ea typeface="Courier New" pitchFamily="34" charset="-122"/>
                <a:cs typeface="Courier New" pitchFamily="34" charset="-120"/>
              </a:rPr>
              <a:t>Nada. Ya tiene todo.</a:t>
            </a:r>
            <a:endParaRPr lang="en-US" sz="860" dirty="0"/>
          </a:p>
        </p:txBody>
      </p:sp>
      <p:sp>
        <p:nvSpPr>
          <p:cNvPr id="23" name="Text 21"/>
          <p:cNvSpPr txBox="1"/>
          <p:nvPr/>
        </p:nvSpPr>
        <p:spPr>
          <a:xfrm>
            <a:off x="502920" y="2798064"/>
            <a:ext cx="640080" cy="640080"/>
          </a:xfrm>
          <a:prstGeom prst="rect">
            <a:avLst/>
          </a:prstGeom>
          <a:noFill/>
          <a:ln/>
        </p:spPr>
        <p:txBody>
          <a:bodyPr wrap="square" lIns="0" tIns="0" rIns="0" bIns="0" rtlCol="0" anchor="ctr"/>
          <a:lstStyle/>
          <a:p>
            <a:pPr indent="0" marL="0">
              <a:buNone/>
            </a:pPr>
            <a:r>
              <a:rPr lang="en-US" sz="1050" b="1" spc="100" kern="0" dirty="0">
                <a:solidFill>
                  <a:srgbClr val="6E7681"/>
                </a:solidFill>
                <a:latin typeface="Arial" pitchFamily="34" charset="0"/>
                <a:ea typeface="Arial" pitchFamily="34" charset="-122"/>
                <a:cs typeface="Arial" pitchFamily="34" charset="-120"/>
              </a:rPr>
              <a:t>RECIBE</a:t>
            </a:r>
            <a:endParaRPr lang="en-US" sz="1050" dirty="0"/>
          </a:p>
        </p:txBody>
      </p:sp>
      <p:sp>
        <p:nvSpPr>
          <p:cNvPr id="24" name="Shape 22"/>
          <p:cNvSpPr/>
          <p:nvPr/>
        </p:nvSpPr>
        <p:spPr>
          <a:xfrm>
            <a:off x="1252728" y="2798064"/>
            <a:ext cx="2340864" cy="640080"/>
          </a:xfrm>
          <a:prstGeom prst="rect">
            <a:avLst/>
          </a:prstGeom>
          <a:solidFill>
            <a:srgbClr val="F1F2F4"/>
          </a:solidFill>
          <a:ln/>
        </p:spPr>
      </p:sp>
      <p:sp>
        <p:nvSpPr>
          <p:cNvPr id="25" name="Text 23"/>
          <p:cNvSpPr txBox="1"/>
          <p:nvPr/>
        </p:nvSpPr>
        <p:spPr>
          <a:xfrm>
            <a:off x="1371600" y="2852928"/>
            <a:ext cx="2103120" cy="548640"/>
          </a:xfrm>
          <a:prstGeom prst="rect">
            <a:avLst/>
          </a:prstGeom>
          <a:noFill/>
          <a:ln/>
        </p:spPr>
        <p:txBody>
          <a:bodyPr wrap="square" lIns="0" tIns="0" rIns="0" bIns="0" rtlCol="0" anchor="t"/>
          <a:lstStyle/>
          <a:p>
            <a:pPr indent="0" marL="0">
              <a:lnSpc>
                <a:spcPts val="1250"/>
              </a:lnSpc>
              <a:buNone/>
            </a:pPr>
            <a:r>
              <a:rPr lang="en-US" sz="1000" dirty="0">
                <a:solidFill>
                  <a:srgbClr val="2A2E36"/>
                </a:solidFill>
                <a:latin typeface="Calibri" pitchFamily="34" charset="0"/>
                <a:ea typeface="Calibri" pitchFamily="34" charset="-122"/>
                <a:cs typeface="Calibri" pitchFamily="34" charset="-120"/>
              </a:rPr>
              <a:t>El cuerpo del SKILL.md.</a:t>
            </a:r>
            <a:endParaRPr lang="en-US" sz="1000" dirty="0"/>
          </a:p>
          <a:p>
            <a:pPr indent="0" marL="0">
              <a:lnSpc>
                <a:spcPts val="1250"/>
              </a:lnSpc>
              <a:buNone/>
            </a:pPr>
            <a:r>
              <a:rPr lang="en-US" sz="1000" dirty="0">
                <a:solidFill>
                  <a:srgbClr val="2A2E36"/>
                </a:solidFill>
                <a:latin typeface="Calibri" pitchFamily="34" charset="0"/>
                <a:ea typeface="Calibri" pitchFamily="34" charset="-122"/>
                <a:cs typeface="Calibri" pitchFamily="34" charset="-120"/>
              </a:rPr>
              <a:t>Nada más de la carpeta.</a:t>
            </a:r>
            <a:endParaRPr lang="en-US" sz="1000" dirty="0"/>
          </a:p>
        </p:txBody>
      </p:sp>
      <p:sp>
        <p:nvSpPr>
          <p:cNvPr id="26" name="Shape 24"/>
          <p:cNvSpPr/>
          <p:nvPr/>
        </p:nvSpPr>
        <p:spPr>
          <a:xfrm>
            <a:off x="3776472" y="2798064"/>
            <a:ext cx="2340864" cy="640080"/>
          </a:xfrm>
          <a:prstGeom prst="rect">
            <a:avLst/>
          </a:prstGeom>
          <a:solidFill>
            <a:srgbClr val="F1F2F4"/>
          </a:solidFill>
          <a:ln/>
        </p:spPr>
      </p:sp>
      <p:sp>
        <p:nvSpPr>
          <p:cNvPr id="27" name="Text 25"/>
          <p:cNvSpPr txBox="1"/>
          <p:nvPr/>
        </p:nvSpPr>
        <p:spPr>
          <a:xfrm>
            <a:off x="3895344" y="2852928"/>
            <a:ext cx="2103120" cy="548640"/>
          </a:xfrm>
          <a:prstGeom prst="rect">
            <a:avLst/>
          </a:prstGeom>
          <a:noFill/>
          <a:ln/>
        </p:spPr>
        <p:txBody>
          <a:bodyPr wrap="square" lIns="0" tIns="0" rIns="0" bIns="0" rtlCol="0" anchor="t"/>
          <a:lstStyle/>
          <a:p>
            <a:pPr indent="0" marL="0">
              <a:lnSpc>
                <a:spcPts val="1250"/>
              </a:lnSpc>
              <a:buNone/>
            </a:pPr>
            <a:r>
              <a:rPr lang="en-US" sz="1000" dirty="0">
                <a:solidFill>
                  <a:srgbClr val="2A2E36"/>
                </a:solidFill>
                <a:latin typeface="Calibri" pitchFamily="34" charset="0"/>
                <a:ea typeface="Calibri" pitchFamily="34" charset="-122"/>
                <a:cs typeface="Calibri" pitchFamily="34" charset="-120"/>
              </a:rPr>
              <a:t>Ese archivo. Sólo ese.</a:t>
            </a:r>
            <a:endParaRPr lang="en-US" sz="1000" dirty="0"/>
          </a:p>
        </p:txBody>
      </p:sp>
      <p:sp>
        <p:nvSpPr>
          <p:cNvPr id="28" name="Shape 26"/>
          <p:cNvSpPr/>
          <p:nvPr/>
        </p:nvSpPr>
        <p:spPr>
          <a:xfrm>
            <a:off x="6300216" y="2798064"/>
            <a:ext cx="2340864" cy="640080"/>
          </a:xfrm>
          <a:prstGeom prst="rect">
            <a:avLst/>
          </a:prstGeom>
          <a:solidFill>
            <a:srgbClr val="E8DCD6"/>
          </a:solidFill>
          <a:ln/>
        </p:spPr>
      </p:sp>
      <p:sp>
        <p:nvSpPr>
          <p:cNvPr id="29" name="Text 27"/>
          <p:cNvSpPr txBox="1"/>
          <p:nvPr/>
        </p:nvSpPr>
        <p:spPr>
          <a:xfrm>
            <a:off x="6419088" y="2852928"/>
            <a:ext cx="2103120" cy="548640"/>
          </a:xfrm>
          <a:prstGeom prst="rect">
            <a:avLst/>
          </a:prstGeom>
          <a:noFill/>
          <a:ln/>
        </p:spPr>
        <p:txBody>
          <a:bodyPr wrap="square" lIns="0" tIns="0" rIns="0" bIns="0" rtlCol="0" anchor="t"/>
          <a:lstStyle/>
          <a:p>
            <a:pPr indent="0" marL="0">
              <a:lnSpc>
                <a:spcPts val="1250"/>
              </a:lnSpc>
              <a:buNone/>
            </a:pPr>
            <a:r>
              <a:rPr lang="en-US" sz="1000" dirty="0">
                <a:solidFill>
                  <a:srgbClr val="2A2E36"/>
                </a:solidFill>
                <a:latin typeface="Calibri" pitchFamily="34" charset="0"/>
                <a:ea typeface="Calibri" pitchFamily="34" charset="-122"/>
                <a:cs typeface="Calibri" pitchFamily="34" charset="-120"/>
              </a:rPr>
              <a:t>Escribe la respuesta final</a:t>
            </a:r>
            <a:endParaRPr lang="en-US" sz="1000" dirty="0"/>
          </a:p>
          <a:p>
            <a:pPr indent="0" marL="0">
              <a:lnSpc>
                <a:spcPts val="1250"/>
              </a:lnSpc>
              <a:buNone/>
            </a:pPr>
            <a:r>
              <a:rPr lang="en-US" sz="1000" dirty="0">
                <a:solidFill>
                  <a:srgbClr val="2A2E36"/>
                </a:solidFill>
                <a:latin typeface="Calibri" pitchFamily="34" charset="0"/>
                <a:ea typeface="Calibri" pitchFamily="34" charset="-122"/>
                <a:cs typeface="Calibri" pitchFamily="34" charset="-120"/>
              </a:rPr>
              <a:t>y el loop termina.</a:t>
            </a:r>
            <a:endParaRPr lang="en-US" sz="1000" dirty="0"/>
          </a:p>
        </p:txBody>
      </p:sp>
      <p:sp>
        <p:nvSpPr>
          <p:cNvPr id="30" name="Shape 28"/>
          <p:cNvSpPr/>
          <p:nvPr/>
        </p:nvSpPr>
        <p:spPr>
          <a:xfrm>
            <a:off x="502920" y="3675888"/>
            <a:ext cx="50292" cy="274320"/>
          </a:xfrm>
          <a:prstGeom prst="rect">
            <a:avLst/>
          </a:prstGeom>
          <a:solidFill>
            <a:srgbClr val="E4572E"/>
          </a:solidFill>
          <a:ln/>
        </p:spPr>
      </p:sp>
      <p:sp>
        <p:nvSpPr>
          <p:cNvPr id="31" name="Text 29"/>
          <p:cNvSpPr txBox="1"/>
          <p:nvPr/>
        </p:nvSpPr>
        <p:spPr>
          <a:xfrm>
            <a:off x="685800" y="3648456"/>
            <a:ext cx="7955280" cy="329184"/>
          </a:xfrm>
          <a:prstGeom prst="rect">
            <a:avLst/>
          </a:prstGeom>
          <a:noFill/>
          <a:ln/>
        </p:spPr>
        <p:txBody>
          <a:bodyPr wrap="square" lIns="0" tIns="0" rIns="0" bIns="0" rtlCol="0" anchor="ctr"/>
          <a:lstStyle/>
          <a:p>
            <a:pPr indent="0" marL="0">
              <a:buNone/>
            </a:pPr>
            <a:r>
              <a:rPr lang="en-US" sz="1250" b="1" dirty="0">
                <a:solidFill>
                  <a:srgbClr val="16191F"/>
                </a:solidFill>
                <a:latin typeface="Calibri" pitchFamily="34" charset="0"/>
                <a:ea typeface="Calibri" pitchFamily="34" charset="-122"/>
                <a:cs typeface="Calibri" pitchFamily="34" charset="-120"/>
              </a:rPr>
              <a:t>El modelo nunca abre un archivo: lo pide. El harness lo busca y se lo devuelve.</a:t>
            </a:r>
            <a:endParaRPr lang="en-US" sz="1250" dirty="0"/>
          </a:p>
        </p:txBody>
      </p:sp>
      <p:sp>
        <p:nvSpPr>
          <p:cNvPr id="32" name="Text 30"/>
          <p:cNvSpPr txBox="1"/>
          <p:nvPr/>
        </p:nvSpPr>
        <p:spPr>
          <a:xfrm>
            <a:off x="685800" y="4114800"/>
            <a:ext cx="7863840" cy="274320"/>
          </a:xfrm>
          <a:prstGeom prst="rect">
            <a:avLst/>
          </a:prstGeom>
          <a:noFill/>
          <a:ln/>
        </p:spPr>
        <p:txBody>
          <a:bodyPr wrap="square" lIns="0" tIns="0" rIns="0" bIns="0" rtlCol="0" anchor="ctr"/>
          <a:lstStyle/>
          <a:p>
            <a:pPr indent="0" marL="0">
              <a:buNone/>
            </a:pPr>
            <a:r>
              <a:rPr lang="en-US" sz="1200" dirty="0">
                <a:solidFill>
                  <a:srgbClr val="6E7681"/>
                </a:solidFill>
                <a:latin typeface="Calibri" pitchFamily="34" charset="0"/>
                <a:ea typeface="Calibri" pitchFamily="34" charset="-122"/>
                <a:cs typeface="Calibri" pitchFamily="34" charset="-120"/>
              </a:rPr>
              <a:t>Y la skill no decide nada: es texto que instruye. La inteligencia sale del modelo leyendo ese texto, no del archivo.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txBox="1"/>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8</a:t>
            </a:r>
            <a:endParaRPr lang="en-US" sz="1500" dirty="0"/>
          </a:p>
        </p:txBody>
      </p:sp>
      <p:sp>
        <p:nvSpPr>
          <p:cNvPr id="4" name="Text 2"/>
          <p:cNvSpPr txBox="1"/>
          <p:nvPr/>
        </p:nvSpPr>
        <p:spPr>
          <a:xfrm>
            <a:off x="978408" y="310896"/>
            <a:ext cx="7662672" cy="438912"/>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Skill, prompt, tool o subagente</a:t>
            </a:r>
            <a:endParaRPr lang="en-US" sz="2700" dirty="0"/>
          </a:p>
        </p:txBody>
      </p:sp>
      <p:sp>
        <p:nvSpPr>
          <p:cNvPr id="5" name="Text 3"/>
          <p:cNvSpPr txBox="1"/>
          <p:nvPr/>
        </p:nvSpPr>
        <p:spPr>
          <a:xfrm>
            <a:off x="978408" y="768096"/>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La pregunta que las separa: ¿esto vale siempre, o vale a veces?</a:t>
            </a:r>
            <a:endParaRPr lang="en-US" sz="1300" dirty="0"/>
          </a:p>
        </p:txBody>
      </p:sp>
      <p:sp>
        <p:nvSpPr>
          <p:cNvPr id="6" name="Shape 4"/>
          <p:cNvSpPr/>
          <p:nvPr/>
        </p:nvSpPr>
        <p:spPr>
          <a:xfrm>
            <a:off x="502920" y="1188720"/>
            <a:ext cx="8138160" cy="292608"/>
          </a:xfrm>
          <a:prstGeom prst="rect">
            <a:avLst/>
          </a:prstGeom>
          <a:solidFill>
            <a:srgbClr val="16191F"/>
          </a:solidFill>
          <a:ln/>
        </p:spPr>
      </p:sp>
      <p:sp>
        <p:nvSpPr>
          <p:cNvPr id="7" name="Text 5"/>
          <p:cNvSpPr txBox="1"/>
          <p:nvPr/>
        </p:nvSpPr>
        <p:spPr>
          <a:xfrm>
            <a:off x="630936" y="1188720"/>
            <a:ext cx="1371600" cy="292608"/>
          </a:xfrm>
          <a:prstGeom prst="rect">
            <a:avLst/>
          </a:prstGeom>
          <a:noFill/>
          <a:ln/>
        </p:spPr>
        <p:txBody>
          <a:bodyPr wrap="square" lIns="0" tIns="0" rIns="0" bIns="0" rtlCol="0" anchor="ctr"/>
          <a:lstStyle/>
          <a:p>
            <a:pPr indent="0" marL="0">
              <a:buNone/>
            </a:pPr>
            <a:endParaRPr lang="en-US" sz="950" dirty="0"/>
          </a:p>
        </p:txBody>
      </p:sp>
      <p:sp>
        <p:nvSpPr>
          <p:cNvPr id="8" name="Text 6"/>
          <p:cNvSpPr txBox="1"/>
          <p:nvPr/>
        </p:nvSpPr>
        <p:spPr>
          <a:xfrm>
            <a:off x="2231136" y="1188720"/>
            <a:ext cx="2148840" cy="292608"/>
          </a:xfrm>
          <a:prstGeom prst="rect">
            <a:avLst/>
          </a:prstGeom>
          <a:noFill/>
          <a:ln/>
        </p:spPr>
        <p:txBody>
          <a:bodyPr wrap="square" lIns="0" tIns="0" rIns="0" bIns="0" rtlCol="0" anchor="ctr"/>
          <a:lstStyle/>
          <a:p>
            <a:pPr indent="0" marL="0">
              <a:buNone/>
            </a:pPr>
            <a:r>
              <a:rPr lang="en-US" sz="950" b="1" spc="100" kern="0" dirty="0">
                <a:solidFill>
                  <a:srgbClr val="FFFFFF"/>
                </a:solidFill>
                <a:latin typeface="Arial" pitchFamily="34" charset="0"/>
                <a:ea typeface="Arial" pitchFamily="34" charset="-122"/>
                <a:cs typeface="Arial" pitchFamily="34" charset="-120"/>
              </a:rPr>
              <a:t>QUÉ ES</a:t>
            </a:r>
            <a:endParaRPr lang="en-US" sz="950" dirty="0"/>
          </a:p>
        </p:txBody>
      </p:sp>
      <p:sp>
        <p:nvSpPr>
          <p:cNvPr id="9" name="Text 7"/>
          <p:cNvSpPr txBox="1"/>
          <p:nvPr/>
        </p:nvSpPr>
        <p:spPr>
          <a:xfrm>
            <a:off x="4608576" y="1188720"/>
            <a:ext cx="2194560" cy="292608"/>
          </a:xfrm>
          <a:prstGeom prst="rect">
            <a:avLst/>
          </a:prstGeom>
          <a:noFill/>
          <a:ln/>
        </p:spPr>
        <p:txBody>
          <a:bodyPr wrap="square" lIns="0" tIns="0" rIns="0" bIns="0" rtlCol="0" anchor="ctr"/>
          <a:lstStyle/>
          <a:p>
            <a:pPr indent="0" marL="0">
              <a:buNone/>
            </a:pPr>
            <a:r>
              <a:rPr lang="en-US" sz="950" b="1" spc="100" kern="0" dirty="0">
                <a:solidFill>
                  <a:srgbClr val="FFFFFF"/>
                </a:solidFill>
                <a:latin typeface="Arial" pitchFamily="34" charset="0"/>
                <a:ea typeface="Arial" pitchFamily="34" charset="-122"/>
                <a:cs typeface="Arial" pitchFamily="34" charset="-120"/>
              </a:rPr>
              <a:t>CUÁNDO OCUPA CONTEXTO</a:t>
            </a:r>
            <a:endParaRPr lang="en-US" sz="950" dirty="0"/>
          </a:p>
        </p:txBody>
      </p:sp>
      <p:sp>
        <p:nvSpPr>
          <p:cNvPr id="10" name="Text 8"/>
          <p:cNvSpPr txBox="1"/>
          <p:nvPr/>
        </p:nvSpPr>
        <p:spPr>
          <a:xfrm>
            <a:off x="7031736" y="1188720"/>
            <a:ext cx="1554480" cy="292608"/>
          </a:xfrm>
          <a:prstGeom prst="rect">
            <a:avLst/>
          </a:prstGeom>
          <a:noFill/>
          <a:ln/>
        </p:spPr>
        <p:txBody>
          <a:bodyPr wrap="square" lIns="0" tIns="0" rIns="0" bIns="0" rtlCol="0" anchor="ctr"/>
          <a:lstStyle/>
          <a:p>
            <a:pPr indent="0" marL="0">
              <a:buNone/>
            </a:pPr>
            <a:r>
              <a:rPr lang="en-US" sz="950" b="1" spc="100" kern="0" dirty="0">
                <a:solidFill>
                  <a:srgbClr val="FFFFFF"/>
                </a:solidFill>
                <a:latin typeface="Arial" pitchFamily="34" charset="0"/>
                <a:ea typeface="Arial" pitchFamily="34" charset="-122"/>
                <a:cs typeface="Arial" pitchFamily="34" charset="-120"/>
              </a:rPr>
              <a:t>PARA QUÉ</a:t>
            </a:r>
            <a:endParaRPr lang="en-US" sz="950" dirty="0"/>
          </a:p>
        </p:txBody>
      </p:sp>
      <p:sp>
        <p:nvSpPr>
          <p:cNvPr id="11" name="Shape 9"/>
          <p:cNvSpPr/>
          <p:nvPr/>
        </p:nvSpPr>
        <p:spPr>
          <a:xfrm>
            <a:off x="502920" y="1481328"/>
            <a:ext cx="8138160" cy="493776"/>
          </a:xfrm>
          <a:prstGeom prst="rect">
            <a:avLst/>
          </a:prstGeom>
          <a:solidFill>
            <a:srgbClr val="F1F2F4"/>
          </a:solidFill>
          <a:ln/>
        </p:spPr>
      </p:sp>
      <p:sp>
        <p:nvSpPr>
          <p:cNvPr id="12" name="Text 10"/>
          <p:cNvSpPr txBox="1"/>
          <p:nvPr/>
        </p:nvSpPr>
        <p:spPr>
          <a:xfrm>
            <a:off x="630936" y="1481328"/>
            <a:ext cx="1371600" cy="493776"/>
          </a:xfrm>
          <a:prstGeom prst="rect">
            <a:avLst/>
          </a:prstGeom>
          <a:noFill/>
          <a:ln/>
        </p:spPr>
        <p:txBody>
          <a:bodyPr wrap="square" lIns="0" tIns="0" rIns="0" bIns="0" rtlCol="0" anchor="ctr"/>
          <a:lstStyle/>
          <a:p>
            <a:pPr indent="0" marL="0">
              <a:buNone/>
            </a:pPr>
            <a:r>
              <a:rPr lang="en-US" sz="1100" b="1" dirty="0">
                <a:solidFill>
                  <a:srgbClr val="16191F"/>
                </a:solidFill>
                <a:latin typeface="Arial" pitchFamily="34" charset="0"/>
                <a:ea typeface="Arial" pitchFamily="34" charset="-122"/>
                <a:cs typeface="Arial" pitchFamily="34" charset="-120"/>
              </a:rPr>
              <a:t>PROMPT</a:t>
            </a:r>
            <a:endParaRPr lang="en-US" sz="1100" dirty="0"/>
          </a:p>
        </p:txBody>
      </p:sp>
      <p:sp>
        <p:nvSpPr>
          <p:cNvPr id="13" name="Text 11"/>
          <p:cNvSpPr txBox="1"/>
          <p:nvPr/>
        </p:nvSpPr>
        <p:spPr>
          <a:xfrm>
            <a:off x="2231136" y="1481328"/>
            <a:ext cx="2148840" cy="493776"/>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Lo transversal: quién es el agente y cómo contesta</a:t>
            </a:r>
            <a:endParaRPr lang="en-US" sz="1100" dirty="0"/>
          </a:p>
        </p:txBody>
      </p:sp>
      <p:sp>
        <p:nvSpPr>
          <p:cNvPr id="14" name="Text 12"/>
          <p:cNvSpPr txBox="1"/>
          <p:nvPr/>
        </p:nvSpPr>
        <p:spPr>
          <a:xfrm>
            <a:off x="4608576" y="1481328"/>
            <a:ext cx="2194560" cy="493776"/>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Siempre</a:t>
            </a:r>
            <a:endParaRPr lang="en-US" sz="1100" dirty="0"/>
          </a:p>
        </p:txBody>
      </p:sp>
      <p:sp>
        <p:nvSpPr>
          <p:cNvPr id="15" name="Text 13"/>
          <p:cNvSpPr txBox="1"/>
          <p:nvPr/>
        </p:nvSpPr>
        <p:spPr>
          <a:xfrm>
            <a:off x="7031736" y="1481328"/>
            <a:ext cx="1554480" cy="493776"/>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Vale para toda la conversación</a:t>
            </a:r>
            <a:endParaRPr lang="en-US" sz="1100" dirty="0"/>
          </a:p>
        </p:txBody>
      </p:sp>
      <p:sp>
        <p:nvSpPr>
          <p:cNvPr id="16" name="Shape 14"/>
          <p:cNvSpPr/>
          <p:nvPr/>
        </p:nvSpPr>
        <p:spPr>
          <a:xfrm>
            <a:off x="502920" y="1993392"/>
            <a:ext cx="8138160" cy="493776"/>
          </a:xfrm>
          <a:prstGeom prst="rect">
            <a:avLst/>
          </a:prstGeom>
          <a:solidFill>
            <a:srgbClr val="E8DCD6"/>
          </a:solidFill>
          <a:ln/>
        </p:spPr>
      </p:sp>
      <p:sp>
        <p:nvSpPr>
          <p:cNvPr id="17" name="Text 15"/>
          <p:cNvSpPr txBox="1"/>
          <p:nvPr/>
        </p:nvSpPr>
        <p:spPr>
          <a:xfrm>
            <a:off x="630936" y="1993392"/>
            <a:ext cx="1371600" cy="493776"/>
          </a:xfrm>
          <a:prstGeom prst="rect">
            <a:avLst/>
          </a:prstGeom>
          <a:noFill/>
          <a:ln/>
        </p:spPr>
        <p:txBody>
          <a:bodyPr wrap="square" lIns="0" tIns="0" rIns="0" bIns="0" rtlCol="0" anchor="ctr"/>
          <a:lstStyle/>
          <a:p>
            <a:pPr indent="0" marL="0">
              <a:buNone/>
            </a:pPr>
            <a:r>
              <a:rPr lang="en-US" sz="1100" b="1" dirty="0">
                <a:solidFill>
                  <a:srgbClr val="E4572E"/>
                </a:solidFill>
                <a:latin typeface="Arial" pitchFamily="34" charset="0"/>
                <a:ea typeface="Arial" pitchFamily="34" charset="-122"/>
                <a:cs typeface="Arial" pitchFamily="34" charset="-120"/>
              </a:rPr>
              <a:t>SKILL</a:t>
            </a:r>
            <a:endParaRPr lang="en-US" sz="1100" dirty="0"/>
          </a:p>
        </p:txBody>
      </p:sp>
      <p:sp>
        <p:nvSpPr>
          <p:cNvPr id="18" name="Text 16"/>
          <p:cNvSpPr txBox="1"/>
          <p:nvPr/>
        </p:nvSpPr>
        <p:spPr>
          <a:xfrm>
            <a:off x="2231136" y="1993392"/>
            <a:ext cx="2148840" cy="493776"/>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Cómo se resuelve una tarea puntual</a:t>
            </a:r>
            <a:endParaRPr lang="en-US" sz="1100" dirty="0"/>
          </a:p>
        </p:txBody>
      </p:sp>
      <p:sp>
        <p:nvSpPr>
          <p:cNvPr id="19" name="Text 17"/>
          <p:cNvSpPr txBox="1"/>
          <p:nvPr/>
        </p:nvSpPr>
        <p:spPr>
          <a:xfrm>
            <a:off x="4608576" y="1993392"/>
            <a:ext cx="2194560" cy="493776"/>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Sólo cuando la tarea aparece</a:t>
            </a:r>
            <a:endParaRPr lang="en-US" sz="1100" dirty="0"/>
          </a:p>
        </p:txBody>
      </p:sp>
      <p:sp>
        <p:nvSpPr>
          <p:cNvPr id="20" name="Text 18"/>
          <p:cNvSpPr txBox="1"/>
          <p:nvPr/>
        </p:nvSpPr>
        <p:spPr>
          <a:xfrm>
            <a:off x="7031736" y="1993392"/>
            <a:ext cx="1554480" cy="493776"/>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Vale a veces, y a veces nunca</a:t>
            </a:r>
            <a:endParaRPr lang="en-US" sz="1100" dirty="0"/>
          </a:p>
        </p:txBody>
      </p:sp>
      <p:sp>
        <p:nvSpPr>
          <p:cNvPr id="21" name="Shape 19"/>
          <p:cNvSpPr/>
          <p:nvPr/>
        </p:nvSpPr>
        <p:spPr>
          <a:xfrm>
            <a:off x="502920" y="2505456"/>
            <a:ext cx="8138160" cy="493776"/>
          </a:xfrm>
          <a:prstGeom prst="rect">
            <a:avLst/>
          </a:prstGeom>
          <a:solidFill>
            <a:srgbClr val="F1F2F4"/>
          </a:solidFill>
          <a:ln/>
        </p:spPr>
      </p:sp>
      <p:sp>
        <p:nvSpPr>
          <p:cNvPr id="22" name="Text 20"/>
          <p:cNvSpPr txBox="1"/>
          <p:nvPr/>
        </p:nvSpPr>
        <p:spPr>
          <a:xfrm>
            <a:off x="630936" y="2505456"/>
            <a:ext cx="1371600" cy="493776"/>
          </a:xfrm>
          <a:prstGeom prst="rect">
            <a:avLst/>
          </a:prstGeom>
          <a:noFill/>
          <a:ln/>
        </p:spPr>
        <p:txBody>
          <a:bodyPr wrap="square" lIns="0" tIns="0" rIns="0" bIns="0" rtlCol="0" anchor="ctr"/>
          <a:lstStyle/>
          <a:p>
            <a:pPr indent="0" marL="0">
              <a:buNone/>
            </a:pPr>
            <a:r>
              <a:rPr lang="en-US" sz="1100" b="1" dirty="0">
                <a:solidFill>
                  <a:srgbClr val="16191F"/>
                </a:solidFill>
                <a:latin typeface="Arial" pitchFamily="34" charset="0"/>
                <a:ea typeface="Arial" pitchFamily="34" charset="-122"/>
                <a:cs typeface="Arial" pitchFamily="34" charset="-120"/>
              </a:rPr>
              <a:t>TOOL / MCP</a:t>
            </a:r>
            <a:endParaRPr lang="en-US" sz="1100" dirty="0"/>
          </a:p>
        </p:txBody>
      </p:sp>
      <p:sp>
        <p:nvSpPr>
          <p:cNvPr id="23" name="Text 21"/>
          <p:cNvSpPr txBox="1"/>
          <p:nvPr/>
        </p:nvSpPr>
        <p:spPr>
          <a:xfrm>
            <a:off x="2231136" y="2505456"/>
            <a:ext cx="2148840" cy="493776"/>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Una capacidad externa que el modelo no tiene</a:t>
            </a:r>
            <a:endParaRPr lang="en-US" sz="1100" dirty="0"/>
          </a:p>
        </p:txBody>
      </p:sp>
      <p:sp>
        <p:nvSpPr>
          <p:cNvPr id="24" name="Text 22"/>
          <p:cNvSpPr txBox="1"/>
          <p:nvPr/>
        </p:nvSpPr>
        <p:spPr>
          <a:xfrm>
            <a:off x="4608576" y="2505456"/>
            <a:ext cx="2194560" cy="493776"/>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La definición, en todas las llamadas</a:t>
            </a:r>
            <a:endParaRPr lang="en-US" sz="1100" dirty="0"/>
          </a:p>
        </p:txBody>
      </p:sp>
      <p:sp>
        <p:nvSpPr>
          <p:cNvPr id="25" name="Text 23"/>
          <p:cNvSpPr txBox="1"/>
          <p:nvPr/>
        </p:nvSpPr>
        <p:spPr>
          <a:xfrm>
            <a:off x="7031736" y="2505456"/>
            <a:ext cx="1554480" cy="493776"/>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Actuar sobre el mundo</a:t>
            </a:r>
            <a:endParaRPr lang="en-US" sz="1100" dirty="0"/>
          </a:p>
        </p:txBody>
      </p:sp>
      <p:sp>
        <p:nvSpPr>
          <p:cNvPr id="26" name="Shape 24"/>
          <p:cNvSpPr/>
          <p:nvPr/>
        </p:nvSpPr>
        <p:spPr>
          <a:xfrm>
            <a:off x="502920" y="3017520"/>
            <a:ext cx="8138160" cy="493776"/>
          </a:xfrm>
          <a:prstGeom prst="rect">
            <a:avLst/>
          </a:prstGeom>
          <a:solidFill>
            <a:srgbClr val="E6E8EB"/>
          </a:solidFill>
          <a:ln/>
        </p:spPr>
      </p:sp>
      <p:sp>
        <p:nvSpPr>
          <p:cNvPr id="27" name="Text 25"/>
          <p:cNvSpPr txBox="1"/>
          <p:nvPr/>
        </p:nvSpPr>
        <p:spPr>
          <a:xfrm>
            <a:off x="630936" y="3017520"/>
            <a:ext cx="1371600" cy="493776"/>
          </a:xfrm>
          <a:prstGeom prst="rect">
            <a:avLst/>
          </a:prstGeom>
          <a:noFill/>
          <a:ln/>
        </p:spPr>
        <p:txBody>
          <a:bodyPr wrap="square" lIns="0" tIns="0" rIns="0" bIns="0" rtlCol="0" anchor="ctr"/>
          <a:lstStyle/>
          <a:p>
            <a:pPr indent="0" marL="0">
              <a:buNone/>
            </a:pPr>
            <a:r>
              <a:rPr lang="en-US" sz="1100" b="1" dirty="0">
                <a:solidFill>
                  <a:srgbClr val="16191F"/>
                </a:solidFill>
                <a:latin typeface="Arial" pitchFamily="34" charset="0"/>
                <a:ea typeface="Arial" pitchFamily="34" charset="-122"/>
                <a:cs typeface="Arial" pitchFamily="34" charset="-120"/>
              </a:rPr>
              <a:t>SUBAGENTE</a:t>
            </a:r>
            <a:endParaRPr lang="en-US" sz="1100" dirty="0"/>
          </a:p>
        </p:txBody>
      </p:sp>
      <p:sp>
        <p:nvSpPr>
          <p:cNvPr id="28" name="Text 26"/>
          <p:cNvSpPr txBox="1"/>
          <p:nvPr/>
        </p:nvSpPr>
        <p:spPr>
          <a:xfrm>
            <a:off x="2231136" y="3017520"/>
            <a:ext cx="2148840" cy="493776"/>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Otro loop, con su propio contexto</a:t>
            </a:r>
            <a:endParaRPr lang="en-US" sz="1100" dirty="0"/>
          </a:p>
        </p:txBody>
      </p:sp>
      <p:sp>
        <p:nvSpPr>
          <p:cNvPr id="29" name="Text 27"/>
          <p:cNvSpPr txBox="1"/>
          <p:nvPr/>
        </p:nvSpPr>
        <p:spPr>
          <a:xfrm>
            <a:off x="4608576" y="3017520"/>
            <a:ext cx="2194560" cy="493776"/>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Contexto aparte del principal</a:t>
            </a:r>
            <a:endParaRPr lang="en-US" sz="1100" dirty="0"/>
          </a:p>
        </p:txBody>
      </p:sp>
      <p:sp>
        <p:nvSpPr>
          <p:cNvPr id="30" name="Text 28"/>
          <p:cNvSpPr txBox="1"/>
          <p:nvPr/>
        </p:nvSpPr>
        <p:spPr>
          <a:xfrm>
            <a:off x="7031736" y="3017520"/>
            <a:ext cx="1554480" cy="493776"/>
          </a:xfrm>
          <a:prstGeom prst="rect">
            <a:avLst/>
          </a:prstGeom>
          <a:noFill/>
          <a:ln/>
        </p:spPr>
        <p:txBody>
          <a:bodyPr wrap="square" lIns="0" tIns="0" rIns="0" bIns="0" rtlCol="0" anchor="ctr"/>
          <a:lstStyle/>
          <a:p>
            <a:pPr indent="0" marL="0">
              <a:buNone/>
            </a:pPr>
            <a:r>
              <a:rPr lang="en-US" sz="1100" dirty="0">
                <a:solidFill>
                  <a:srgbClr val="2A2E36"/>
                </a:solidFill>
                <a:latin typeface="Calibri" pitchFamily="34" charset="0"/>
                <a:ea typeface="Calibri" pitchFamily="34" charset="-122"/>
                <a:cs typeface="Calibri" pitchFamily="34" charset="-120"/>
              </a:rPr>
              <a:t>Separar alcance cuando uno se satura</a:t>
            </a:r>
            <a:endParaRPr lang="en-US" sz="1100" dirty="0"/>
          </a:p>
        </p:txBody>
      </p:sp>
      <p:sp>
        <p:nvSpPr>
          <p:cNvPr id="31" name="Shape 29"/>
          <p:cNvSpPr/>
          <p:nvPr/>
        </p:nvSpPr>
        <p:spPr>
          <a:xfrm>
            <a:off x="502920" y="3767328"/>
            <a:ext cx="50292" cy="274320"/>
          </a:xfrm>
          <a:prstGeom prst="rect">
            <a:avLst/>
          </a:prstGeom>
          <a:solidFill>
            <a:srgbClr val="E4572E"/>
          </a:solidFill>
          <a:ln/>
        </p:spPr>
      </p:sp>
      <p:sp>
        <p:nvSpPr>
          <p:cNvPr id="32" name="Text 30"/>
          <p:cNvSpPr txBox="1"/>
          <p:nvPr/>
        </p:nvSpPr>
        <p:spPr>
          <a:xfrm>
            <a:off x="685800" y="3739896"/>
            <a:ext cx="7955280" cy="329184"/>
          </a:xfrm>
          <a:prstGeom prst="rect">
            <a:avLst/>
          </a:prstGeom>
          <a:noFill/>
          <a:ln/>
        </p:spPr>
        <p:txBody>
          <a:bodyPr wrap="square" lIns="0" tIns="0" rIns="0" bIns="0" rtlCol="0" anchor="ctr"/>
          <a:lstStyle/>
          <a:p>
            <a:pPr indent="0" marL="0">
              <a:buNone/>
            </a:pPr>
            <a:r>
              <a:rPr lang="en-US" sz="1250" b="1" dirty="0">
                <a:solidFill>
                  <a:srgbClr val="16191F"/>
                </a:solidFill>
                <a:latin typeface="Calibri" pitchFamily="34" charset="0"/>
                <a:ea typeface="Calibri" pitchFamily="34" charset="-122"/>
                <a:cs typeface="Calibri" pitchFamily="34" charset="-120"/>
              </a:rPr>
              <a:t>El prompt dice quién es el agente. El skill dice cómo se hace una tarea.</a:t>
            </a:r>
            <a:endParaRPr lang="en-US" sz="1250" dirty="0"/>
          </a:p>
        </p:txBody>
      </p:sp>
      <p:sp>
        <p:nvSpPr>
          <p:cNvPr id="33" name="Text 31"/>
          <p:cNvSpPr txBox="1"/>
          <p:nvPr/>
        </p:nvSpPr>
        <p:spPr>
          <a:xfrm>
            <a:off x="685800" y="4206240"/>
            <a:ext cx="7772400" cy="274320"/>
          </a:xfrm>
          <a:prstGeom prst="rect">
            <a:avLst/>
          </a:prstGeom>
          <a:noFill/>
          <a:ln/>
        </p:spPr>
        <p:txBody>
          <a:bodyPr wrap="square" lIns="0" tIns="0" rIns="0" bIns="0" rtlCol="0" anchor="ctr"/>
          <a:lstStyle/>
          <a:p>
            <a:pPr indent="0" marL="0">
              <a:buNone/>
            </a:pPr>
            <a:r>
              <a:rPr lang="en-US" sz="1200" dirty="0">
                <a:solidFill>
                  <a:srgbClr val="6E7681"/>
                </a:solidFill>
                <a:latin typeface="Calibri" pitchFamily="34" charset="0"/>
                <a:ea typeface="Calibri" pitchFamily="34" charset="-122"/>
                <a:cs typeface="Calibri" pitchFamily="34" charset="-120"/>
              </a:rPr>
              <a:t>No compiten: el loop razona, la tool ejecuta, MCP descentraliza esas tools, y el skill enseña a usarlas bien.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txBox="1"/>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9</a:t>
            </a:r>
            <a:endParaRPr lang="en-US" sz="1500" dirty="0"/>
          </a:p>
        </p:txBody>
      </p:sp>
      <p:sp>
        <p:nvSpPr>
          <p:cNvPr id="4" name="Text 2"/>
          <p:cNvSpPr txBox="1"/>
          <p:nvPr/>
        </p:nvSpPr>
        <p:spPr>
          <a:xfrm>
            <a:off x="978408" y="310896"/>
            <a:ext cx="7662672" cy="438912"/>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Cómo se escribe uno que funcione</a:t>
            </a:r>
            <a:endParaRPr lang="en-US" sz="2700" dirty="0"/>
          </a:p>
        </p:txBody>
      </p:sp>
      <p:sp>
        <p:nvSpPr>
          <p:cNvPr id="5" name="Text 3"/>
          <p:cNvSpPr txBox="1"/>
          <p:nvPr/>
        </p:nvSpPr>
        <p:spPr>
          <a:xfrm>
            <a:off x="978408" y="768096"/>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Seis decisiones, en orden de impacto</a:t>
            </a:r>
            <a:endParaRPr lang="en-US" sz="1300" dirty="0"/>
          </a:p>
        </p:txBody>
      </p:sp>
      <p:sp>
        <p:nvSpPr>
          <p:cNvPr id="6" name="Shape 4"/>
          <p:cNvSpPr/>
          <p:nvPr/>
        </p:nvSpPr>
        <p:spPr>
          <a:xfrm>
            <a:off x="502920" y="1188720"/>
            <a:ext cx="237744" cy="237744"/>
          </a:xfrm>
          <a:prstGeom prst="rect">
            <a:avLst/>
          </a:prstGeom>
          <a:solidFill>
            <a:srgbClr val="E4572E"/>
          </a:solidFill>
          <a:ln/>
        </p:spPr>
      </p:sp>
      <p:sp>
        <p:nvSpPr>
          <p:cNvPr id="7" name="Text 5"/>
          <p:cNvSpPr txBox="1"/>
          <p:nvPr/>
        </p:nvSpPr>
        <p:spPr>
          <a:xfrm>
            <a:off x="502920" y="118872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6"/>
          <p:cNvSpPr txBox="1"/>
          <p:nvPr/>
        </p:nvSpPr>
        <p:spPr>
          <a:xfrm>
            <a:off x="850392" y="1170432"/>
            <a:ext cx="3561588" cy="274320"/>
          </a:xfrm>
          <a:prstGeom prst="rect">
            <a:avLst/>
          </a:prstGeom>
          <a:noFill/>
          <a:ln/>
        </p:spPr>
        <p:txBody>
          <a:bodyPr wrap="square" lIns="0" tIns="0" rIns="0" bIns="0" rtlCol="0" anchor="ctr"/>
          <a:lstStyle/>
          <a:p>
            <a:pPr indent="0" marL="0">
              <a:buNone/>
            </a:pPr>
            <a:r>
              <a:rPr lang="en-US" sz="1300" b="1" dirty="0">
                <a:solidFill>
                  <a:srgbClr val="16191F"/>
                </a:solidFill>
                <a:latin typeface="Arial" pitchFamily="34" charset="0"/>
                <a:ea typeface="Arial" pitchFamily="34" charset="-122"/>
                <a:cs typeface="Arial" pitchFamily="34" charset="-120"/>
              </a:rPr>
              <a:t>¿Es conocimiento tuyo?</a:t>
            </a:r>
            <a:endParaRPr lang="en-US" sz="1300" dirty="0"/>
          </a:p>
        </p:txBody>
      </p:sp>
      <p:sp>
        <p:nvSpPr>
          <p:cNvPr id="9" name="Text 7"/>
          <p:cNvSpPr txBox="1"/>
          <p:nvPr/>
        </p:nvSpPr>
        <p:spPr>
          <a:xfrm>
            <a:off x="850392" y="1444752"/>
            <a:ext cx="3561588" cy="402336"/>
          </a:xfrm>
          <a:prstGeom prst="rect">
            <a:avLst/>
          </a:prstGeom>
          <a:noFill/>
          <a:ln/>
        </p:spPr>
        <p:txBody>
          <a:bodyPr wrap="square" lIns="0" tIns="0" rIns="0" bIns="0" rtlCol="0" anchor="ctr"/>
          <a:lstStyle/>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Si el modelo ya lo sabe, no es un skill.</a:t>
            </a:r>
            <a:endParaRPr lang="en-US" sz="1100" dirty="0"/>
          </a:p>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Comprimí info de tu entorno.</a:t>
            </a:r>
            <a:endParaRPr lang="en-US" sz="1100" dirty="0"/>
          </a:p>
        </p:txBody>
      </p:sp>
      <p:sp>
        <p:nvSpPr>
          <p:cNvPr id="10" name="Shape 8"/>
          <p:cNvSpPr/>
          <p:nvPr/>
        </p:nvSpPr>
        <p:spPr>
          <a:xfrm>
            <a:off x="4732020" y="1188720"/>
            <a:ext cx="237744" cy="237744"/>
          </a:xfrm>
          <a:prstGeom prst="rect">
            <a:avLst/>
          </a:prstGeom>
          <a:solidFill>
            <a:srgbClr val="E4572E"/>
          </a:solidFill>
          <a:ln/>
        </p:spPr>
      </p:sp>
      <p:sp>
        <p:nvSpPr>
          <p:cNvPr id="11" name="Text 9"/>
          <p:cNvSpPr txBox="1"/>
          <p:nvPr/>
        </p:nvSpPr>
        <p:spPr>
          <a:xfrm>
            <a:off x="4732020" y="118872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Text 10"/>
          <p:cNvSpPr txBox="1"/>
          <p:nvPr/>
        </p:nvSpPr>
        <p:spPr>
          <a:xfrm>
            <a:off x="5079492" y="1170432"/>
            <a:ext cx="3561588" cy="274320"/>
          </a:xfrm>
          <a:prstGeom prst="rect">
            <a:avLst/>
          </a:prstGeom>
          <a:noFill/>
          <a:ln/>
        </p:spPr>
        <p:txBody>
          <a:bodyPr wrap="square" lIns="0" tIns="0" rIns="0" bIns="0" rtlCol="0" anchor="ctr"/>
          <a:lstStyle/>
          <a:p>
            <a:pPr indent="0" marL="0">
              <a:buNone/>
            </a:pPr>
            <a:r>
              <a:rPr lang="en-US" sz="1300" b="1" dirty="0">
                <a:solidFill>
                  <a:srgbClr val="16191F"/>
                </a:solidFill>
                <a:latin typeface="Arial" pitchFamily="34" charset="0"/>
                <a:ea typeface="Arial" pitchFamily="34" charset="-122"/>
                <a:cs typeface="Arial" pitchFamily="34" charset="-120"/>
              </a:rPr>
              <a:t>La descripción es el router</a:t>
            </a:r>
            <a:endParaRPr lang="en-US" sz="1300" dirty="0"/>
          </a:p>
        </p:txBody>
      </p:sp>
      <p:sp>
        <p:nvSpPr>
          <p:cNvPr id="13" name="Text 11"/>
          <p:cNvSpPr txBox="1"/>
          <p:nvPr/>
        </p:nvSpPr>
        <p:spPr>
          <a:xfrm>
            <a:off x="5079492" y="1444752"/>
            <a:ext cx="3561588" cy="402336"/>
          </a:xfrm>
          <a:prstGeom prst="rect">
            <a:avLst/>
          </a:prstGeom>
          <a:noFill/>
          <a:ln/>
        </p:spPr>
        <p:txBody>
          <a:bodyPr wrap="square" lIns="0" tIns="0" rIns="0" bIns="0" rtlCol="0" anchor="ctr"/>
          <a:lstStyle/>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Decí cuándo usarla, no qué es.</a:t>
            </a:r>
            <a:endParaRPr lang="en-US" sz="1100" dirty="0"/>
          </a:p>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Es lo único que está siempre.</a:t>
            </a:r>
            <a:endParaRPr lang="en-US" sz="1100" dirty="0"/>
          </a:p>
        </p:txBody>
      </p:sp>
      <p:sp>
        <p:nvSpPr>
          <p:cNvPr id="14" name="Shape 12"/>
          <p:cNvSpPr/>
          <p:nvPr/>
        </p:nvSpPr>
        <p:spPr>
          <a:xfrm>
            <a:off x="502920" y="1975104"/>
            <a:ext cx="237744" cy="237744"/>
          </a:xfrm>
          <a:prstGeom prst="rect">
            <a:avLst/>
          </a:prstGeom>
          <a:solidFill>
            <a:srgbClr val="E4572E"/>
          </a:solidFill>
          <a:ln/>
        </p:spPr>
      </p:sp>
      <p:sp>
        <p:nvSpPr>
          <p:cNvPr id="15" name="Text 13"/>
          <p:cNvSpPr txBox="1"/>
          <p:nvPr/>
        </p:nvSpPr>
        <p:spPr>
          <a:xfrm>
            <a:off x="502920" y="1975104"/>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6" name="Text 14"/>
          <p:cNvSpPr txBox="1"/>
          <p:nvPr/>
        </p:nvSpPr>
        <p:spPr>
          <a:xfrm>
            <a:off x="850392" y="1956816"/>
            <a:ext cx="3561588" cy="274320"/>
          </a:xfrm>
          <a:prstGeom prst="rect">
            <a:avLst/>
          </a:prstGeom>
          <a:noFill/>
          <a:ln/>
        </p:spPr>
        <p:txBody>
          <a:bodyPr wrap="square" lIns="0" tIns="0" rIns="0" bIns="0" rtlCol="0" anchor="ctr"/>
          <a:lstStyle/>
          <a:p>
            <a:pPr indent="0" marL="0">
              <a:buNone/>
            </a:pPr>
            <a:r>
              <a:rPr lang="en-US" sz="1300" b="1" dirty="0">
                <a:solidFill>
                  <a:srgbClr val="16191F"/>
                </a:solidFill>
                <a:latin typeface="Arial" pitchFamily="34" charset="0"/>
                <a:ea typeface="Arial" pitchFamily="34" charset="-122"/>
                <a:cs typeface="Arial" pitchFamily="34" charset="-120"/>
              </a:rPr>
              <a:t>Escribila insistente</a:t>
            </a:r>
            <a:endParaRPr lang="en-US" sz="1300" dirty="0"/>
          </a:p>
        </p:txBody>
      </p:sp>
      <p:sp>
        <p:nvSpPr>
          <p:cNvPr id="17" name="Text 15"/>
          <p:cNvSpPr txBox="1"/>
          <p:nvPr/>
        </p:nvSpPr>
        <p:spPr>
          <a:xfrm>
            <a:off x="850392" y="2231136"/>
            <a:ext cx="3561588" cy="402336"/>
          </a:xfrm>
          <a:prstGeom prst="rect">
            <a:avLst/>
          </a:prstGeom>
          <a:noFill/>
          <a:ln/>
        </p:spPr>
        <p:txBody>
          <a:bodyPr wrap="square" lIns="0" tIns="0" rIns="0" bIns="0" rtlCol="0" anchor="ctr"/>
          <a:lstStyle/>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La falla típica no es que dispare</a:t>
            </a:r>
            <a:endParaRPr lang="en-US" sz="1100" dirty="0"/>
          </a:p>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de más: es que no dispare.</a:t>
            </a:r>
            <a:endParaRPr lang="en-US" sz="1100" dirty="0"/>
          </a:p>
        </p:txBody>
      </p:sp>
      <p:sp>
        <p:nvSpPr>
          <p:cNvPr id="18" name="Shape 16"/>
          <p:cNvSpPr/>
          <p:nvPr/>
        </p:nvSpPr>
        <p:spPr>
          <a:xfrm>
            <a:off x="4732020" y="1975104"/>
            <a:ext cx="237744" cy="237744"/>
          </a:xfrm>
          <a:prstGeom prst="rect">
            <a:avLst/>
          </a:prstGeom>
          <a:solidFill>
            <a:srgbClr val="E4572E"/>
          </a:solidFill>
          <a:ln/>
        </p:spPr>
      </p:sp>
      <p:sp>
        <p:nvSpPr>
          <p:cNvPr id="19" name="Text 17"/>
          <p:cNvSpPr txBox="1"/>
          <p:nvPr/>
        </p:nvSpPr>
        <p:spPr>
          <a:xfrm>
            <a:off x="4732020" y="1975104"/>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0" name="Text 18"/>
          <p:cNvSpPr txBox="1"/>
          <p:nvPr/>
        </p:nvSpPr>
        <p:spPr>
          <a:xfrm>
            <a:off x="5079492" y="1956816"/>
            <a:ext cx="3561588" cy="274320"/>
          </a:xfrm>
          <a:prstGeom prst="rect">
            <a:avLst/>
          </a:prstGeom>
          <a:noFill/>
          <a:ln/>
        </p:spPr>
        <p:txBody>
          <a:bodyPr wrap="square" lIns="0" tIns="0" rIns="0" bIns="0" rtlCol="0" anchor="ctr"/>
          <a:lstStyle/>
          <a:p>
            <a:pPr indent="0" marL="0">
              <a:buNone/>
            </a:pPr>
            <a:r>
              <a:rPr lang="en-US" sz="1300" b="1" dirty="0">
                <a:solidFill>
                  <a:srgbClr val="16191F"/>
                </a:solidFill>
                <a:latin typeface="Arial" pitchFamily="34" charset="0"/>
                <a:ea typeface="Arial" pitchFamily="34" charset="-122"/>
                <a:cs typeface="Arial" pitchFamily="34" charset="-120"/>
              </a:rPr>
              <a:t>Cuerpo corto</a:t>
            </a:r>
            <a:endParaRPr lang="en-US" sz="1300" dirty="0"/>
          </a:p>
        </p:txBody>
      </p:sp>
      <p:sp>
        <p:nvSpPr>
          <p:cNvPr id="21" name="Text 19"/>
          <p:cNvSpPr txBox="1"/>
          <p:nvPr/>
        </p:nvSpPr>
        <p:spPr>
          <a:xfrm>
            <a:off x="5079492" y="2231136"/>
            <a:ext cx="3561588" cy="402336"/>
          </a:xfrm>
          <a:prstGeom prst="rect">
            <a:avLst/>
          </a:prstGeom>
          <a:noFill/>
          <a:ln/>
        </p:spPr>
        <p:txBody>
          <a:bodyPr wrap="square" lIns="0" tIns="0" rIns="0" bIns="0" rtlCol="0" anchor="ctr"/>
          <a:lstStyle/>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Menos de 500 líneas.</a:t>
            </a:r>
            <a:endParaRPr lang="en-US" sz="1100" dirty="0"/>
          </a:p>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Lo largo se va a references/.</a:t>
            </a:r>
            <a:endParaRPr lang="en-US" sz="1100" dirty="0"/>
          </a:p>
        </p:txBody>
      </p:sp>
      <p:sp>
        <p:nvSpPr>
          <p:cNvPr id="22" name="Shape 20"/>
          <p:cNvSpPr/>
          <p:nvPr/>
        </p:nvSpPr>
        <p:spPr>
          <a:xfrm>
            <a:off x="502920" y="2761488"/>
            <a:ext cx="237744" cy="237744"/>
          </a:xfrm>
          <a:prstGeom prst="rect">
            <a:avLst/>
          </a:prstGeom>
          <a:solidFill>
            <a:srgbClr val="E4572E"/>
          </a:solidFill>
          <a:ln/>
        </p:spPr>
      </p:sp>
      <p:sp>
        <p:nvSpPr>
          <p:cNvPr id="23" name="Text 21"/>
          <p:cNvSpPr txBox="1"/>
          <p:nvPr/>
        </p:nvSpPr>
        <p:spPr>
          <a:xfrm>
            <a:off x="502920" y="276148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4" name="Text 22"/>
          <p:cNvSpPr txBox="1"/>
          <p:nvPr/>
        </p:nvSpPr>
        <p:spPr>
          <a:xfrm>
            <a:off x="850392" y="2743200"/>
            <a:ext cx="3561588" cy="274320"/>
          </a:xfrm>
          <a:prstGeom prst="rect">
            <a:avLst/>
          </a:prstGeom>
          <a:noFill/>
          <a:ln/>
        </p:spPr>
        <p:txBody>
          <a:bodyPr wrap="square" lIns="0" tIns="0" rIns="0" bIns="0" rtlCol="0" anchor="ctr"/>
          <a:lstStyle/>
          <a:p>
            <a:pPr indent="0" marL="0">
              <a:buNone/>
            </a:pPr>
            <a:r>
              <a:rPr lang="en-US" sz="1300" b="1" dirty="0">
                <a:solidFill>
                  <a:srgbClr val="16191F"/>
                </a:solidFill>
                <a:latin typeface="Arial" pitchFamily="34" charset="0"/>
                <a:ea typeface="Arial" pitchFamily="34" charset="-122"/>
                <a:cs typeface="Arial" pitchFamily="34" charset="-120"/>
              </a:rPr>
              <a:t>Un archivo por tema</a:t>
            </a:r>
            <a:endParaRPr lang="en-US" sz="1300" dirty="0"/>
          </a:p>
        </p:txBody>
      </p:sp>
      <p:sp>
        <p:nvSpPr>
          <p:cNvPr id="25" name="Text 23"/>
          <p:cNvSpPr txBox="1"/>
          <p:nvPr/>
        </p:nvSpPr>
        <p:spPr>
          <a:xfrm>
            <a:off x="850392" y="3017520"/>
            <a:ext cx="3561588" cy="402336"/>
          </a:xfrm>
          <a:prstGeom prst="rect">
            <a:avLst/>
          </a:prstGeom>
          <a:noFill/>
          <a:ln/>
        </p:spPr>
        <p:txBody>
          <a:bodyPr wrap="square" lIns="0" tIns="0" rIns="0" bIns="0" rtlCol="0" anchor="ctr"/>
          <a:lstStyle/>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Para que cargue uno solo</a:t>
            </a:r>
            <a:endParaRPr lang="en-US" sz="1100" dirty="0"/>
          </a:p>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y no la biblioteca entera.</a:t>
            </a:r>
            <a:endParaRPr lang="en-US" sz="1100" dirty="0"/>
          </a:p>
        </p:txBody>
      </p:sp>
      <p:sp>
        <p:nvSpPr>
          <p:cNvPr id="26" name="Shape 24"/>
          <p:cNvSpPr/>
          <p:nvPr/>
        </p:nvSpPr>
        <p:spPr>
          <a:xfrm>
            <a:off x="4732020" y="2761488"/>
            <a:ext cx="237744" cy="237744"/>
          </a:xfrm>
          <a:prstGeom prst="rect">
            <a:avLst/>
          </a:prstGeom>
          <a:solidFill>
            <a:srgbClr val="E4572E"/>
          </a:solidFill>
          <a:ln/>
        </p:spPr>
      </p:sp>
      <p:sp>
        <p:nvSpPr>
          <p:cNvPr id="27" name="Text 25"/>
          <p:cNvSpPr txBox="1"/>
          <p:nvPr/>
        </p:nvSpPr>
        <p:spPr>
          <a:xfrm>
            <a:off x="4732020" y="276148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28" name="Text 26"/>
          <p:cNvSpPr txBox="1"/>
          <p:nvPr/>
        </p:nvSpPr>
        <p:spPr>
          <a:xfrm>
            <a:off x="5079492" y="2743200"/>
            <a:ext cx="3561588" cy="274320"/>
          </a:xfrm>
          <a:prstGeom prst="rect">
            <a:avLst/>
          </a:prstGeom>
          <a:noFill/>
          <a:ln/>
        </p:spPr>
        <p:txBody>
          <a:bodyPr wrap="square" lIns="0" tIns="0" rIns="0" bIns="0" rtlCol="0" anchor="ctr"/>
          <a:lstStyle/>
          <a:p>
            <a:pPr indent="0" marL="0">
              <a:buNone/>
            </a:pPr>
            <a:r>
              <a:rPr lang="en-US" sz="1300" b="1" dirty="0">
                <a:solidFill>
                  <a:srgbClr val="16191F"/>
                </a:solidFill>
                <a:latin typeface="Arial" pitchFamily="34" charset="0"/>
                <a:ea typeface="Arial" pitchFamily="34" charset="-122"/>
                <a:cs typeface="Arial" pitchFamily="34" charset="-120"/>
              </a:rPr>
              <a:t>Script si tiene que ser exacto</a:t>
            </a:r>
            <a:endParaRPr lang="en-US" sz="1300" dirty="0"/>
          </a:p>
        </p:txBody>
      </p:sp>
      <p:sp>
        <p:nvSpPr>
          <p:cNvPr id="29" name="Text 27"/>
          <p:cNvSpPr txBox="1"/>
          <p:nvPr/>
        </p:nvSpPr>
        <p:spPr>
          <a:xfrm>
            <a:off x="5079492" y="3017520"/>
            <a:ext cx="3561588" cy="402336"/>
          </a:xfrm>
          <a:prstGeom prst="rect">
            <a:avLst/>
          </a:prstGeom>
          <a:noFill/>
          <a:ln/>
        </p:spPr>
        <p:txBody>
          <a:bodyPr wrap="square" lIns="0" tIns="0" rIns="0" bIns="0" rtlCol="0" anchor="ctr"/>
          <a:lstStyle/>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El código determinista corre</a:t>
            </a:r>
            <a:endParaRPr lang="en-US" sz="1100" dirty="0"/>
          </a:p>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sin entrar al contexto.</a:t>
            </a:r>
            <a:endParaRPr lang="en-US" sz="1100" dirty="0"/>
          </a:p>
        </p:txBody>
      </p:sp>
      <p:sp>
        <p:nvSpPr>
          <p:cNvPr id="30" name="Shape 28"/>
          <p:cNvSpPr/>
          <p:nvPr/>
        </p:nvSpPr>
        <p:spPr>
          <a:xfrm>
            <a:off x="502920" y="3675888"/>
            <a:ext cx="8138160" cy="777240"/>
          </a:xfrm>
          <a:prstGeom prst="rect">
            <a:avLst/>
          </a:prstGeom>
          <a:solidFill>
            <a:srgbClr val="F1F2F4"/>
          </a:solidFill>
          <a:ln/>
        </p:spPr>
      </p:sp>
      <p:sp>
        <p:nvSpPr>
          <p:cNvPr id="31" name="Text 29"/>
          <p:cNvSpPr txBox="1"/>
          <p:nvPr/>
        </p:nvSpPr>
        <p:spPr>
          <a:xfrm>
            <a:off x="667512" y="3767328"/>
            <a:ext cx="2743200" cy="219456"/>
          </a:xfrm>
          <a:prstGeom prst="rect">
            <a:avLst/>
          </a:prstGeom>
          <a:noFill/>
          <a:ln/>
        </p:spPr>
        <p:txBody>
          <a:bodyPr wrap="square" lIns="0" tIns="0" rIns="0" bIns="0" rtlCol="0" anchor="ctr"/>
          <a:lstStyle/>
          <a:p>
            <a:pPr indent="0" marL="0">
              <a:buNone/>
            </a:pPr>
            <a:r>
              <a:rPr lang="en-US" sz="950" b="1" spc="100" kern="0" dirty="0">
                <a:solidFill>
                  <a:srgbClr val="A4232B"/>
                </a:solidFill>
                <a:latin typeface="Arial" pitchFamily="34" charset="0"/>
                <a:ea typeface="Arial" pitchFamily="34" charset="-122"/>
                <a:cs typeface="Arial" pitchFamily="34" charset="-120"/>
              </a:rPr>
              <a:t>ANTI-PATRONES</a:t>
            </a:r>
            <a:endParaRPr lang="en-US" sz="950" dirty="0"/>
          </a:p>
        </p:txBody>
      </p:sp>
      <p:sp>
        <p:nvSpPr>
          <p:cNvPr id="32" name="Text 30"/>
          <p:cNvSpPr txBox="1"/>
          <p:nvPr/>
        </p:nvSpPr>
        <p:spPr>
          <a:xfrm>
            <a:off x="667512" y="4005072"/>
            <a:ext cx="7808976" cy="402336"/>
          </a:xfrm>
          <a:prstGeom prst="rect">
            <a:avLst/>
          </a:prstGeom>
          <a:noFill/>
          <a:ln/>
        </p:spPr>
        <p:txBody>
          <a:bodyPr wrap="square" lIns="0" tIns="0" rIns="0" bIns="0" rtlCol="0" anchor="ctr"/>
          <a:lstStyle/>
          <a:p>
            <a:pPr indent="0" marL="0">
              <a:lnSpc>
                <a:spcPts val="1500"/>
              </a:lnSpc>
              <a:buNone/>
            </a:pPr>
            <a:r>
              <a:rPr lang="en-US" sz="1100" dirty="0">
                <a:solidFill>
                  <a:srgbClr val="2A2E36"/>
                </a:solidFill>
                <a:latin typeface="Calibri" pitchFamily="34" charset="0"/>
                <a:ea typeface="Calibri" pitchFamily="34" charset="-122"/>
                <a:cs typeface="Calibri" pitchFamily="34" charset="-120"/>
              </a:rPr>
              <a:t>El system prompt como cajón de sastre   ·   describir qué es en vez de cuándo usarla   ·   un solo SKILL.md gigante</a:t>
            </a:r>
            <a:endParaRPr lang="en-US" sz="1100" dirty="0"/>
          </a:p>
          <a:p>
            <a:pPr indent="0" marL="0">
              <a:lnSpc>
                <a:spcPts val="1500"/>
              </a:lnSpc>
              <a:buNone/>
            </a:pPr>
            <a:r>
              <a:rPr lang="en-US" sz="1100" dirty="0">
                <a:solidFill>
                  <a:srgbClr val="2A2E36"/>
                </a:solidFill>
                <a:latin typeface="Calibri" pitchFamily="34" charset="0"/>
                <a:ea typeface="Calibri" pitchFamily="34" charset="-122"/>
                <a:cs typeface="Calibri" pitchFamily="34" charset="-120"/>
              </a:rPr>
              <a:t>cargar todos los skills al iniciar la sesión   ·   cuarenta skills instalados: el índice también ocupa contexto</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191F"/>
          </a:solidFill>
          <a:ln/>
        </p:spPr>
      </p:sp>
      <p:sp>
        <p:nvSpPr>
          <p:cNvPr id="3" name="Shape 1"/>
          <p:cNvSpPr/>
          <p:nvPr/>
        </p:nvSpPr>
        <p:spPr>
          <a:xfrm>
            <a:off x="502920" y="868680"/>
            <a:ext cx="457200" cy="82296"/>
          </a:xfrm>
          <a:prstGeom prst="rect">
            <a:avLst/>
          </a:prstGeom>
          <a:solidFill>
            <a:srgbClr val="E4572E"/>
          </a:solidFill>
          <a:ln/>
        </p:spPr>
      </p:sp>
      <p:sp>
        <p:nvSpPr>
          <p:cNvPr id="4" name="Text 2"/>
          <p:cNvSpPr txBox="1"/>
          <p:nvPr/>
        </p:nvSpPr>
        <p:spPr>
          <a:xfrm>
            <a:off x="502920" y="1188720"/>
            <a:ext cx="8046720" cy="1097280"/>
          </a:xfrm>
          <a:prstGeom prst="rect">
            <a:avLst/>
          </a:prstGeom>
          <a:noFill/>
          <a:ln/>
        </p:spPr>
        <p:txBody>
          <a:bodyPr wrap="square" lIns="0" tIns="0" rIns="0" bIns="0" rtlCol="0" anchor="ctr"/>
          <a:lstStyle/>
          <a:p>
            <a:pPr indent="0" marL="0">
              <a:lnSpc>
                <a:spcPts val="3600"/>
              </a:lnSpc>
              <a:buNone/>
            </a:pPr>
            <a:r>
              <a:rPr lang="en-US" sz="3000" b="1" dirty="0">
                <a:solidFill>
                  <a:srgbClr val="FFFFFF"/>
                </a:solidFill>
                <a:latin typeface="Arial" pitchFamily="34" charset="0"/>
                <a:ea typeface="Arial" pitchFamily="34" charset="-122"/>
                <a:cs typeface="Arial" pitchFamily="34" charset="-120"/>
              </a:rPr>
              <a:t>¿Cuánto de tu system prompt</a:t>
            </a:r>
            <a:endParaRPr lang="en-US" sz="3000" dirty="0"/>
          </a:p>
          <a:p>
            <a:pPr indent="0" marL="0">
              <a:lnSpc>
                <a:spcPts val="3600"/>
              </a:lnSpc>
              <a:buNone/>
            </a:pPr>
            <a:r>
              <a:rPr lang="en-US" sz="3000" b="1" dirty="0">
                <a:solidFill>
                  <a:srgbClr val="FFFFFF"/>
                </a:solidFill>
                <a:latin typeface="Arial" pitchFamily="34" charset="0"/>
                <a:ea typeface="Arial" pitchFamily="34" charset="-122"/>
                <a:cs typeface="Arial" pitchFamily="34" charset="-120"/>
              </a:rPr>
              <a:t>debería ser un skill?</a:t>
            </a:r>
            <a:endParaRPr lang="en-US" sz="3000" dirty="0"/>
          </a:p>
        </p:txBody>
      </p:sp>
      <p:sp>
        <p:nvSpPr>
          <p:cNvPr id="5" name="Text 3"/>
          <p:cNvSpPr txBox="1"/>
          <p:nvPr/>
        </p:nvSpPr>
        <p:spPr>
          <a:xfrm>
            <a:off x="502920" y="2377440"/>
            <a:ext cx="8046720" cy="310896"/>
          </a:xfrm>
          <a:prstGeom prst="rect">
            <a:avLst/>
          </a:prstGeom>
          <a:noFill/>
          <a:ln/>
        </p:spPr>
        <p:txBody>
          <a:bodyPr wrap="square" lIns="0" tIns="0" rIns="0" bIns="0" rtlCol="0" anchor="ctr"/>
          <a:lstStyle/>
          <a:p>
            <a:pPr indent="0" marL="0">
              <a:buNone/>
            </a:pPr>
            <a:r>
              <a:rPr lang="en-US" sz="1500" i="1" dirty="0">
                <a:solidFill>
                  <a:srgbClr val="C9CCD1"/>
                </a:solidFill>
                <a:latin typeface="Calibri" pitchFamily="34" charset="0"/>
                <a:ea typeface="Calibri" pitchFamily="34" charset="-122"/>
                <a:cs typeface="Calibri" pitchFamily="34" charset="-120"/>
              </a:rPr>
              <a:t>Todo lo que sea verdad sólo a veces.</a:t>
            </a:r>
            <a:endParaRPr lang="en-US" sz="1500" dirty="0"/>
          </a:p>
        </p:txBody>
      </p:sp>
      <p:sp>
        <p:nvSpPr>
          <p:cNvPr id="6" name="Shape 4"/>
          <p:cNvSpPr/>
          <p:nvPr/>
        </p:nvSpPr>
        <p:spPr>
          <a:xfrm>
            <a:off x="502920" y="3063240"/>
            <a:ext cx="2529840" cy="1143000"/>
          </a:xfrm>
          <a:prstGeom prst="rect">
            <a:avLst/>
          </a:prstGeom>
          <a:solidFill>
            <a:srgbClr val="2A2E36"/>
          </a:solidFill>
          <a:ln/>
        </p:spPr>
      </p:sp>
      <p:sp>
        <p:nvSpPr>
          <p:cNvPr id="7" name="Text 5"/>
          <p:cNvSpPr txBox="1"/>
          <p:nvPr/>
        </p:nvSpPr>
        <p:spPr>
          <a:xfrm>
            <a:off x="649224" y="3154680"/>
            <a:ext cx="365760" cy="274320"/>
          </a:xfrm>
          <a:prstGeom prst="rect">
            <a:avLst/>
          </a:prstGeom>
          <a:noFill/>
          <a:ln/>
        </p:spPr>
        <p:txBody>
          <a:bodyPr wrap="square" lIns="0" tIns="0" rIns="0" bIns="0" rtlCol="0" anchor="ctr"/>
          <a:lstStyle/>
          <a:p>
            <a:pPr indent="0" marL="0">
              <a:buNone/>
            </a:pPr>
            <a:r>
              <a:rPr lang="en-US" sz="1400" b="1" dirty="0">
                <a:solidFill>
                  <a:srgbClr val="E4572E"/>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649224" y="3456432"/>
            <a:ext cx="2237232" cy="685800"/>
          </a:xfrm>
          <a:prstGeom prst="rect">
            <a:avLst/>
          </a:prstGeom>
          <a:noFill/>
          <a:ln/>
        </p:spPr>
        <p:txBody>
          <a:bodyPr wrap="square" lIns="0" tIns="0" rIns="0" bIns="0" rtlCol="0" anchor="t"/>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Lo que está siempre en contexto siempre cuesta, y siempre influye.</a:t>
            </a:r>
            <a:endParaRPr lang="en-US" sz="1150" dirty="0"/>
          </a:p>
        </p:txBody>
      </p:sp>
      <p:sp>
        <p:nvSpPr>
          <p:cNvPr id="9" name="Shape 7"/>
          <p:cNvSpPr/>
          <p:nvPr/>
        </p:nvSpPr>
        <p:spPr>
          <a:xfrm>
            <a:off x="3307080" y="3063240"/>
            <a:ext cx="2529840" cy="1143000"/>
          </a:xfrm>
          <a:prstGeom prst="rect">
            <a:avLst/>
          </a:prstGeom>
          <a:solidFill>
            <a:srgbClr val="2A2E36"/>
          </a:solidFill>
          <a:ln/>
        </p:spPr>
      </p:sp>
      <p:sp>
        <p:nvSpPr>
          <p:cNvPr id="10" name="Text 8"/>
          <p:cNvSpPr txBox="1"/>
          <p:nvPr/>
        </p:nvSpPr>
        <p:spPr>
          <a:xfrm>
            <a:off x="3453384" y="3154680"/>
            <a:ext cx="365760" cy="274320"/>
          </a:xfrm>
          <a:prstGeom prst="rect">
            <a:avLst/>
          </a:prstGeom>
          <a:noFill/>
          <a:ln/>
        </p:spPr>
        <p:txBody>
          <a:bodyPr wrap="square" lIns="0" tIns="0" rIns="0" bIns="0" rtlCol="0" anchor="ctr"/>
          <a:lstStyle/>
          <a:p>
            <a:pPr indent="0" marL="0">
              <a:buNone/>
            </a:pPr>
            <a:r>
              <a:rPr lang="en-US" sz="1400" b="1" dirty="0">
                <a:solidFill>
                  <a:srgbClr val="E4572E"/>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3453384" y="3456432"/>
            <a:ext cx="2237232" cy="685800"/>
          </a:xfrm>
          <a:prstGeom prst="rect">
            <a:avLst/>
          </a:prstGeom>
          <a:noFill/>
          <a:ln/>
        </p:spPr>
        <p:txBody>
          <a:bodyPr wrap="square" lIns="0" tIns="0" rIns="0" bIns="0" rtlCol="0" anchor="t"/>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Un skill es un índice: el título es barato y está siempre; el cuerpo se paga sólo cuando hace falta.</a:t>
            </a:r>
            <a:endParaRPr lang="en-US" sz="1150" dirty="0"/>
          </a:p>
        </p:txBody>
      </p:sp>
      <p:sp>
        <p:nvSpPr>
          <p:cNvPr id="12" name="Shape 10"/>
          <p:cNvSpPr/>
          <p:nvPr/>
        </p:nvSpPr>
        <p:spPr>
          <a:xfrm>
            <a:off x="6111240" y="3063240"/>
            <a:ext cx="2529840" cy="1143000"/>
          </a:xfrm>
          <a:prstGeom prst="rect">
            <a:avLst/>
          </a:prstGeom>
          <a:solidFill>
            <a:srgbClr val="2A2E36"/>
          </a:solidFill>
          <a:ln/>
        </p:spPr>
      </p:sp>
      <p:sp>
        <p:nvSpPr>
          <p:cNvPr id="13" name="Text 11"/>
          <p:cNvSpPr txBox="1"/>
          <p:nvPr/>
        </p:nvSpPr>
        <p:spPr>
          <a:xfrm>
            <a:off x="6257544" y="3154680"/>
            <a:ext cx="365760" cy="274320"/>
          </a:xfrm>
          <a:prstGeom prst="rect">
            <a:avLst/>
          </a:prstGeom>
          <a:noFill/>
          <a:ln/>
        </p:spPr>
        <p:txBody>
          <a:bodyPr wrap="square" lIns="0" tIns="0" rIns="0" bIns="0" rtlCol="0" anchor="ctr"/>
          <a:lstStyle/>
          <a:p>
            <a:pPr indent="0" marL="0">
              <a:buNone/>
            </a:pPr>
            <a:r>
              <a:rPr lang="en-US" sz="1400" b="1" dirty="0">
                <a:solidFill>
                  <a:srgbClr val="E4572E"/>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6257544" y="3456432"/>
            <a:ext cx="2237232" cy="685800"/>
          </a:xfrm>
          <a:prstGeom prst="rect">
            <a:avLst/>
          </a:prstGeom>
          <a:noFill/>
          <a:ln/>
        </p:spPr>
        <p:txBody>
          <a:bodyPr wrap="square" lIns="0" tIns="0" rIns="0" bIns="0" rtlCol="0" anchor="t"/>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La descripción decide si se usa. El cuerpo decide si sirve.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 &amp; On-Demand Capabilities</dc:title>
  <dc:subject>PptxGenJS Presentation</dc:subject>
  <dc:creator>Workshop</dc:creator>
  <cp:lastModifiedBy>Workshop</cp:lastModifiedBy>
  <cp:revision>1</cp:revision>
  <dcterms:created xsi:type="dcterms:W3CDTF">2026-08-31T01:25:15Z</dcterms:created>
  <dcterms:modified xsi:type="dcterms:W3CDTF">2026-08-31T01:25:15Z</dcterms:modified>
</cp:coreProperties>
</file>